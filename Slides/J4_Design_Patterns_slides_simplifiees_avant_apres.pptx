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7FA"/>
                </a:solidFill>
              </a:rPr>
              <a:t>Jour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Design Patterns GoF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refactorisation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F"/>
                </a:solidFill>
              </a:rPr>
              <a:t>Création • Structure • Comportement • Choix • Coût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 pattern sert à résoudre un problème de changement, pas à décorer le code.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6C5"/>
                </a:solidFill>
              </a:rPr>
              <a:t>J4 — slide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pédagogiques du J4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Savoir reconnaître, choisir et expliquer un pattern simplement.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AA8"/>
                </a:solidFill>
              </a:rPr>
              <a:t>À retenir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43434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Lire un problème de conception.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Identifier ce qui varie.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Choisir un pattern raisonnable.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Dire clairement le bénéfice et le coût.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97880" y="141732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42318"/>
                </a:solidFill>
              </a:rPr>
              <a:t>PROBLÈME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7306056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70648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FF4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25E09"/>
                </a:solidFill>
              </a:rPr>
              <a:t>VARIATION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8513064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77656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E5AA8"/>
                </a:solidFill>
              </a:rPr>
              <a:t>PATTERN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9720072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84664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2E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0384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636A3"/>
                </a:solidFill>
              </a:rPr>
              <a:t>COÛT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26364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On ne choisit pas un pattern pour son nom.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On le choisit pour réduire un coût de changement.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Le fil rouge : problème → variation → pattern → coût.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2ECFF"/>
          </a:solidFill>
          <a:ln w="12700">
            <a:solidFill>
              <a:srgbClr val="F2EC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36A3"/>
                </a:solidFill>
              </a:rPr>
              <a:t>À retenir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43434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Matin : vocabulaire + création + structure.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Après-midi : comportements + combinaisons.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Fin : refactoring d’un checkout trop conditionnel.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97880" y="141732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42318"/>
                </a:solidFill>
              </a:rPr>
              <a:t>PROBLÈME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7306056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70648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FF4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25E09"/>
                </a:solidFill>
              </a:rPr>
              <a:t>VARIATION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8513064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77656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E5AA8"/>
                </a:solidFill>
              </a:rPr>
              <a:t>PATTERN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9720072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84664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2E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0384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636A3"/>
                </a:solidFill>
              </a:rPr>
              <a:t>COÛT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26364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On ne choisit pas un pattern pour son nom.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On le choisit pour réduire un coût de changement.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design pattern : une solution nommée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Un pattern n’est pas un bout de code à recopier.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AA8"/>
                </a:solidFill>
              </a:rPr>
              <a:t>À retenir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43434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Il décrit un problème qui revient souvent.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Il donne des rôles connus.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Il a aussi un coût : classes, indirection, wiring.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97880" y="141732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42318"/>
                </a:solidFill>
              </a:rPr>
              <a:t>PROBLÈME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7306056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70648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FF4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25E09"/>
                </a:solidFill>
              </a:rPr>
              <a:t>VARIATION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8513064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77656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E5AA8"/>
                </a:solidFill>
              </a:rPr>
              <a:t>PATTERN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9720072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84664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2E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0384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636A3"/>
                </a:solidFill>
              </a:rPr>
              <a:t>COÛT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26364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On ne choisit pas un pattern pour son nom.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On le choisit pour réduire un coût de changement.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Anatomie d’une fiche pattern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Toujours lire l’intention avant le diagramme UML.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DECEC"/>
          </a:solidFill>
          <a:ln w="12700">
            <a:solidFill>
              <a:srgbClr val="F8B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Réflexe fragile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Regarder seulement le schéma.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Dire “Factory parce que c’est propre”.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Oublier les conséquences.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48"/>
                </a:solidFill>
              </a:rPr>
              <a:t>Réflexe utile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Intention : pourquoi ?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Structure : quels rôles ?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Coût : quelle complexité ajoutée 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Le nom du pattern ne remplace jamais la justification.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carte des 23 patterns GoF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On choisit d’abord la famille à partir de la variation.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927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10927080" cy="493776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9047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Pattern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54680" y="1490472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Question simple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72400" y="1490472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Coût à rappeler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185623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Création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Qui choisit la classe concrète ?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772400" y="1965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Décision de création à organiser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2386584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420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Structure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2496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Comment connecter ou envelopper ?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72400" y="2496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Indirection et composition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2916936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0723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Comportement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3026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Qui porte l’algorithme, l’état ou l’événement ?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772400" y="30266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Flux parfois moins visible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22960" y="3447288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0273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Factory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54680" y="3557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Choix d’un produit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772400" y="35570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Mapping à maintenir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22960" y="3977640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3308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Adapter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54680" y="4087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API incompatible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772400" y="40873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Traduction à tester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22960" y="450799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6634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Strategy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54680" y="4617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Algorithme variable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772400" y="4617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Sélection de stratégie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22960" y="5038344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19379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Observer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154680" y="5148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Réactions multiples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772400" y="51480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Traçabilité des effets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22960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A48"/>
                </a:solidFill>
              </a:rPr>
              <a:t>Question clé : quelle variation veux-tu protéger ?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Patternitis : quand le pattern devient le problème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Trop d’abstractions sans vraie variation compliquent le code.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767000"/>
            <a:ext cx="5221224" cy="166232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464122"/>
            <a:ext cx="5221224" cy="226808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Un pattern doit payer son loyer : réduire un vrai coût de changement.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1. Patterns de création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8096" y="2697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DD7E5"/>
                </a:solidFill>
              </a:rPr>
              <a:t>Objectif : maîtriser le choix concret.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337560"/>
            <a:ext cx="978408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7673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Qui crée ? Où concentre-t-on la décision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6C5"/>
                </a:solidFill>
              </a:rPr>
              <a:t>J4 — slide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problème récurrent : qui crée quoi 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Le service métier ne doit pas toujours choisir les classes concrètes.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378674"/>
            <a:ext cx="5221224" cy="24389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656191"/>
            <a:ext cx="5221224" cy="188394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Le problème n’est pas new en soi : c’est le choix de variante dans le mauvais endroit.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Factory Method / Simple Factory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La factory centralise le choix ; le client dépend du produit abstrait.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550108"/>
            <a:ext cx="5221224" cy="2096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407854"/>
            <a:ext cx="5221224" cy="23806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Factory répond à la question : “lequel créer ?”.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 Factory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Quand une famille cohérente varie : Web ou Mobile, clair ou sombre, etc.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043122"/>
            <a:ext cx="5221224" cy="11100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886473"/>
            <a:ext cx="5221224" cy="142338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Abstract Factory choisit une famille cohérente, pas seulement un constructeur.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Utile quand la construction a des étapes et des invariants.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295346"/>
            <a:ext cx="5221224" cy="6056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814058"/>
            <a:ext cx="5221224" cy="15682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Un Builder utile protège la validité de l’objet final.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et Singleton : prudence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Prototype copie ; Singleton peut cacher une dépendance globale.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934960"/>
            <a:ext cx="5221224" cy="13264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093841"/>
            <a:ext cx="5221224" cy="100864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Une instance unique peut être gérée par DI sans accès global.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Choisir un pattern de création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Parfois, le bon choix est simplement un constructeur clair.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927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10927080" cy="493776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9047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Pattern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54680" y="1490472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Question simple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72400" y="1490472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Coût à rappeler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185623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Factory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Une variante concrète à choisir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772400" y="1965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Mapping ou configuration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2386584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420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Abstract Factory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2496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Une famille cohérente varie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72400" y="2496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Ajouter un produit coûte cher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2916936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0723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Builder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3026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Construction par étapes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772400" y="30266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Classe supplémentaire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22960" y="3447288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0273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Prototype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54680" y="3557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Copie d’objet configuré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772400" y="35570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Copie profonde à maîtriser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22960" y="3977640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3308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Singleton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54680" y="4087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Instance unique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772400" y="40873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Risque d’état global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22960" y="450799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6634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Aucun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54680" y="4617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Construction simple et stable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772400" y="4617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Le plus lisible possible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22960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A48"/>
                </a:solidFill>
              </a:rPr>
              <a:t>Critère final : quand j’ajoute une variante, combien de classes je rouvre 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Factory +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Factory choisit. Strategy exécute.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955400"/>
            <a:ext cx="5221224" cy="128552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859596"/>
            <a:ext cx="5221224" cy="14771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Ajouter WhatsApp doit ajouter une classe + un mapping, pas modifier le service métier.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2. Patterns structurels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8096" y="2697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DD7E5"/>
                </a:solidFill>
              </a:rPr>
              <a:t>Objectif : connecter, adapter, envelopper, simplifier.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337560"/>
            <a:ext cx="978408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7673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Comment les objets s’assemblent-ils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6C5"/>
                </a:solidFill>
              </a:rPr>
              <a:t>J4 — slide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L’adapter traduit une API externe vers le langage du domaine.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956210"/>
            <a:ext cx="5221224" cy="12839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966564"/>
            <a:ext cx="5221224" cy="126319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La contamination technique s’arrête à la frontière Adapter.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Bridge évite l’explosion N × M de sous-classes.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960515"/>
            <a:ext cx="5221224" cy="127529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085096"/>
            <a:ext cx="5221224" cy="102613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Bridge sépare deux axes qui varient indépendamment.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Traiter un élément simple et un groupe avec le même contrat.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890642"/>
            <a:ext cx="5221224" cy="14150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051179"/>
            <a:ext cx="5221224" cy="109397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Le client parle à Node sans distinguer feuille et dossier.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Decorator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Ajouter une responsabilité sans créer une sous-classe combinatoire.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805978"/>
            <a:ext cx="5221224" cy="158437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870205"/>
            <a:ext cx="5221224" cy="145591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Decorator enrichit un comportement en gardant la même interface.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Simplifier l’accès à un sous-système bavard.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918525"/>
            <a:ext cx="5221224" cy="13592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462107"/>
            <a:ext cx="5221224" cy="227211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Facade cache une complexité de coordination ; elle ne doit pas devenir un God Service.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Proxy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Même interface, mais contrôle de l’accès à l’objet réel.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049581"/>
            <a:ext cx="5221224" cy="109716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044828"/>
            <a:ext cx="5221224" cy="11066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Proxy contrôle, sécurise, retarde ou met en cache l’accès.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Flyweight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Partager l’état commun quand il y a énormément d’objets semblables.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850332"/>
            <a:ext cx="5221224" cy="149566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847324"/>
            <a:ext cx="5221224" cy="150167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Flyweight vaut le coût seulement si la volumétrie est réelle.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Comparer les patterns structurels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Même structure UML parfois, mais intention différente.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927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10927080" cy="493776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9047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Pattern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54680" y="1490472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Question simple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72400" y="1490472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Coût à rappeler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185623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Adapter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Je veux traduire une API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772400" y="1965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Classe frontière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2386584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420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Decorator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2496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Je veux enrichir un objet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72400" y="2496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Empilement à lire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2916936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0723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Facade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3026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Je veux simplifier un sous-système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772400" y="30266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Risque God Service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22960" y="3447288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0273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Proxy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54680" y="3557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Je veux contrôler l’accès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772400" y="35570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Cache/sécurité à maîtriser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22960" y="3977640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3308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Bridge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54680" y="4087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Je veux séparer deux axes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772400" y="40873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Abstraction + implémentation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22960" y="450799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6634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Composite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54680" y="4617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Je veux uniformiser un arbre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772400" y="4617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Contrat à concevoir finement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22960" y="5038344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19379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Flyweight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154680" y="5148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Je veux partager l’état lourd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772400" y="51480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Complexité mémoire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22960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A48"/>
                </a:solidFill>
              </a:rPr>
              <a:t>La bonne question : “je veux traduire, enrichir, simplifier, contrôler ou uniformiser ?”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choisir la bonne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Pour chaque symptôme, donne le problème puis le pattern.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DECEC"/>
          </a:solidFill>
          <a:ln w="12700">
            <a:solidFill>
              <a:srgbClr val="F8B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Symptôme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API externe incompatible.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Options combinables.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Sous-système trop bavard.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Accès coûteux à retarder.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48"/>
                </a:solidFill>
              </a:rPr>
              <a:t>Réponse probable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Adapter.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Decorator.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Facade.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Proxy.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Un même système peut combiner plusieurs patterns, mais chacun doit avoir une raison.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3. Patterns de comportement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8096" y="2697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DD7E5"/>
                </a:solidFill>
              </a:rPr>
              <a:t>Objectif : déplacer algorithme, état, action, événement ou coordination.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337560"/>
            <a:ext cx="978408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7673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Qui décide ? Qui réagit ? Qui exécute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6C5"/>
                </a:solidFill>
              </a:rPr>
              <a:t>J4 — slide 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Remplacer un conditionnel d’algorithme qui varie souvent.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105834"/>
            <a:ext cx="5221224" cy="9846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106310"/>
            <a:ext cx="5221224" cy="98370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Strategy répond à “quel algorithme interchangeable ?”.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versus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Même forme, mais pas la même intention.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817818"/>
            <a:ext cx="5221224" cy="15606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211505"/>
            <a:ext cx="5221224" cy="77331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Strategy est choisie de l’extérieur ; State dépend de l’état interne de l’objet.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Découpler l’émetteur de plusieurs réactions secondaires.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394108"/>
            <a:ext cx="5221224" cy="2408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016370"/>
            <a:ext cx="5221224" cy="116358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Observer est utile, mais exige traçabilité et stratégie d’erreur.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Transformer une action en objet manipulable.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119411"/>
            <a:ext cx="5221224" cy="95750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185707"/>
            <a:ext cx="5221224" cy="82491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Command est utile quand l’action a un cycle de vie : queue, retry, undo, audit.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 Method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Garantir l’ordre d’un algorithme commun.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006223"/>
            <a:ext cx="5221224" cy="118388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860382"/>
            <a:ext cx="5221224" cy="147556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Template Method impose l’ordre, mais repose sur l’héritage.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Chain of Responsibility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Faire traverser une requête par plusieurs filtres.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573212"/>
            <a:ext cx="5221224" cy="204990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092116"/>
            <a:ext cx="5221224" cy="10120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Chain clarifie les étapes si l’ordre et le logging restent explicites.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32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Éviter que tous les composants se connaissent mutuellement.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011604"/>
            <a:ext cx="5221224" cy="3173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999259"/>
            <a:ext cx="5221224" cy="119781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Mediator coordonne ; il ne doit pas aspirer toutes les règles métier.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33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Iterator et Visitor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Iterator parcourt ; Visitor ajoute une opération sur une structure stable.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092692"/>
            <a:ext cx="5221224" cy="101094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005635"/>
            <a:ext cx="5221224" cy="118505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Visitor facilite l’ajout d’opérations, mais complique l’ajout de nouveaux types de nœuds.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Memento et Interpreter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Deux patterns plus spécialisés mais utiles à connaître.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DECEC"/>
          </a:solidFill>
          <a:ln w="12700">
            <a:solidFill>
              <a:srgbClr val="F8B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À éviter si...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Memento expose tout l’état interne.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Interpreter réinvente un vrai langage.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Le pattern devient plus gros que le besoin.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48"/>
                </a:solidFill>
              </a:rPr>
              <a:t>À utiliser si...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Undo/redo ou snapshot contrôlé.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Petite grammaire stable.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Bénéfice supérieur au coût d’outillage.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Connaître le nom est utile ; l’employer doit rester justifié.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Comparer les patterns comportementaux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La responsabilité déplacée est la clé de mémorisation.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927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10927080" cy="493776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9047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Pattern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54680" y="1490472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Question simple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72400" y="1490472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Coût à rappeler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185623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Strategy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Algorithme variable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772400" y="1965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Sélection à organiser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2386584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420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State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2496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Comportement selon état interne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72400" y="2496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Transitions à maîtriser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2916936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0723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Command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3026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Action devient objet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772400" y="30266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Objets-commandes à maintenir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22960" y="3447288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0273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Observer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54680" y="3557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Réactions multiples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772400" y="35570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Flux implicite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22960" y="3977640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3308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Template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54680" y="4087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Squelette imposé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772400" y="40873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Héritage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22960" y="450799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6634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Chain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54680" y="4617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Filtres successifs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772400" y="4617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Ordre et logs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22960" y="5038344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19379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Mediator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154680" y="5148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Interactions croisées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772400" y="51480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Risque God Object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22960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A48"/>
                </a:solidFill>
              </a:rPr>
              <a:t>Ne cherche pas le diagramme : cherche l’intention.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patterns se combinent souvent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Un design réel peut utiliser plusieurs réponses complémentaires.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DECEC"/>
          </a:solidFill>
          <a:ln w="12700">
            <a:solidFill>
              <a:srgbClr val="F8B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Zoo de patterns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Plusieurs patterns sans justification.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Trop de classes pour un besoin simple.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Personne ne sait où passe le flux.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48"/>
                </a:solidFill>
              </a:rPr>
              <a:t>Combinaison saine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Factory choisit une Strategy.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Decorator ajoute l’audit.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Observer diffuse les événements.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Chaque pattern doit répondre à une question différente.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 code smell vers le pattern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Le pattern arrive après le smell et le test, pas avant.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DECEC"/>
          </a:solidFill>
          <a:ln w="12700">
            <a:solidFill>
              <a:srgbClr val="F8B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Mauvais réflexe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Je veux utiliser Strategy.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Je crée l’architecture complète.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Je teste après si j’ai le temps.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48"/>
                </a:solidFill>
              </a:rPr>
              <a:t>Meilleur réflexe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Je vois un switch répété.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Je sécurise par tests.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J’extrais la variation minimale.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Pattern = résultat possible d’un refactoring justifié.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38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Refactoring progressif vers un pattern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On avance par micro-changements sécurisés.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DECEC"/>
          </a:solidFill>
          <a:ln w="12700">
            <a:solidFill>
              <a:srgbClr val="F8B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Refactoring risqué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Réécrire tout le checkout.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Introduire 5 patterns d’un coup.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Changer structure et comportement ensemble.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48"/>
                </a:solidFill>
              </a:rPr>
              <a:t>Refactoring sûr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Caractériser l’existant.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Extraire une variation.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Déplacer une branche.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Relancer les tests.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Une seule chose change à la fois : comportement ou structure, pas les deux.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39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 fil rouge : checkout trop conditionnel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Surligner les axes de variation avant de choisir des patterns.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691061"/>
            <a:ext cx="5221224" cy="181420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801583"/>
            <a:ext cx="5221224" cy="159316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Le refactoring commence par nommer les variations indépendantes.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40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 fil rouge : checkout refactoré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Le service central redevient stable.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192442"/>
            <a:ext cx="5221224" cy="8114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660124"/>
            <a:ext cx="5221224" cy="187607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Ajouter ApplePay ou une remise étudiant ne doit pas rouvrir CheckoutService.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41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Tester un design à base de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Un pattern doit rendre les tests plus clairs, pas plus lourds.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</a:rPr>
              <a:t>MAUVAIS / AVANT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FDA29B"/>
            </a:solidFill>
            <a:prstDash val="solid"/>
          </a:ln>
        </p:spPr>
      </p:sp>
      <p:pic>
        <p:nvPicPr>
          <p:cNvPr id="9" name="Image 0" descr="/mnt/data/j4_code_images/code_0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677756"/>
            <a:ext cx="5221224" cy="18408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40680" cy="292608"/>
          </a:xfrm>
          <a:prstGeom prst="roundRect">
            <a:avLst>
              <a:gd name="adj" fmla="val 1875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1298448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27A48"/>
                </a:solidFill>
              </a:rPr>
              <a:t>MIEUX / APRÈS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63640" y="1618488"/>
            <a:ext cx="5440680" cy="3959352"/>
          </a:xfrm>
          <a:prstGeom prst="roundRect">
            <a:avLst>
              <a:gd name="adj" fmla="val 1386"/>
            </a:avLst>
          </a:prstGeom>
          <a:solidFill>
            <a:srgbClr val="101828"/>
          </a:solidFill>
          <a:ln w="12700">
            <a:solidFill>
              <a:srgbClr val="75E0A7"/>
            </a:solidFill>
            <a:prstDash val="solid"/>
          </a:ln>
        </p:spPr>
      </p:sp>
      <p:pic>
        <p:nvPicPr>
          <p:cNvPr id="13" name="Image 1" descr="/mnt/data/j4_code_images/code_0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062865"/>
            <a:ext cx="5221224" cy="107059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5806440"/>
            <a:ext cx="10652760" cy="429768"/>
          </a:xfrm>
          <a:prstGeom prst="roundRect">
            <a:avLst>
              <a:gd name="adj" fmla="val 17021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592531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Tests unitaires : doubles simples. Tests d’intégration : adapters réels ciblés.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42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Boussole de choix des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Une décision de pattern est un arbitrage.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927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10927080" cy="493776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9047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Pattern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54680" y="1490472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Question simple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72400" y="1490472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Coût à rappeler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185623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Variation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Qu’est-ce qui bouge ?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772400" y="1965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Création, algo, état, accès...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2386584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420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Stable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2496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Qu’est-ce qu’on protège ?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72400" y="2496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Domaine, use case, API, test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2916936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0723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Pattern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3026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Quelle structure aide ?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772400" y="30266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Le minimum utile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22960" y="3447288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0273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Coût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54680" y="3557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Qu’ajoute-t-on ?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772400" y="35570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Classes, indirection, wiring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22960" y="3977640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3308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Réalité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54680" y="4087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Changement réel ou hypothétique ?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772400" y="40873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Éviter le “au cas où”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22960" y="450799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6634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Test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54680" y="4617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Peut-on prouver sans casser ?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772400" y="4617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Filet de sécurité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22960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A48"/>
                </a:solidFill>
              </a:rPr>
              <a:t>Le bon pattern coûte moins cher que le changement qu’il absorbe.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43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 J4 : refactorisation par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Travail attendu en binômes.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DECEC"/>
          </a:solidFill>
          <a:ln w="12700">
            <a:solidFill>
              <a:srgbClr val="F8B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Départ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Identifier les smells.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Lister les tests de caractérisation.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Nommer les variations.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48"/>
                </a:solidFill>
              </a:rPr>
              <a:t>Livrables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Diagramme simple.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Code refactoré.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Tests.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Justification : problème / bénéfice / coût.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Refuser un pattern est autorisé si une abstraction plus simple suffit.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44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indicative : architecture cible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Une solution possible, pas la seule.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DECEC"/>
          </a:solidFill>
          <a:ln w="12700">
            <a:solidFill>
              <a:srgbClr val="F8B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CheckoutService avant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Choisit le provider.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Calcule toutes les remises.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Appelle email et analytics.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Difficile à tester.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48"/>
                </a:solidFill>
              </a:rPr>
              <a:t>CheckoutService après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Orchestre le scénario.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Dépend de ports.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Publie un événement.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Reste stable.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Critères : extension, testabilité, lisibilité.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45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fin J4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Chaque réponse doit donner l’intention, pas seulement le nom.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927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10927080" cy="493776"/>
          </a:xfrm>
          <a:prstGeom prst="rect">
            <a:avLst/>
          </a:prstGeom>
          <a:solidFill>
            <a:srgbClr val="1421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9047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Pattern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54680" y="1490472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Question simple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72400" y="1490472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Coût à rappeler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185623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Decorator / Proxy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Enrichir ou contrôler ?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772400" y="1965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Ne pas trancher au diagramme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2386584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420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Strategy / State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2496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Choisi dehors ou par état interne ?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72400" y="2496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Même forme, sens différent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2916936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0723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Factory / Abstract Factory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3026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Produit ou famille ?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772400" y="30266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Dimension d’extension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22960" y="3447288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0273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Observer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54680" y="3557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Découpler quelles réactions ?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772400" y="35570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Traçabilité / erreurs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22960" y="3977640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3308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Singleton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54680" y="4087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Instance unique ou global caché ?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772400" y="40873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Testabilité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22960" y="4507992"/>
            <a:ext cx="104241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6634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</a:rPr>
              <a:t>Patternitis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54680" y="4617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4213D"/>
                </a:solidFill>
              </a:rPr>
              <a:t>Coût supérieur au bénéfice ?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772400" y="4617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77A"/>
                </a:solidFill>
              </a:rPr>
              <a:t>Supprimer ou simplifier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22960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A48"/>
                </a:solidFill>
              </a:rPr>
              <a:t>Toujours répondre : problème → variation → pattern → coût.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46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J4 — ce qu’il faut retenir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Le pattern sert le changement ; il ne remplace pas le raisonnement.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DECEC"/>
          </a:solidFill>
          <a:ln w="12700">
            <a:solidFill>
              <a:srgbClr val="F8B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À ne pas retenir seulement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Le nom des 23 patterns.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Un diagramme UML figé.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Une recette à recopier.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48"/>
                </a:solidFill>
              </a:rPr>
              <a:t>À retenir vraiment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Nommer le problème.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Encapsuler la variation.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Refactorer avec tests.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Mesurer le coût.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Un pattern est bon s’il rend le code plus facile à faire évoluer et à comprendre.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47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vers J5 — des patterns à l’architecture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Demain, les mêmes questions changent d’échelle.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2ECFF"/>
          </a:solidFill>
          <a:ln w="12700">
            <a:solidFill>
              <a:srgbClr val="F2EC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36A3"/>
                </a:solidFill>
              </a:rPr>
              <a:t>À retenir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43434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Qui dépend de qui ?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Quelle frontière veut-on protéger ?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Quel coût accepte-t-on ?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Comment garder testabilité, cohésion et responsabilité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97880" y="141732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42318"/>
                </a:solidFill>
              </a:rPr>
              <a:t>PROBLÈME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7306056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70648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FF4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25E09"/>
                </a:solidFill>
              </a:rPr>
              <a:t>VARIATION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8513064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77656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E5AA8"/>
                </a:solidFill>
              </a:rPr>
              <a:t>PATTERN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9720072" y="3118104"/>
            <a:ext cx="146304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84664" y="2852928"/>
            <a:ext cx="1024128" cy="530352"/>
          </a:xfrm>
          <a:prstGeom prst="roundRect">
            <a:avLst>
              <a:gd name="adj" fmla="val 13793"/>
            </a:avLst>
          </a:prstGeom>
          <a:solidFill>
            <a:srgbClr val="F2E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0384" y="302666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636A3"/>
                </a:solidFill>
              </a:rPr>
              <a:t>COÛT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26364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On ne choisit pas un pattern pour son nom.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On le choisit pour réduire un coût de changement.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J4 • Design Patterns GoF &amp; refactorisation — slide 48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J4 — Design Patterns GoF &amp; refactorisation</dc:title>
  <dc:subject>J4 Design Patterns GoF &amp; refactorisation — version simplifiée</dc:subject>
  <dc:creator>OpenAI</dc:creator>
  <cp:lastModifiedBy>OpenAI</cp:lastModifiedBy>
  <cp:revision>1</cp:revision>
  <dcterms:created xsi:type="dcterms:W3CDTF">2026-09-08T04:26:38Z</dcterms:created>
  <dcterms:modified xsi:type="dcterms:W3CDTF">2026-09-08T04:26:38Z</dcterms:modified>
</cp:coreProperties>
</file>