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J2 — Classes, dépendances et packages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Objectif : remplacer les discours abstraits par des décisions visibles dans le code.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DIP : qui possède le contrat 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ISP : de quelles méthodes le client a-t-il vraiment besoin 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GRASP : qui porte quelle responsabilité 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Packages : quelles frontières évitent la propagation du changement 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On juge une conception à ce qu’elle coûte quand elle change.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Objectifs pédagogiques du J2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À la fin, les élèves doivent savoir dire “pourquoi ce code est fragile” puis proposer mieux.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Reconnaître un détail technique qui fuit dans le métier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Réduire une interface trop large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Placer une règle dans le bon objet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Découper un package selon usage, changement et release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but n’est pas de réciter les acronymes, mais de justifier une décision.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Déroulé pédagogique de la journée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On monte progressivement : classe → contrat → responsabilité → package.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881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Matin : DIP, injection, ISP, GRASP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Après-midi : packages, API publique, REP/CRP/CCP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Fin : cycles, stabilité, règles vérifiables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• TP : dessiner des frontières et des flèches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Toujours demander : qui dépend de qui, et pourquoi 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Réactivation J1 — OCP, LSP, couplage, cohésion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 switch n’est pas mauvais automatiquement. Il devient suspect s’il est copié partout.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si le même switch revient partout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si la variation est localisée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NotificationService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send(String type)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switch (type)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case "EMAIL" -&gt; sendEmail();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case "SMS" -&gt; sendSms();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Le même switch existe aussi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dans prix(), log(), icone()...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Notification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send();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EmailNotification implements Notification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void send() { sendEmail();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SmsNotification implements Notification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void send() { sendSms();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OCP vise surtout les variations fréquentes ou dispersées.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Des principes J1 aux frontières J2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Les principes d’hier deviennent des questions de frontières.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tout le monde connaît tout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chaque frontière a un rôle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CheckoutController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StripeSdk stripe;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OrderRepositoryJpa repo;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MailClient mail;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// métier + base + email + Stripe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CheckoutUseCase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PaymentPort payment;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OrderRepository orders;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NotificationPort notifications;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// orchestration du cas d'usage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DIP = direction, ISP = surface, GRASP = propriétaire, package = frontière.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DIP — l’idée centrale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Le coeur ne doit pas dépendre directement d’un détail technique.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le cas d’usage connaît Stripe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le cas d’usage dépend d’un 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StripeSdk stripe = new StripeSdk();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payer(double euros, String token)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cents = (int) (euros * 100);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stripe.charge(cents, token);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PaymentPort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authorize(Money amount, String token);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PaymentPort payment;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CheckoutService(PaymentPort payment)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this.payment = payment;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DIP = le coeur dépend d’un contrat exprimé dans son langage.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Politique métier vs détail technique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La partie stable exprime la règle ; le détail exécute une technologie.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le workflow parle SQL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le workflow parle métier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CancelOrderUseCase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execute(String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Connection c = DriverManager.getConnection(url);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requête SQL + règle métier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+ envoi email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CancelOrderUseCase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OrderRepository orders;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execute(String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Order order = orders.get(id);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order.cancel();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orders.save(order);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Une base de données fiable reste un détail pour le cas d’usage.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Flux d’exécution vs dépendances du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À l’exécution on appelle Stripe, mais le code du coeur n’importe pas Stripe.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dépendance du code vers le SDK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le code dépend du 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Code source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CheckoutUseCase -&gt; StripeSdk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Exécution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CheckoutUseCase -&gt; StripeSdk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Code source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CheckoutUseCase -&gt; PaymentPort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StripeAdapter  -&gt; PaymentPort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StripeAdapter  -&gt; StripeSdk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Exécution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CheckoutUseCase -&gt; StripeAdapter -&gt; StripeSdk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DIP concerne surtout le graphe du code source.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09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Ports et adapters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Le port dit ce dont le coeur a besoin ; l’adapter traduit vers le fournisseur.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le port copie Stripe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le port parle paiement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StripePort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String createStripePaymentIntent(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int amountInCents,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String stripeToken);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PaymentPort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PaymentReceipt authorize(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Money amount,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String paymentToken);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StripeAdapter implements PaymentPort { 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port appartient au besoin ; l’adapter appartient au détail.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09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Refactoriser un couplage direct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On extrait d’abord la capacité utile, puis on déplace la traduction technique.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conversion Stripe dans le service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conversion dans l’adapter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checkout(Money money)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cents = money.amount()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.movePointRight(2).intValue();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stripe.charge(cents);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StripePaymentAdapter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implements PaymentPort {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Receipt authorize(Money money)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int cents = toCents(money);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toReceipt(stripe.charge(cents));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cas d’usage ne doit pas apprendre les unités et les noms du fournisseur.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Définir le port côté besoin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Une interface ne découple pas si elle est nommée depuis le fournisseur.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abstraction possédée par Stripe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abstraction possédée par le besoin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IHttpStripeClient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StripeResponse postPaymentIntent(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StripeRequest request);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PaymentAuthorizer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PaymentReceipt authorize(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Money amount,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String token);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Test simple : si Stripe disparaît, le nom du port reste-t-il naturel 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11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Injection de dépendances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 objet reçoit ses collaborateurs au lieu de les fabriquer ou les chercher.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dépendance créée dans la classe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dépendance obligatoire visible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OrderRepository repo =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new JpaOrderRepository();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OrderRepository repo;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OrderService(OrderRepository repo)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this.repo = repo;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constructeur rend les dépendances obligatoires honnêtes.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12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DIP et testabilité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 test devient simple quand on peut remplacer réseau, temps ou base par un fake.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heure réelle non contrôlable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Clock injecté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DiscountService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boolean promoActive()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LocalDate.now().getDayOfWeek()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== DayOfWeek.MONDAY;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DiscountService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Clock clock;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DiscountService(Clock clock)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this.clock = clock;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boolean promoActive()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LocalDate.now(clock).getDayOfWeek()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== DayOfWeek.MONDAY;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La testabilité révèle souvent une dépendance cachée.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13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Quand ne pas introduire une abstraction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Une abstraction doit réduire un risque réel, pas être créée par réflexe.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une interface inutile par classe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dépendance directe si stable et interne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PriceCalculator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double calculate(double price);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DefaultPriceCalculator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implements PriceCalculator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double calculate(double price)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price;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PriceCalculator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double calculate(double price)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price;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PriceCalculator calculator;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Question clé : quel changement cette abstraction protège-t-elle 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14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Atelier DIP — découpler un cas d’usage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Ne créez pas quatre interfaces mécaniquement : classez d’abord les dépendances.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tout est mélangé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collaborations utiles injectées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ValidateDelivery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execute()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CarrierSdk c = new CarrierSdk();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Config cfg = Config.load();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Logger.log("start");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ExternalApi.check(cfg.url());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ValidateDelivery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CarrierPort carrier;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DeliveryRules rules;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ValidateDelivery(CarrierPort carrier,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   DeliveryRules rules)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this.carrier = carrier;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this.rules = rules;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Créer un port seulement quand il porte une vraie frontière.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15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ISP — séparer selon les clients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Aucun client ne devrait dépendre de méthodes qu’il n’utilise pas.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interface énorme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interfaces par rôle client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Payment find(String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capture(String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refund(String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String exportCsv();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reconcile();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PaymentReader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Payment find(String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PaymentCaptor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capture(String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RefundManager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refund(String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ISP se décide depuis les consommateurs, pas depuis l’implémentation.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16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Symptômes d’une interface grasse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Une méthode qui lance UnsupportedOperationException révèle souvent un contrat mensonger.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la classe ment sur ses capacités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elle implémente seulement le rôle utile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ReadOnlyPaymentService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implements PaymentService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Payment find(String id) { return p;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void refund(String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throw new UnsupportedOperationException();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ReadOnlyPaymentService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implements PaymentReader {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Payment find(String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p;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Si une méthode n’a pas de sens pour l’objet, elle n’appartient probablement pas à son contrat.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17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Interfaces orientées rôles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Une même classe peut être riche ; chaque client ne voit qu’un rôle précis.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l’UI dépend de tout PaymentService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l’UI dépend seulement de la lecture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PaymentScreen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PaymentService service;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render(String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service.find(id);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PaymentScreen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PaymentReader reader;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PaymentScreen(PaymentReader reader)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this.reader = reader;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contrat visible par un client doit correspondre à son besoin réel.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18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19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ISP et évolution de l’API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Ajouter une capacité ne doit pas obliger tous les clients à changer.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exportCsv ajouté au contrat de tous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seul le rôle export évolue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Payment find(String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refund(String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String exportCsv(); // impacte tout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FakePaymentService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implements PaymentService { ... 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PaymentExporter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String exportCsv();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ExportJob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PaymentExporter exporter;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ISP réduit le rayon d’impact d’un changement.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19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Atelier ISP — découpage d’un contrat monolithique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Méthode simple : méthodes → clients → rôles → noms.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découpage depuis la classe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découpage depuis les usages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UserService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User get();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create(User u);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delete(String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exportCsv();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resetPassword();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UserReader { User get();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UserAdmin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create(User u);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delete(String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PasswordResetter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resetPassword();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Ne dites pas “j’ai découpé car SOLID”, dites “ce client a besoin de…”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20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GRASP — un vocabulaire de responsabilités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GRASP aide à répondre à la question : qui doit faire quoi 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responsabilité placée au hasard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responsabilité argumentée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boolean canCancel(Order o)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o.getStatus() != SHIPPED;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boolean canBeCancelled()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status != SHIPPED;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GRASP donne des mots pour justifier une décision de conception.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21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Information Expert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La règle va souvent dans l’objet qui possède les informations nécessaires.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le service lit l’état puis décide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Order protège son invariant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CancelOrderUseCase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execute(Order order)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(order.getStatus() == SHIPPED)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throw new IllegalStateException();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order.setStatus(CANCELLED);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cancel()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(status == SHIPPED)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throw new IllegalStateException();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status = CANCELLED;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La donnée et la règle restent proches.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22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Creator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Celui qui contient ou possède les informations crée souvent l’objet.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création dispersée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Order crée sa ligne et valide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OrderLine line = new OrderLine(product, 2);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order.getLines().add(line);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on peut contourner les règles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order.getLines().add(new OrderLine(product, 0));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addLine(Product product, int qty)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(qty &lt;= 0) throw new IllegalArgumentException();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lines.add(new OrderLine(product, qty));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Creator aide à éviter les objets créés n’importe où, sans contrôle.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23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Controller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Le controller orchestre ; il ne doit pas absorber toutes les règles.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HTTP controller fait tout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controller HTTP délègue au use case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OrderController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cancel(String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Order o = repo.find(id);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(o.status() == SHIPPED) throw err;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o.setStatus(CANCELLED);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smtp.send(...);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OrderController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CancelOrderUseCase useCase;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cancel(String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useCase.execute(id);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Controller traduit l’entrée ; le use case orchestre ; l’entité décide.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24</a:t>
            </a:r>
            <a:endParaRPr lang="en-US" sz="7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Low Coupling et High Cohesion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Une classe doit avoir une raison claire d’exister et peu de connaissances inutiles.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GodService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responsabilités lisibles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OrderGodService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cancel()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règle métier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SQL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email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JSON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paiement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Order.cancel();          // règle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OrderRepository.save(o); // persistance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NotificationPort.send(); // sortie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PaymentPort.refund();    // paiement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but n’est pas plus de classes, mais des responsabilités compréhensibles.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25</a:t>
            </a:r>
            <a:endParaRPr lang="en-US" sz="7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Polymorphism et Indirection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Quand une variation revient souvent, le polymorphisme localise la différence.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if/switch répété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variantes derrière un contrat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double fee(String type)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(type.equals("CARD")) return 1.0;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(type.equals("PAYPAL")) return 2.0;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(type.equals("WIRE")) return 0.5;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return 0;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PaymentMethod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double fee();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CardPayment implements PaymentMethod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double fee() { return 1.0;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Indirection utile = elle protège une variation réelle.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26</a:t>
            </a:r>
            <a:endParaRPr lang="en-US" sz="7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Pure Fabrication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Créer une classe technique peut protéger le modèle métier.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l’entité connaît SQL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repository dédié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save()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Connection c = DriverManager.getConnection(url);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c.prepareStatement("insert ...");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cancel() { ...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OrderRepository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save(Order order);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Repository, mapper, adapter : classes artificielles mais utiles.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27</a:t>
            </a:r>
            <a:endParaRPr lang="en-US" sz="7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Protected Variations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On protège les points de variation probables, pas tous les futurs imaginaires.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règle variable copiée partout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stratégie de calcul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(country.equals("FR")) tax = 0.20;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(country.equals("DE")) tax = 0.19;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copié dans commande, facture, export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TaxPolicy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BigDecimal taxFor(Money amount);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FrenchTaxPolicy implements TaxPolicy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BigDecimal taxFor(Money amount) { ...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Identifier le point instable puis créer une petite frontière stable.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28</a:t>
            </a:r>
            <a:endParaRPr lang="en-US" sz="7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29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GRASP — matrice de responsabilités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Chaque responsabilité doit avoir un propriétaire explicable.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CancelOrderUseCase décide tout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chaque objet joue son rôle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execute(String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Order o = repo.get(id);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if (o.status() != SHIPPED)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o.setStatus(CANCELLED);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stripe.refund(o.amount());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smtp.send(...);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execute(String 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Order o = orders.get(id);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o.cancel();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refunds.refund(o.id(), o.paidAmount());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orders.save(o);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notifications.cancelled(o.id());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Expert décide, Controller orchestre, ports masquent les détails.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29</a:t>
            </a:r>
            <a:endParaRPr lang="en-US" sz="7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Le package comme frontière de conception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 package n’est pas juste un dossier : c’est une frontière avec une API publique.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l’extérieur importe l’interne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l’extérieur voit seulement l’API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com.acme.orders.internal.SqlRow;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com.acme.orders.internal.OrderMapper;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// dépend d'un détail interne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com.acme.orders.api.OrderService;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OrderService orders;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Une frontière existe si l’extérieur sait ce qu’il peut consommer.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30</a:t>
            </a:r>
            <a:endParaRPr lang="en-US" sz="7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API publique et encapsulation au niveau package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Une classe public mal placée devient vite une promesse de compatibilité.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DTO interne partagé partout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DTO de frontière explicite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package orders.internal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public class OrderSqlDto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String status;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utilisé par 5 packages externes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package orders.api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public record OrderView(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String id,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String status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 {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internal reste internal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Plus l’API publique est grande, plus le refactoring coûte cher.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31</a:t>
            </a:r>
            <a:endParaRPr lang="en-US" sz="7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Découpage horizontal vs découpage par capacité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Le bon découpage localise les changements fréquents.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une évolution traverse toutes les couches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une capacité regroupe son histoire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controller/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service/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repository/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entity/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"remboursement" touche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4 packages techniques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api/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domain/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infra/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billing/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api/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domain/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infra/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Découpez selon les raisons de changer, pas seulement selon la technique.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32</a:t>
            </a:r>
            <a:endParaRPr lang="en-US" sz="7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Exemple de hiérarchisation des packages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Le nom internal ne suffit pas : il faut une règle de dépendance.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ça compile donc on le fait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bootstrap assemble, app consomme l’API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com.acme.orders.internal.JpaOrderRepo;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App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JpaOrderRepo repo = new JpaOrderRepo();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com.acme.orders.api.OrderService;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Bootstrap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OrderService orders =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new OrderService(new JpaOrderRepo());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compilateur autorise parfois ce que l’architecture interdit.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33</a:t>
            </a:r>
            <a:endParaRPr lang="en-US" sz="7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REP — Reuse/Release Equivalence Principle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Ce qui est réutilisé ensemble doit être livré/versionné ensemble.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release sans thème clair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unité de release cohérente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common-1.4.0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S3Client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JwtToken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CsvExporter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Que signifie cette version ?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money-kernel-1.4.0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Currency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CurrencyRules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Le changement a un sens clair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REP demande une promesse compréhensible pour les consommateurs.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34</a:t>
            </a:r>
            <a:endParaRPr lang="en-US" sz="7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CRP — Common Reuse Principle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Ne forcez pas un consommateur à dépendre de choses qu’il n’utilise pas.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dépendance vers un gros shared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dépendance vers le petit module utile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shared.Money;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mais shared contient aussi 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S3Client, JwtToken, DatabaseConfig,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JsonUtils, DateParser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money.Money;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money.Currency;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Pas de dépendance transitive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vers S3, DB ou JWT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CRP est l’équivalent d’ISP au niveau package.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35</a:t>
            </a:r>
            <a:endParaRPr lang="en-US" sz="7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CCP — Common Closure Principle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Ce qui change pour la même raison devrait être regroupé.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une règle dispersée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changement localisé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controllers/RefundController.java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services/RefundService.java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entities/RefundPolicy.java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mappers/RefundMapper.java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un changement touche 4 packages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billing/refund/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RefundUseCase.java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RefundPolicy.java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RefundMapper.java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une règle change ici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CCP = ranger ensemble les classes qui bougent ensemble.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36</a:t>
            </a:r>
            <a:endParaRPr lang="en-US" sz="7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REP, CRP et CCP — trois forces en tension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On cherche un compromis, pas le score parfait sur les trois principes.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tout optimiser en même temps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compromis justifié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Trop gros : viole CRP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business-all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Trop petit : release pénible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money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currency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amount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rounding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billing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invoice/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refund/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module money-kernel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Currency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Questions : qui consomme ? qu’est-ce qui change ensemble ? qu’est-ce qui se versionne ensemble 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37</a:t>
            </a:r>
            <a:endParaRPr lang="en-US" sz="7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Étude de cas REP/CRP/CCP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Le module common doit être analysé par consommateurs et raisons de changement.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common contient tout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petites frontières justifiées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common/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JsonUtils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JwtToken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S3Client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DateParser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DatabaseConfig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DomainEvent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money/       Money, Currency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identity/    JwtToken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storage-s3/  S3Client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bootstrap/   DatabaseConfig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events/      DomainEvent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résultat attendu n’est pas 7 packages d’une classe, mais des dépendances justifiables.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38</a:t>
            </a:r>
            <a:endParaRPr lang="en-US" sz="7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39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Relations entre packages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 graphe de dépendances montre comment un changement peut se propager.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cycle entre packages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dépendances orientées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orders -&gt; billing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billing -&gt; shipping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shipping -&gt; orders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impossible à isoler clairement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 -&gt; orders.api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 -&gt; billing.api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orders -&gt; contracts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billing -&gt; contracts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pas de cycle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Chaque flèche signifie : “je peux subir tes changements”.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39</a:t>
            </a:r>
            <a:endParaRPr lang="en-US" sz="7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Supprimer un cycle — méthode de travail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On casse un cycle en comprenant la responsabilité de la flèche.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orders et billing se connaissent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contrat ou événement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BillingService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OrderService orders;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refundDone(String orderId)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orders.markRefunded(orderId);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RefundListener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refundCompleted(String orderId);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OrderRefundListener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implements RefundListener { ... 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Ne cachez pas le cycle en déplaçant tout dans common.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40</a:t>
            </a:r>
            <a:endParaRPr lang="en-US" sz="7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Stabilité des packages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Stable signifie “coûteux à modifier car beaucoup de clients”, pas “meilleur”.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stable dépend d’un détail instable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le détail dépend du contrat stable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domain -&gt; stripe-adapter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Ca(domain)=8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Ce(domain)=1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beaucoup de clients impactés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domain -&gt; PaymentPort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stripe-adapter -&gt; PaymentPort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stripe-adapter -&gt; StripeSdk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 = Ce / (Ca + Ce)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Un détail volatile doit dépendre d’un contrat stable, pas l’inverse.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41</a:t>
            </a:r>
            <a:endParaRPr lang="en-US" sz="7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Le package fourre-tout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common/shared/utils ne sont pas interdits, mais doivent être fortement justifiés.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common devient le centre de tout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ne partager que le stable commun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common/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StringUtils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EmailClient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DatabaseConfig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StripeMapper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tous les packages importent common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money/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Currency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email-adapter/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EmailClient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stripe-adapter/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StripeMapper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Pas de common2 : il faut retrouver les propriétaires naturels.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42</a:t>
            </a:r>
            <a:endParaRPr lang="en-US" sz="7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Rendre les règles d’architecture exécutables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Une règle écrite peut être vérifiée automatiquement.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règle seulement dans un schéma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règle testée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Diagramme 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domain ne dépend pas de infrastructure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Dans le code 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infrastructure.JpaOrderRepository;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personne ne le voit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assertThat(packages)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.where("domain")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.shouldNotDependOn("infrastructure");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assertNoCycles(packages);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L’outil ne choisit pas l’architecture ; il empêche l’érosion silencieuse.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43</a:t>
            </a:r>
            <a:endParaRPr lang="en-US" sz="7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TP 2 — Construction et hiérarchisation des packages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Livrable : packages + API publique + flèches + cycles + justification.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MAUVAIS : arbre sans dépendances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MIEUX : graphe argumenté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src/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controller/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service/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repository/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model/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aucune flèche, aucune frontière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orders.api &lt;- checkout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billing.api &lt;- checkout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infrastructure -&gt; application ports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cycles entourés et corrigés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Le TP évalue les décisions et dépendances, pas la beauté de l’arborescence.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44</a:t>
            </a:r>
            <a:endParaRPr lang="en-US" sz="7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TP 2 — correction indicative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Plusieurs corrections peuvent être valides si les flèches restent cohérentes.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INCOHÉRENT : dépendances contredisent le discours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COHÉRENT : responsabilités et flèches alignées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domain -&gt; infrastructure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orders -&gt; billing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billing -&gt; orders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api -&gt; internal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frontières annoncées mais non respectées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application -&gt; domain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infrastructure -&gt; application ports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web -&gt; application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bootstrap -&gt; infrastructure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pas de cycle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Différent n’est pas incohérent ; incohérent = responsabilités et dépendances se contredisent.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45</a:t>
            </a:r>
            <a:endParaRPr lang="en-US" sz="7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Quiz de fin de J2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Vérifier les confusions fréquentes avec du code court.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QUESTION : DIP est-il respecté 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RÉPONSE : pas nécessairement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@Autowired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StripeSdk stripe;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Injection oui. DIP ?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PaymentPort payment;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Service(PaymentPort payment)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this.payment = payment;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le coeur dépend du port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Autowired ne suffit pas : il faut regarder vers quel type le coeur dépend.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46</a:t>
            </a:r>
            <a:endParaRPr lang="en-US" sz="7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Checklist de revue J2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Utilisable directement en revue de code.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SIGNAUX D’ALERTE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RÉFLEXES DE CORRECTION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new StripeSdk() dans le coeur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avec méthodes inutiles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métier copié partout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.internal depuis dehors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cycle orders &lt;-&gt; billing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common avec tout dedans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Port nommé côté besoin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Constructor injection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par rôle client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Règle dans l'expert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API publique petite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Graphe sans cycle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Choisir 2 ou 3 questions adaptées à la pull request, pas une grille bureaucratique.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47</a:t>
            </a:r>
            <a:endParaRPr lang="en-US" sz="7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63B7"/>
          </a:solidFill>
          <a:ln w="12700">
            <a:solidFill>
              <a:srgbClr val="3163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163B7"/>
                </a:solidFill>
              </a:rPr>
              <a:t>SLIDE 48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Transition vers J3 — TDD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8912" y="1161288"/>
            <a:ext cx="11201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66579"/>
                </a:solidFill>
              </a:rPr>
              <a:t>TDD profitera directement des frontières construites aujourd’hui.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91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2700">
            <a:solidFill>
              <a:srgbClr val="C62828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DIFFICILE À TESTER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532120" cy="310896"/>
          </a:xfrm>
          <a:prstGeom prst="roundRect">
            <a:avLst>
              <a:gd name="adj" fmla="val 11765"/>
            </a:avLst>
          </a:prstGeom>
          <a:solidFill>
            <a:srgbClr val="EAF6ED"/>
          </a:solidFill>
          <a:ln w="12700">
            <a:solidFill>
              <a:srgbClr val="2E7D32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8504" y="165963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FACILE À TESTER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StripeSdk stripe = new StripeSdk();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Clock clock = Clock.systemDefaultZone();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JpaRepo repo = new JpaRepo();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45352" y="1993392"/>
            <a:ext cx="553212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 w="12700">
            <a:solidFill>
              <a:srgbClr val="333333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3126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Checkout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Checkout(PaymentPort payment,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Clock clock,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OrderRepository repo) { ...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test : fake payment, fixed clock, repo mémoire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8912" y="5733288"/>
            <a:ext cx="11292840" cy="530352"/>
          </a:xfrm>
          <a:prstGeom prst="roundRect">
            <a:avLst>
              <a:gd name="adj" fmla="val 6897"/>
            </a:avLst>
          </a:prstGeom>
          <a:solidFill>
            <a:srgbClr val="FFF4D7"/>
          </a:solidFill>
          <a:ln w="12700">
            <a:solidFill>
              <a:srgbClr val="F0D88A">
                <a:alpha val="8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5833872"/>
            <a:ext cx="10954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La testabilité n’est pas ajoutée après la conception ; elle révèle la qualité des frontières.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 conception objet • slide 48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J2 - Classes, dépendances et packages</dc:title>
  <dc:subject>J2 conception objet - version simplifiée avec mauvais/mieux</dc:subject>
  <dc:creator>OpenAI</dc:creator>
  <cp:lastModifiedBy>OpenAI</cp:lastModifiedBy>
  <cp:revision>1</cp:revision>
  <dcterms:created xsi:type="dcterms:W3CDTF">2026-09-08T04:08:12Z</dcterms:created>
  <dcterms:modified xsi:type="dcterms:W3CDTF">2026-09-08T04:08:12Z</dcterms:modified>
</cp:coreProperties>
</file>