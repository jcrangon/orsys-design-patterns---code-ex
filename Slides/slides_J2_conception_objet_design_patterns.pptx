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notesMasterIdLst>
    <p:notesMasterId r:id="rId5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notesMaster" Target="notesMasters/notesMaster1.xml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47104"/>
            <a:ext cx="4754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— Classes, dépendances et packages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631168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7498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</a:rPr>
              <a:t>Jour 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94360" y="1243584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</a:rPr>
              <a:t>Classes, dépendances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</a:rPr>
              <a:t>et packages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03504" y="251460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B667A"/>
                </a:solidFill>
              </a:rPr>
              <a:t>DIP • ISP • GRASP • REP • CRP • CCP • cycles • stabilité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1792" y="61447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A"/>
                </a:solidFill>
              </a:rPr>
              <a:t>Support projeté — J2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973568" y="868680"/>
            <a:ext cx="36118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57032" y="141732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172A"/>
                </a:solidFill>
              </a:rPr>
              <a:t>Carte mentale du Jour 2 : organiser le changement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9189720" y="2852928"/>
            <a:ext cx="1261872" cy="502920"/>
          </a:xfrm>
          <a:prstGeom prst="roundRect">
            <a:avLst/>
          </a:prstGeom>
          <a:solidFill>
            <a:srgbClr val="F2EAFE"/>
          </a:solidFill>
          <a:ln w="15240">
            <a:solidFill>
              <a:srgbClr val="7C3AE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</a:rPr>
              <a:t>DÉPENDANCES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</a:rPr>
              <a:t>&amp; PACKAGES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321040" y="2057400"/>
            <a:ext cx="914400" cy="3017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11827"/>
                </a:solidFill>
              </a:rPr>
              <a:t>DIP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351008" y="2057400"/>
            <a:ext cx="914400" cy="3017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11827"/>
                </a:solidFill>
              </a:rPr>
              <a:t>ISP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8275320" y="3703320"/>
            <a:ext cx="914400" cy="3017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11827"/>
                </a:solidFill>
              </a:rPr>
              <a:t>GRASP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0222992" y="3703320"/>
            <a:ext cx="914400" cy="3017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11827"/>
                </a:solidFill>
              </a:rPr>
              <a:t>REP/CRP/CCP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290304" y="4526280"/>
            <a:ext cx="914400" cy="3017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11827"/>
                </a:solidFill>
              </a:rPr>
              <a:t>Cycles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9281160" y="1719072"/>
            <a:ext cx="914400" cy="3017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11827"/>
                </a:solidFill>
              </a:rPr>
              <a:t>API publique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778240" y="2359152"/>
            <a:ext cx="384048" cy="493776"/>
          </a:xfrm>
          <a:prstGeom prst="line">
            <a:avLst/>
          </a:prstGeom>
          <a:noFill/>
          <a:ln w="21590">
            <a:solidFill>
              <a:srgbClr val="5B667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0314432" y="2359152"/>
            <a:ext cx="-164592" cy="493776"/>
          </a:xfrm>
          <a:prstGeom prst="line">
            <a:avLst/>
          </a:prstGeom>
          <a:noFill/>
          <a:ln w="21590">
            <a:solidFill>
              <a:srgbClr val="5B667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869680" y="3703320"/>
            <a:ext cx="329184" cy="-347472"/>
          </a:xfrm>
          <a:prstGeom prst="line">
            <a:avLst/>
          </a:prstGeom>
          <a:noFill/>
          <a:ln w="21590">
            <a:solidFill>
              <a:srgbClr val="5B667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0222992" y="3703320"/>
            <a:ext cx="18288" cy="-356616"/>
          </a:xfrm>
          <a:prstGeom prst="line">
            <a:avLst/>
          </a:prstGeom>
          <a:noFill/>
          <a:ln w="21590">
            <a:solidFill>
              <a:srgbClr val="5B667A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738360" y="4526280"/>
            <a:ext cx="64008" cy="-1161288"/>
          </a:xfrm>
          <a:prstGeom prst="line">
            <a:avLst/>
          </a:prstGeom>
          <a:noFill/>
          <a:ln w="21590">
            <a:solidFill>
              <a:srgbClr val="5B667A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738360" y="1536192"/>
            <a:ext cx="0" cy="1298448"/>
          </a:xfrm>
          <a:prstGeom prst="line">
            <a:avLst/>
          </a:prstGeom>
          <a:noFill/>
          <a:ln w="21590">
            <a:solidFill>
              <a:srgbClr val="5B667A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47104"/>
            <a:ext cx="4754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— Classes, dépendances et packages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631168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Objectifs pédagogiques du J2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4980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Passer des classes isolées à une architecture de dépendances maîtrisée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857232" y="384048"/>
            <a:ext cx="1737360" cy="310896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CCDBF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09:00–17:00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1325880"/>
            <a:ext cx="5394960" cy="3977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Compétences visées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Appliquer DIP sans créer d’abstractions inutiles.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Segmenter les interfaces selon les clients réels.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Attribuer les responsabilités avec GRASP.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Définir des packages cohérents, livrables et réutilisables.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Contrôler les cycles et la stabilité des dépendances.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0" y="1325880"/>
            <a:ext cx="4800600" cy="1024128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6DEE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Résultat attendu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conception dont les règles métier ne dépendent pas des détails techniques et dont les packages peuvent évoluer avec un impact maîtrisé.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0" y="3090672"/>
            <a:ext cx="109728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J1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Classes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0" y="3090672"/>
            <a:ext cx="1234440" cy="566928"/>
          </a:xfrm>
          <a:prstGeom prst="roundRect">
            <a:avLst/>
          </a:prstGeom>
          <a:solidFill>
            <a:srgbClr val="EAF8F0"/>
          </a:solidFill>
          <a:ln w="15240">
            <a:solidFill>
              <a:srgbClr val="16A34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A34A"/>
                </a:solidFill>
              </a:rPr>
              <a:t>J2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6A34A"/>
                </a:solidFill>
              </a:rPr>
              <a:t>Dépendances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058400" y="3090672"/>
            <a:ext cx="96012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J3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Tests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680960" y="3374136"/>
            <a:ext cx="502920" cy="0"/>
          </a:xfrm>
          <a:prstGeom prst="line">
            <a:avLst/>
          </a:prstGeom>
          <a:noFill/>
          <a:ln w="2159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464040" y="3374136"/>
            <a:ext cx="548640" cy="0"/>
          </a:xfrm>
          <a:prstGeom prst="line">
            <a:avLst/>
          </a:prstGeom>
          <a:noFill/>
          <a:ln w="2159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6400800" y="4251960"/>
            <a:ext cx="4800600" cy="731520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CCDBF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1D4ED8"/>
                </a:solidFill>
              </a:rPr>
              <a:t>Le bon découpage réduit le coût du prochain changement.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47104"/>
            <a:ext cx="4754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— Classes, dépendances et packages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631168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Déroulé pédagogique de la journée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4980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Une progression des dépendances de classes vers les dépendances de packages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857232" y="384048"/>
            <a:ext cx="1737360" cy="310896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CCDBF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VUE D’ENSEMBLE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114300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</a:rPr>
              <a:t>Réactivation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</a:rPr>
              <a:t>J1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331720" y="2514600"/>
            <a:ext cx="1143000" cy="658368"/>
          </a:xfrm>
          <a:prstGeom prst="roundRect">
            <a:avLst/>
          </a:prstGeom>
          <a:solidFill>
            <a:srgbClr val="EAF2FF"/>
          </a:solidFill>
          <a:ln w="15240">
            <a:solidFill>
              <a:srgbClr val="D6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DIP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ports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023360" y="2514600"/>
            <a:ext cx="1143000" cy="658368"/>
          </a:xfrm>
          <a:prstGeom prst="roundRect">
            <a:avLst/>
          </a:prstGeom>
          <a:solidFill>
            <a:srgbClr val="EAF2FF"/>
          </a:solidFill>
          <a:ln w="15240">
            <a:solidFill>
              <a:srgbClr val="D6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ISP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rôles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715000" y="2514600"/>
            <a:ext cx="1143000" cy="658368"/>
          </a:xfrm>
          <a:prstGeom prst="roundRect">
            <a:avLst/>
          </a:prstGeom>
          <a:solidFill>
            <a:srgbClr val="EAF2FF"/>
          </a:solidFill>
          <a:ln w="15240">
            <a:solidFill>
              <a:srgbClr val="D6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GRASP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responsabilités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406640" y="2514600"/>
            <a:ext cx="1143000" cy="658368"/>
          </a:xfrm>
          <a:prstGeom prst="roundRect">
            <a:avLst/>
          </a:prstGeom>
          <a:solidFill>
            <a:srgbClr val="EAF2FF"/>
          </a:solidFill>
          <a:ln w="15240">
            <a:solidFill>
              <a:srgbClr val="D6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Packages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frontières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098280" y="2514600"/>
            <a:ext cx="1143000" cy="658368"/>
          </a:xfrm>
          <a:prstGeom prst="roundRect">
            <a:avLst/>
          </a:prstGeom>
          <a:solidFill>
            <a:srgbClr val="EAF2FF"/>
          </a:solidFill>
          <a:ln w="15240">
            <a:solidFill>
              <a:srgbClr val="D6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REP/CRP/CCP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cohésion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607040" y="2514600"/>
            <a:ext cx="1143000" cy="658368"/>
          </a:xfrm>
          <a:prstGeom prst="roundRect">
            <a:avLst/>
          </a:prstGeom>
          <a:solidFill>
            <a:srgbClr val="EAF2FF"/>
          </a:solidFill>
          <a:ln w="15240">
            <a:solidFill>
              <a:srgbClr val="D6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Cycles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TP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783080" y="2852928"/>
            <a:ext cx="502920" cy="0"/>
          </a:xfrm>
          <a:prstGeom prst="line">
            <a:avLst/>
          </a:prstGeom>
          <a:noFill/>
          <a:ln w="2159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474720" y="2852928"/>
            <a:ext cx="502920" cy="0"/>
          </a:xfrm>
          <a:prstGeom prst="line">
            <a:avLst/>
          </a:prstGeom>
          <a:noFill/>
          <a:ln w="2159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166360" y="2852928"/>
            <a:ext cx="502920" cy="0"/>
          </a:xfrm>
          <a:prstGeom prst="line">
            <a:avLst/>
          </a:prstGeom>
          <a:noFill/>
          <a:ln w="2159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858000" y="2852928"/>
            <a:ext cx="502920" cy="0"/>
          </a:xfrm>
          <a:prstGeom prst="line">
            <a:avLst/>
          </a:prstGeom>
          <a:noFill/>
          <a:ln w="2159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549640" y="2852928"/>
            <a:ext cx="502920" cy="0"/>
          </a:xfrm>
          <a:prstGeom prst="line">
            <a:avLst/>
          </a:prstGeom>
          <a:noFill/>
          <a:ln w="2159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0241280" y="2852928"/>
            <a:ext cx="320040" cy="0"/>
          </a:xfrm>
          <a:prstGeom prst="line">
            <a:avLst/>
          </a:prstGeom>
          <a:noFill/>
          <a:ln w="2159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749808" y="3337560"/>
            <a:ext cx="868680" cy="256032"/>
          </a:xfrm>
          <a:prstGeom prst="roundRect">
            <a:avLst/>
          </a:prstGeom>
          <a:solidFill>
            <a:srgbClr val="EEF4FF"/>
          </a:solidFill>
          <a:ln>
            <a:solidFill>
              <a:srgbClr val="EEF4F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09:00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441448" y="3337560"/>
            <a:ext cx="868680" cy="256032"/>
          </a:xfrm>
          <a:prstGeom prst="roundRect">
            <a:avLst/>
          </a:prstGeom>
          <a:solidFill>
            <a:srgbClr val="EEF4FF"/>
          </a:solidFill>
          <a:ln>
            <a:solidFill>
              <a:srgbClr val="EEF4F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09:20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133088" y="3337560"/>
            <a:ext cx="868680" cy="256032"/>
          </a:xfrm>
          <a:prstGeom prst="roundRect">
            <a:avLst/>
          </a:prstGeom>
          <a:solidFill>
            <a:srgbClr val="EEF4FF"/>
          </a:solidFill>
          <a:ln>
            <a:solidFill>
              <a:srgbClr val="EEF4F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10:50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824728" y="3337560"/>
            <a:ext cx="868680" cy="256032"/>
          </a:xfrm>
          <a:prstGeom prst="roundRect">
            <a:avLst/>
          </a:prstGeom>
          <a:solidFill>
            <a:srgbClr val="EEF4FF"/>
          </a:solidFill>
          <a:ln>
            <a:solidFill>
              <a:srgbClr val="EEF4F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12:00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516368" y="3337560"/>
            <a:ext cx="868680" cy="256032"/>
          </a:xfrm>
          <a:prstGeom prst="roundRect">
            <a:avLst/>
          </a:prstGeom>
          <a:solidFill>
            <a:srgbClr val="EEF4FF"/>
          </a:solidFill>
          <a:ln>
            <a:solidFill>
              <a:srgbClr val="EEF4F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13:30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9208008" y="3337560"/>
            <a:ext cx="868680" cy="256032"/>
          </a:xfrm>
          <a:prstGeom prst="roundRect">
            <a:avLst/>
          </a:prstGeom>
          <a:solidFill>
            <a:srgbClr val="EEF4FF"/>
          </a:solidFill>
          <a:ln>
            <a:solidFill>
              <a:srgbClr val="EEF4F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14:25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716768" y="3337560"/>
            <a:ext cx="868680" cy="256032"/>
          </a:xfrm>
          <a:prstGeom prst="roundRect">
            <a:avLst/>
          </a:prstGeom>
          <a:solidFill>
            <a:srgbClr val="EEF4FF"/>
          </a:solidFill>
          <a:ln>
            <a:solidFill>
              <a:srgbClr val="EEF4F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15:30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85800" y="4617720"/>
            <a:ext cx="1078992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 rouge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part d’un modèle de commande et de paiement : les dépendances sont inversées, les interfaces affinées, les responsabilités justifiées, puis l’ensemble est organisé en packages.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47104"/>
            <a:ext cx="4754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— Classes, dépendances et packages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631168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Réactivation J1 — quiz flash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4980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Vérifier les prérequis avant DIP et ISP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857232" y="384048"/>
            <a:ext cx="1737360" cy="310896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CCDBF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09:00–09:20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234440"/>
            <a:ext cx="4937760" cy="804672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6DEE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OCP : extensible sans modifier quoi 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126480" y="1234440"/>
            <a:ext cx="493776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LSP : une sous-classe respecte quel contrat 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560320"/>
            <a:ext cx="4937760" cy="804672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6DEE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3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Composition : quelle variation isole-t-elle 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26480" y="2560320"/>
            <a:ext cx="493776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4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Faible cohésion : quel symptôme observable 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886200"/>
            <a:ext cx="4937760" cy="804672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6DEE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Polymorphisme : quel switch peut disparaître 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26480" y="3886200"/>
            <a:ext cx="493776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Getters partout : quelle responsabilité perdue 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03120" y="5596128"/>
            <a:ext cx="7955280" cy="502920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CCDBF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1D4ED8"/>
                </a:solidFill>
              </a:rPr>
              <a:t>Le J2 part d’un principe : chaque dépendance doit pouvoir être justifiée.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47104"/>
            <a:ext cx="4754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— Classes, dépendances et packages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631168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 principes J1 aux frontières J2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4980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Les acquis deviennent les hypothèses de départ de la journée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857232" y="384048"/>
            <a:ext cx="1737360" cy="310896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CCDBF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CORRECTION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1481328"/>
            <a:ext cx="2011680" cy="804672"/>
          </a:xfrm>
          <a:prstGeom prst="roundRect">
            <a:avLst/>
          </a:prstGeom>
          <a:solidFill>
            <a:srgbClr val="EAF2FF"/>
          </a:solidFill>
          <a:ln w="1524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OCP / LSP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variation et contrat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0" y="1481328"/>
            <a:ext cx="2286000" cy="804672"/>
          </a:xfrm>
          <a:prstGeom prst="roundRect">
            <a:avLst/>
          </a:prstGeom>
          <a:solidFill>
            <a:srgbClr val="EAF8F0"/>
          </a:solidFill>
          <a:ln w="15240">
            <a:solidFill>
              <a:srgbClr val="16A34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Couplage / cohésion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raisons de changer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1481328"/>
            <a:ext cx="2331720" cy="804672"/>
          </a:xfrm>
          <a:prstGeom prst="roundRect">
            <a:avLst/>
          </a:prstGeom>
          <a:solidFill>
            <a:srgbClr val="FFF4E5"/>
          </a:solidFill>
          <a:ln w="15240">
            <a:solidFill>
              <a:srgbClr val="F59E0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Responsabilités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qui sait ? qui orchestre 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738360" y="1481328"/>
            <a:ext cx="1828800" cy="804672"/>
          </a:xfrm>
          <a:prstGeom prst="roundRect">
            <a:avLst/>
          </a:prstGeom>
          <a:solidFill>
            <a:srgbClr val="F2EAFE"/>
          </a:solidFill>
          <a:ln w="15240">
            <a:solidFill>
              <a:srgbClr val="7C3AE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Packages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frontières et releases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4640" y="1883664"/>
            <a:ext cx="777240" cy="0"/>
          </a:xfrm>
          <a:prstGeom prst="line">
            <a:avLst/>
          </a:prstGeom>
          <a:noFill/>
          <a:ln w="2159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943600" y="1883664"/>
            <a:ext cx="868680" cy="0"/>
          </a:xfrm>
          <a:prstGeom prst="line">
            <a:avLst/>
          </a:prstGeom>
          <a:noFill/>
          <a:ln w="2159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189720" y="1883664"/>
            <a:ext cx="502920" cy="0"/>
          </a:xfrm>
          <a:prstGeom prst="line">
            <a:avLst/>
          </a:prstGeom>
          <a:noFill/>
          <a:ln w="2159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822960" y="2971800"/>
            <a:ext cx="512064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Idée clé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bon modèle objet n’est pas seulement une collection de classes correctes. Il doit aussi préciser quelles classes ont le droit de connaître quelles autres classes.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46520" y="2971800"/>
            <a:ext cx="466344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de revue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Stripe, RabbitMQ, JDBC ou HTTP changent demain, quelles parties du code doivent rester intactes ?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47104"/>
            <a:ext cx="4754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— Classes, dépendances et packages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631168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DIP — l’idée centrale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4980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Inverser la dépendance du code, pas le sens du monde réel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857232" y="384048"/>
            <a:ext cx="1737360" cy="310896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CCDBF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09:20–10:35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" y="1170432"/>
            <a:ext cx="10744200" cy="566928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CCDBF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1D4ED8"/>
                </a:solidFill>
              </a:rPr>
              <a:t>Les modules de haut niveau ne doivent pas dépendre directement des détails techniques.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2743200"/>
            <a:ext cx="2286000" cy="777240"/>
          </a:xfrm>
          <a:prstGeom prst="roundRect">
            <a:avLst/>
          </a:prstGeom>
          <a:solidFill>
            <a:srgbClr val="EAF2FF"/>
          </a:solidFill>
          <a:ln w="1524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Politique métier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ValiderCommande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0" y="2743200"/>
            <a:ext cx="219456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Contrat stable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PaymentPort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503920" y="2743200"/>
            <a:ext cx="2286000" cy="777240"/>
          </a:xfrm>
          <a:prstGeom prst="roundRect">
            <a:avLst/>
          </a:prstGeom>
          <a:solidFill>
            <a:srgbClr val="FFF4E5"/>
          </a:solidFill>
          <a:ln w="15240">
            <a:solidFill>
              <a:srgbClr val="F59E0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Détail technique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StripeAdapter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3136392"/>
            <a:ext cx="1463040" cy="0"/>
          </a:xfrm>
          <a:prstGeom prst="line">
            <a:avLst/>
          </a:prstGeom>
          <a:noFill/>
          <a:ln w="2159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503920" y="3136392"/>
            <a:ext cx="-1508760" cy="0"/>
          </a:xfrm>
          <a:prstGeom prst="line">
            <a:avLst/>
          </a:prstGeom>
          <a:noFill/>
          <a:ln w="2159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3429000" y="2816352"/>
            <a:ext cx="1051560" cy="228600"/>
          </a:xfrm>
          <a:prstGeom prst="roundRect">
            <a:avLst/>
          </a:prstGeom>
          <a:solidFill>
            <a:srgbClr val="EEF4FF"/>
          </a:solidFill>
          <a:ln>
            <a:solidFill>
              <a:srgbClr val="EEF4F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dépend du besoin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114032" y="2816352"/>
            <a:ext cx="1005840" cy="228600"/>
          </a:xfrm>
          <a:prstGeom prst="roundRect">
            <a:avLst/>
          </a:prstGeom>
          <a:solidFill>
            <a:srgbClr val="FFF4E5"/>
          </a:solidFill>
          <a:ln>
            <a:solidFill>
              <a:srgbClr val="FFF4E5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implémente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914400" y="4617720"/>
            <a:ext cx="98755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À retenir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L’abstraction appartient au client stable : elle exprime le service attendu par le cas d’usage, pas l’API du fournisseur.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47104"/>
            <a:ext cx="4754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— Classes, dépendances et packages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631168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Politique métier vs détail technique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4980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Le niveau dépend du changement que l’on veut isoler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857232" y="384048"/>
            <a:ext cx="1737360" cy="310896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CCDBF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DIP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1234440"/>
            <a:ext cx="3474720" cy="361188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6DEE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Politique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Règle ou orchestration que le métier veut conserver : calcul, validation, décision, workflow, invariant.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34840" y="1234440"/>
            <a:ext cx="347472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Vocabulaire stable qui traduit un besoin : PaymentPort, StockReservationPort, NotificationPort.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83880" y="1234440"/>
            <a:ext cx="3246120" cy="3611880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D6DEE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Détail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SDK, protocole, base de données, broker, API externe, framework ou mapping technique.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60520" y="3035808"/>
            <a:ext cx="246888" cy="0"/>
          </a:xfrm>
          <a:prstGeom prst="line">
            <a:avLst/>
          </a:prstGeom>
          <a:noFill/>
          <a:ln w="2159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909560" y="3035808"/>
            <a:ext cx="246888" cy="0"/>
          </a:xfrm>
          <a:prstGeom prst="line">
            <a:avLst/>
          </a:prstGeom>
          <a:noFill/>
          <a:ln w="2159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1645920" y="5486400"/>
            <a:ext cx="8961120" cy="502920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CCDBF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1D4ED8"/>
                </a:solidFill>
              </a:rPr>
              <a:t>La bonne question : “qu’est-ce qui doit survivre au changement du fournisseur ?”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47104"/>
            <a:ext cx="4754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— Classes, dépendances et packages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631168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Flux d’exécution vs direction des dépendances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4980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Deux flèches différentes qu’il ne faut pas confondre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857232" y="384048"/>
            <a:ext cx="1737360" cy="310896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CCDBF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DIP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1234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</a:rPr>
              <a:t>Exécution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057400"/>
            <a:ext cx="1645920" cy="548640"/>
          </a:xfrm>
          <a:prstGeom prst="roundRect">
            <a:avLst/>
          </a:prstGeom>
          <a:solidFill>
            <a:srgbClr val="EAF8F0"/>
          </a:solidFill>
          <a:ln w="15240">
            <a:solidFill>
              <a:srgbClr val="16A34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A34A"/>
                </a:solidFill>
              </a:rPr>
              <a:t>UseCase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0" y="2057400"/>
            <a:ext cx="1828800" cy="548640"/>
          </a:xfrm>
          <a:prstGeom prst="roundRect">
            <a:avLst/>
          </a:prstGeom>
          <a:solidFill>
            <a:srgbClr val="EAF8F0"/>
          </a:solidFill>
          <a:ln w="15240">
            <a:solidFill>
              <a:srgbClr val="16A34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A34A"/>
                </a:solidFill>
              </a:rPr>
              <a:t>StripeAdapter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583680" y="2057400"/>
            <a:ext cx="1645920" cy="548640"/>
          </a:xfrm>
          <a:prstGeom prst="roundRect">
            <a:avLst/>
          </a:prstGeom>
          <a:solidFill>
            <a:srgbClr val="EAF8F0"/>
          </a:solidFill>
          <a:ln w="15240">
            <a:solidFill>
              <a:srgbClr val="16A34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A34A"/>
                </a:solidFill>
              </a:rPr>
              <a:t>Stripe API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560320" y="2331720"/>
            <a:ext cx="1051560" cy="0"/>
          </a:xfrm>
          <a:prstGeom prst="line">
            <a:avLst/>
          </a:prstGeom>
          <a:noFill/>
          <a:ln w="2159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486400" y="2331720"/>
            <a:ext cx="1051560" cy="0"/>
          </a:xfrm>
          <a:prstGeom prst="line">
            <a:avLst/>
          </a:prstGeom>
          <a:noFill/>
          <a:ln w="2159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822960" y="3703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Code source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4434840"/>
            <a:ext cx="1645920" cy="548640"/>
          </a:xfrm>
          <a:prstGeom prst="roundRect">
            <a:avLst/>
          </a:prstGeom>
          <a:solidFill>
            <a:srgbClr val="EAF2FF"/>
          </a:solidFill>
          <a:ln w="1524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UseCase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57600" y="4434840"/>
            <a:ext cx="1828800" cy="548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PaymentPort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583680" y="4434840"/>
            <a:ext cx="2011680" cy="548640"/>
          </a:xfrm>
          <a:prstGeom prst="roundRect">
            <a:avLst/>
          </a:prstGeom>
          <a:solidFill>
            <a:srgbClr val="FFF4E5"/>
          </a:solidFill>
          <a:ln w="15240">
            <a:solidFill>
              <a:srgbClr val="F59E0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9E0B"/>
                </a:solidFill>
              </a:rPr>
              <a:t>StripeAdapter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560320" y="4709160"/>
            <a:ext cx="1051560" cy="0"/>
          </a:xfrm>
          <a:prstGeom prst="line">
            <a:avLst/>
          </a:prstGeom>
          <a:noFill/>
          <a:ln w="2159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583680" y="4709160"/>
            <a:ext cx="-1051560" cy="0"/>
          </a:xfrm>
          <a:prstGeom prst="line">
            <a:avLst/>
          </a:prstGeom>
          <a:noFill/>
          <a:ln w="2159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9052560" y="1965960"/>
            <a:ext cx="228600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Message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runtime appelle un adapter. Mais le code du coeur ne doit pas importer cet adapter.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47104"/>
            <a:ext cx="4754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— Classes, dépendances et packages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631168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Ports et adapters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4980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Le détail se branche sur le contrat défini par le besoin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857232" y="384048"/>
            <a:ext cx="1737360" cy="310896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CCDBF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DIP</a:t>
            </a:r>
            <a:endParaRPr lang="en-US" sz="900" dirty="0"/>
          </a:p>
        </p:txBody>
      </p:sp>
      <p:pic>
        <p:nvPicPr>
          <p:cNvPr id="8" name="Image 0" descr="/mnt/data/course_assets/03_d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170432"/>
            <a:ext cx="10652760" cy="42062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5605272"/>
            <a:ext cx="448056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contrat est stable et formulé en langage applicatif.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46520" y="5605272"/>
            <a:ext cx="39319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L’implémentation traduit vers le monde technique.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47104"/>
            <a:ext cx="4754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— Classes, dépendances et packages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631168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Refactoriser un couplage direct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4980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Du new technique au port métier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857232" y="384048"/>
            <a:ext cx="1737360" cy="310896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CCDBF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DIP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12344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Avant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1600200"/>
            <a:ext cx="5120640" cy="2057400"/>
          </a:xfrm>
          <a:prstGeom prst="rect">
            <a:avLst/>
          </a:prstGeom>
          <a:solidFill>
            <a:srgbClr val="1F2937"/>
          </a:solidFill>
          <a:ln>
            <a:solidFill>
              <a:srgbClr val="111827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class ValidateOrder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void execute(Order o)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StripeClient s = new StripeClient(apiKey);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s.charge(o.total());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309360" y="12344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Après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09360" y="1600200"/>
            <a:ext cx="5120640" cy="2697480"/>
          </a:xfrm>
          <a:prstGeom prst="rect">
            <a:avLst/>
          </a:prstGeom>
          <a:solidFill>
            <a:srgbClr val="1F2937"/>
          </a:solidFill>
          <a:ln>
            <a:solidFill>
              <a:srgbClr val="111827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class ValidateOrder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private final PaymentPort payment;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ValidateOrder(PaymentPort payment)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this.payment = payment;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void execute(Order o)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payment.charge(o.total());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22960" y="4709160"/>
            <a:ext cx="10469880" cy="713232"/>
          </a:xfrm>
          <a:prstGeom prst="roundRect">
            <a:avLst/>
          </a:prstGeom>
          <a:solidFill>
            <a:srgbClr val="EAF8F0"/>
          </a:solidFill>
          <a:ln w="12700">
            <a:solidFill>
              <a:srgbClr val="D6DEE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Décision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n’a pas seulement déplacé une instanciation : on a nommé une frontière stable et explicite.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47104"/>
            <a:ext cx="4754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— Classes, dépendances et packages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631168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Définir le port côté besoin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4980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Une interface utile parle le langage de son client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857232" y="384048"/>
            <a:ext cx="1737360" cy="310896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CCDBF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DIP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" y="1234440"/>
            <a:ext cx="4892040" cy="3383280"/>
          </a:xfrm>
          <a:prstGeom prst="roundRect">
            <a:avLst/>
          </a:prstGeom>
          <a:solidFill>
            <a:srgbClr val="FEECEC"/>
          </a:solidFill>
          <a:ln w="12700">
            <a:solidFill>
              <a:srgbClr val="D6DEE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Mauvais signal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IHttpStripeClient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 technique, vocabulaire fournisseur, fuite du protocole, mapping d’erreurs imposé au coeur applicatif.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46520" y="1234440"/>
            <a:ext cx="4892040" cy="3383280"/>
          </a:xfrm>
          <a:prstGeom prst="roundRect">
            <a:avLst/>
          </a:prstGeom>
          <a:solidFill>
            <a:srgbClr val="EAF8F0"/>
          </a:solidFill>
          <a:ln w="12700">
            <a:solidFill>
              <a:srgbClr val="D6DEE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Meilleur signal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PaymentPort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 exprimé depuis le cas d’usage : autoriser, capturer, rembourser, refuser avec une erreur métier.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715000" y="2907792"/>
            <a:ext cx="640080" cy="0"/>
          </a:xfrm>
          <a:prstGeom prst="line">
            <a:avLst/>
          </a:prstGeom>
          <a:noFill/>
          <a:ln w="2159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1691640" y="5303520"/>
            <a:ext cx="8961120" cy="566928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CCDBF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1D4ED8"/>
                </a:solidFill>
              </a:rPr>
              <a:t>Le port ne copie pas le fournisseur : il protège le vocabulaire du coeur métier.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47104"/>
            <a:ext cx="4754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— Classes, dépendances et packages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631168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Injection de dépendances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4980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Assembler sans cacher les collaborateurs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857232" y="384048"/>
            <a:ext cx="1737360" cy="310896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CCDBF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DIP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" y="1417320"/>
            <a:ext cx="3246120" cy="3017520"/>
          </a:xfrm>
          <a:prstGeom prst="roundRect">
            <a:avLst/>
          </a:prstGeom>
          <a:solidFill>
            <a:srgbClr val="EAF8F0"/>
          </a:solidFill>
          <a:ln w="12700">
            <a:solidFill>
              <a:srgbClr val="D6DEE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Constructeur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Dépendance obligatoire, objet toujours valide, idéal pour les cas d’usage.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26280" y="1417320"/>
            <a:ext cx="3246120" cy="301752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6DEE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Setter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Collaboration optionnelle ou reconfigurable, risque d’état incomplet.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75320" y="1417320"/>
            <a:ext cx="3246120" cy="3017520"/>
          </a:xfrm>
          <a:prstGeom prst="roundRect">
            <a:avLst/>
          </a:prstGeom>
          <a:solidFill>
            <a:srgbClr val="FEECEC"/>
          </a:solidFill>
          <a:ln w="12700">
            <a:solidFill>
              <a:srgbClr val="D6DEE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Locator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Dépendance cachée : le code demande un objet à un registre global. À éviter en conception pédagogique.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91840" y="5029200"/>
            <a:ext cx="2103120" cy="640080"/>
          </a:xfrm>
          <a:prstGeom prst="roundRect">
            <a:avLst/>
          </a:prstGeom>
          <a:solidFill>
            <a:srgbClr val="FFF4E5"/>
          </a:solidFill>
          <a:ln w="15240">
            <a:solidFill>
              <a:srgbClr val="F59E0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Composition Root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connaît les détails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720840" y="5029200"/>
            <a:ext cx="2103120" cy="640080"/>
          </a:xfrm>
          <a:prstGeom prst="roundRect">
            <a:avLst/>
          </a:prstGeom>
          <a:solidFill>
            <a:srgbClr val="EAF2FF"/>
          </a:solidFill>
          <a:ln w="1524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UseCase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connaît les ports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394960" y="5349240"/>
            <a:ext cx="1280160" cy="0"/>
          </a:xfrm>
          <a:prstGeom prst="line">
            <a:avLst/>
          </a:prstGeom>
          <a:noFill/>
          <a:ln w="21590">
            <a:solidFill>
              <a:srgbClr val="2563EB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47104"/>
            <a:ext cx="4754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— Classes, dépendances et packages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631168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DIP et testabilité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4980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Le test devient une conséquence du découplage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857232" y="384048"/>
            <a:ext cx="1737360" cy="310896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CCDBF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DIP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874520"/>
            <a:ext cx="1645920" cy="640080"/>
          </a:xfrm>
          <a:prstGeom prst="roundRect">
            <a:avLst/>
          </a:prstGeom>
          <a:solidFill>
            <a:srgbClr val="EAF2FF"/>
          </a:solidFill>
          <a:ln w="1524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UseCase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0" y="1874520"/>
            <a:ext cx="182880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PaymentPort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75120" y="1234440"/>
            <a:ext cx="1737360" cy="530352"/>
          </a:xfrm>
          <a:prstGeom prst="roundRect">
            <a:avLst/>
          </a:prstGeom>
          <a:solidFill>
            <a:srgbClr val="EAF8F0"/>
          </a:solidFill>
          <a:ln w="15240">
            <a:solidFill>
              <a:srgbClr val="16A34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FakePayment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675120" y="2606040"/>
            <a:ext cx="1737360" cy="530352"/>
          </a:xfrm>
          <a:prstGeom prst="roundRect">
            <a:avLst/>
          </a:prstGeom>
          <a:solidFill>
            <a:srgbClr val="FFF4E5"/>
          </a:solidFill>
          <a:ln w="15240">
            <a:solidFill>
              <a:srgbClr val="F59E0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StripeAdapter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60320" y="2194560"/>
            <a:ext cx="1051560" cy="0"/>
          </a:xfrm>
          <a:prstGeom prst="line">
            <a:avLst/>
          </a:prstGeom>
          <a:noFill/>
          <a:ln w="2159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675120" y="1499616"/>
            <a:ext cx="-1143000" cy="585216"/>
          </a:xfrm>
          <a:prstGeom prst="line">
            <a:avLst/>
          </a:prstGeom>
          <a:noFill/>
          <a:ln w="2159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675120" y="2871216"/>
            <a:ext cx="-1143000" cy="-566928"/>
          </a:xfrm>
          <a:prstGeom prst="line">
            <a:avLst/>
          </a:prstGeom>
          <a:noFill/>
          <a:ln w="2159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8915400" y="1234440"/>
            <a:ext cx="2240280" cy="1920240"/>
          </a:xfrm>
          <a:prstGeom prst="roundRect">
            <a:avLst/>
          </a:prstGeom>
          <a:solidFill>
            <a:srgbClr val="EAF8F0"/>
          </a:solidFill>
          <a:ln w="12700">
            <a:solidFill>
              <a:srgbClr val="D6DEE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test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double rend l’environnement rapide, déterministe et observable.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915400" y="3429000"/>
            <a:ext cx="2240280" cy="1645920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D6DEE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prod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L’adapter réel est branché au même contrat.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5440680"/>
            <a:ext cx="10012680" cy="530352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CCDBF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1D4ED8"/>
                </a:solidFill>
              </a:rPr>
              <a:t>On ne mocke pas pour respecter DIP ; on peut tester facilement parce que DIP est respecté.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47104"/>
            <a:ext cx="4754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— Classes, dépendances et packages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631168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Quand ne pas introduire une abstraction 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4980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Le coût réel d’une interface doit être justifié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857232" y="384048"/>
            <a:ext cx="1737360" cy="310896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CCDBF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DIP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" y="1600200"/>
            <a:ext cx="205740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Variation probable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ou coût élevé ?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0" y="1600200"/>
            <a:ext cx="205740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Contrat formulable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côté besoin ?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46520" y="1600200"/>
            <a:ext cx="233172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Plusieurs implémentations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ou test difficile ?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738360" y="1600200"/>
            <a:ext cx="1737360" cy="658368"/>
          </a:xfrm>
          <a:prstGeom prst="roundRect">
            <a:avLst/>
          </a:prstGeom>
          <a:solidFill>
            <a:srgbClr val="EAF8F0"/>
          </a:solidFill>
          <a:ln w="15240">
            <a:solidFill>
              <a:srgbClr val="16A34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Introduire un port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926080" y="1920240"/>
            <a:ext cx="685800" cy="0"/>
          </a:xfrm>
          <a:prstGeom prst="line">
            <a:avLst/>
          </a:prstGeom>
          <a:noFill/>
          <a:ln w="2159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715000" y="1920240"/>
            <a:ext cx="685800" cy="0"/>
          </a:xfrm>
          <a:prstGeom prst="line">
            <a:avLst/>
          </a:prstGeom>
          <a:noFill/>
          <a:ln w="2159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778240" y="1920240"/>
            <a:ext cx="914400" cy="0"/>
          </a:xfrm>
          <a:prstGeom prst="line">
            <a:avLst/>
          </a:prstGeom>
          <a:noFill/>
          <a:ln w="2159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1188720" y="3063240"/>
            <a:ext cx="1737360" cy="457200"/>
          </a:xfrm>
          <a:prstGeom prst="roundRect">
            <a:avLst/>
          </a:prstGeom>
          <a:solidFill>
            <a:srgbClr val="FEECEC"/>
          </a:solidFill>
          <a:ln w="15240">
            <a:solidFill>
              <a:srgbClr val="DC262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Non → garder concret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86200" y="3063240"/>
            <a:ext cx="1920240" cy="457200"/>
          </a:xfrm>
          <a:prstGeom prst="roundRect">
            <a:avLst/>
          </a:prstGeom>
          <a:solidFill>
            <a:srgbClr val="FFF4E5"/>
          </a:solidFill>
          <a:ln w="15240">
            <a:solidFill>
              <a:srgbClr val="F59E0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Non → clarifier le besoin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12280" y="3063240"/>
            <a:ext cx="1645920" cy="457200"/>
          </a:xfrm>
          <a:prstGeom prst="roundRect">
            <a:avLst/>
          </a:prstGeom>
          <a:solidFill>
            <a:srgbClr val="FEECEC"/>
          </a:solidFill>
          <a:ln w="15240">
            <a:solidFill>
              <a:srgbClr val="DC262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Non → attendre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874520" y="2267712"/>
            <a:ext cx="0" cy="749808"/>
          </a:xfrm>
          <a:prstGeom prst="line">
            <a:avLst/>
          </a:prstGeom>
          <a:noFill/>
          <a:ln w="15240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663440" y="2267712"/>
            <a:ext cx="0" cy="749808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635240" y="2267712"/>
            <a:ext cx="0" cy="749808"/>
          </a:xfrm>
          <a:prstGeom prst="line">
            <a:avLst/>
          </a:prstGeom>
          <a:noFill/>
          <a:ln w="15240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960120" y="4709160"/>
            <a:ext cx="101498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Règle pratique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abstraction qui ne protège aucune variation réelle devient une dette cognitive.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47104"/>
            <a:ext cx="4754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— Classes, dépendances et packages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631168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Atelier DIP — découpler un cas d’usage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4980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Identifier les dépendances à inverser et celles à conserver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857232" y="384048"/>
            <a:ext cx="1737360" cy="310896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CCDBF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ATELIER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1234440"/>
            <a:ext cx="352044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 de départ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ValidateDelivery crée directement un transporteur, lit une config, écrit un log et contacte un service externe.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26280" y="1234440"/>
            <a:ext cx="3246120" cy="347472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6DEE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Travail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Classer politique / détail.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Nommer les ports.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Proposer le constructeur.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Identifier le Composition Root.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92440" y="1234440"/>
            <a:ext cx="3154680" cy="3474720"/>
          </a:xfrm>
          <a:prstGeom prst="roundRect">
            <a:avLst/>
          </a:prstGeom>
          <a:solidFill>
            <a:srgbClr val="EAF8F0"/>
          </a:solidFill>
          <a:ln w="12700">
            <a:solidFill>
              <a:srgbClr val="D6DEE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Correction attendue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Seules les dépendances volatiles et observables deviennent des ports. La classe n’importe plus de SDK.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5257800"/>
            <a:ext cx="9875520" cy="594360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CCDBF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1D4ED8"/>
                </a:solidFill>
              </a:rPr>
              <a:t>La correction n’est pas “trois interfaces partout” : elle est une décision argumentée.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47104"/>
            <a:ext cx="4754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— Classes, dépendances et packages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631168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ISP — séparer selon les clients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4980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Diminuer le rayon d’impact, pas collectionner les interfaces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857232" y="384048"/>
            <a:ext cx="1737360" cy="310896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CCDBF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10:50–12:00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05840" y="1508760"/>
            <a:ext cx="1280160" cy="502920"/>
          </a:xfrm>
          <a:prstGeom prst="roundRect">
            <a:avLst/>
          </a:prstGeom>
          <a:solidFill>
            <a:srgbClr val="FFF4E5"/>
          </a:solidFill>
          <a:ln w="15240">
            <a:solidFill>
              <a:srgbClr val="F59E0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9E0B"/>
                </a:solidFill>
              </a:rPr>
              <a:t>Admin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05840" y="2743200"/>
            <a:ext cx="1280160" cy="502920"/>
          </a:xfrm>
          <a:prstGeom prst="roundRect">
            <a:avLst/>
          </a:prstGeom>
          <a:solidFill>
            <a:srgbClr val="EAF2FF"/>
          </a:solidFill>
          <a:ln w="1524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Client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05840" y="3977640"/>
            <a:ext cx="1280160" cy="502920"/>
          </a:xfrm>
          <a:prstGeom prst="roundRect">
            <a:avLst/>
          </a:prstGeom>
          <a:solidFill>
            <a:srgbClr val="EAF8F0"/>
          </a:solidFill>
          <a:ln w="15240">
            <a:solidFill>
              <a:srgbClr val="16A34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A34A"/>
                </a:solidFill>
              </a:rPr>
              <a:t>Batch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40480" y="2377440"/>
            <a:ext cx="2926080" cy="1143000"/>
          </a:xfrm>
          <a:prstGeom prst="roundRect">
            <a:avLst/>
          </a:prstGeom>
          <a:solidFill>
            <a:srgbClr val="FEECEC"/>
          </a:solidFill>
          <a:ln w="15240">
            <a:solidFill>
              <a:srgbClr val="DC262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PaymentService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refund • capture • export • config • disable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0" y="1755648"/>
            <a:ext cx="1508760" cy="804672"/>
          </a:xfrm>
          <a:prstGeom prst="line">
            <a:avLst/>
          </a:prstGeom>
          <a:noFill/>
          <a:ln w="2159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286000" y="2999232"/>
            <a:ext cx="1508760" cy="-54864"/>
          </a:xfrm>
          <a:prstGeom prst="line">
            <a:avLst/>
          </a:prstGeom>
          <a:noFill/>
          <a:ln w="2159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286000" y="4224528"/>
            <a:ext cx="1508760" cy="-795528"/>
          </a:xfrm>
          <a:prstGeom prst="line">
            <a:avLst/>
          </a:prstGeom>
          <a:noFill/>
          <a:ln w="2159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8412480" y="1417320"/>
            <a:ext cx="1828800" cy="502920"/>
          </a:xfrm>
          <a:prstGeom prst="roundRect">
            <a:avLst/>
          </a:prstGeom>
          <a:solidFill>
            <a:srgbClr val="EAF2FF"/>
          </a:solidFill>
          <a:ln w="1524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PaymentReader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412480" y="2743200"/>
            <a:ext cx="1828800" cy="502920"/>
          </a:xfrm>
          <a:prstGeom prst="roundRect">
            <a:avLst/>
          </a:prstGeom>
          <a:solidFill>
            <a:srgbClr val="FFF4E5"/>
          </a:solidFill>
          <a:ln w="15240">
            <a:solidFill>
              <a:srgbClr val="F59E0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9E0B"/>
                </a:solidFill>
              </a:rPr>
              <a:t>PaymentAdmin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412480" y="4069080"/>
            <a:ext cx="1828800" cy="502920"/>
          </a:xfrm>
          <a:prstGeom prst="roundRect">
            <a:avLst/>
          </a:prstGeom>
          <a:solidFill>
            <a:srgbClr val="EAF8F0"/>
          </a:solidFill>
          <a:ln w="15240">
            <a:solidFill>
              <a:srgbClr val="16A34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A34A"/>
                </a:solidFill>
              </a:rPr>
              <a:t>PaymentExporter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812280" y="2926080"/>
            <a:ext cx="1554480" cy="-1261872"/>
          </a:xfrm>
          <a:prstGeom prst="line">
            <a:avLst/>
          </a:prstGeom>
          <a:noFill/>
          <a:ln w="2159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812280" y="2926080"/>
            <a:ext cx="1554480" cy="64008"/>
          </a:xfrm>
          <a:prstGeom prst="line">
            <a:avLst/>
          </a:prstGeom>
          <a:noFill/>
          <a:ln w="2159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812280" y="2926080"/>
            <a:ext cx="1554480" cy="1389888"/>
          </a:xfrm>
          <a:prstGeom prst="line">
            <a:avLst/>
          </a:prstGeom>
          <a:noFill/>
          <a:ln w="2159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3840480" y="5532120"/>
            <a:ext cx="4663440" cy="502920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CCDBF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1D4ED8"/>
                </a:solidFill>
              </a:rPr>
              <a:t>Le mot important dans ISP est “client”.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47104"/>
            <a:ext cx="4754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— Classes, dépendances et packages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631168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Symptômes d’une interface grasse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4980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Les méthodes inutiles sont visibles dans le code avant de l’être dans UML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857232" y="384048"/>
            <a:ext cx="1737360" cy="310896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CCDBF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ISP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" y="1234440"/>
            <a:ext cx="525780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400" dirty="0">
                <a:solidFill>
                  <a:srgbClr val="111827"/>
                </a:solidFill>
              </a:rPr>
              <a:t>Méthodes non supportées : throw UnsupportedOperationException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</a:rPr>
              <a:t>Implémentations factices qui retournent null ou false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</a:rPr>
              <a:t>Clients forcés de recompiler après ajout d’une méthode inutile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</a:rPr>
              <a:t>Contrat nommé Manager, Service ou Helper sans rôle clair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</a:rPr>
              <a:t>Tests qui doivent configurer des méthodes hors sujet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2240" y="1371600"/>
            <a:ext cx="4526280" cy="342900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6DEE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Diagnostic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interface large concentre plusieurs raisons de changer. Le découpage doit partir des usages réels, pas d’une volonté abstraite de petites interfaces.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0" y="5074920"/>
            <a:ext cx="2788920" cy="411480"/>
          </a:xfrm>
          <a:prstGeom prst="roundRect">
            <a:avLst/>
          </a:prstGeom>
          <a:solidFill>
            <a:srgbClr val="FEECEC"/>
          </a:solidFill>
          <a:ln>
            <a:solidFill>
              <a:srgbClr val="FEECEC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C2626"/>
                </a:solidFill>
              </a:rPr>
              <a:t>Surface inutile = impact inutile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47104"/>
            <a:ext cx="4754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— Classes, dépendances et packages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631168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Interfaces orientées rôles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4980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Trouver la bonne granularité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857232" y="384048"/>
            <a:ext cx="1737360" cy="310896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CCDBF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ISP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846320" y="2834640"/>
            <a:ext cx="237744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Objet concret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PaymentServiceImpl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280160"/>
            <a:ext cx="1417320" cy="475488"/>
          </a:xfrm>
          <a:prstGeom prst="roundRect">
            <a:avLst/>
          </a:prstGeom>
          <a:solidFill>
            <a:srgbClr val="FFF4E5"/>
          </a:solidFill>
          <a:ln w="15240">
            <a:solidFill>
              <a:srgbClr val="F59E0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Backoffice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4434840"/>
            <a:ext cx="1417320" cy="475488"/>
          </a:xfrm>
          <a:prstGeom prst="roundRect">
            <a:avLst/>
          </a:prstGeom>
          <a:solidFill>
            <a:srgbClr val="EAF2FF"/>
          </a:solidFill>
          <a:ln w="1524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API client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418320" y="1280160"/>
            <a:ext cx="1417320" cy="475488"/>
          </a:xfrm>
          <a:prstGeom prst="roundRect">
            <a:avLst/>
          </a:prstGeom>
          <a:solidFill>
            <a:srgbClr val="EAF8F0"/>
          </a:solidFill>
          <a:ln w="15240">
            <a:solidFill>
              <a:srgbClr val="16A34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</a:rPr>
              <a:t>Batch export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418320" y="4434840"/>
            <a:ext cx="1417320" cy="475488"/>
          </a:xfrm>
          <a:prstGeom prst="roundRect">
            <a:avLst/>
          </a:prstGeom>
          <a:solidFill>
            <a:srgbClr val="F2EAFE"/>
          </a:solidFill>
          <a:ln w="15240">
            <a:solidFill>
              <a:srgbClr val="7C3AE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Support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88920" y="1508760"/>
            <a:ext cx="1600200" cy="475488"/>
          </a:xfrm>
          <a:prstGeom prst="roundRect">
            <a:avLst/>
          </a:prstGeom>
          <a:solidFill>
            <a:srgbClr val="FFF4E5"/>
          </a:solidFill>
          <a:ln w="15240">
            <a:solidFill>
              <a:srgbClr val="F59E0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PaymentAdmin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88920" y="4663440"/>
            <a:ext cx="1600200" cy="475488"/>
          </a:xfrm>
          <a:prstGeom prst="roundRect">
            <a:avLst/>
          </a:prstGeom>
          <a:solidFill>
            <a:srgbClr val="EAF2FF"/>
          </a:solidFill>
          <a:ln w="1524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PaymentReader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040880" y="1508760"/>
            <a:ext cx="1600200" cy="475488"/>
          </a:xfrm>
          <a:prstGeom prst="roundRect">
            <a:avLst/>
          </a:prstGeom>
          <a:solidFill>
            <a:srgbClr val="EAF8F0"/>
          </a:solidFill>
          <a:ln w="15240">
            <a:solidFill>
              <a:srgbClr val="16A34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</a:rPr>
              <a:t>PaymentExport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040880" y="4663440"/>
            <a:ext cx="1600200" cy="475488"/>
          </a:xfrm>
          <a:prstGeom prst="roundRect">
            <a:avLst/>
          </a:prstGeom>
          <a:solidFill>
            <a:srgbClr val="F2EAFE"/>
          </a:solidFill>
          <a:ln w="15240">
            <a:solidFill>
              <a:srgbClr val="7C3AE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RefundSupport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" y="5596128"/>
            <a:ext cx="9875520" cy="502920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CCDBF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1D4ED8"/>
                </a:solidFill>
              </a:rPr>
              <a:t>Un même objet peut implémenter plusieurs contrats fins ; chaque client ne voit que le sien.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47104"/>
            <a:ext cx="4754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— Classes, dépendances et packages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631168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ISP et évolution de l’API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4980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Réduire le rayon d’impact d’un changement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857232" y="384048"/>
            <a:ext cx="1737360" cy="310896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CCDBF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ISP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" y="1280160"/>
            <a:ext cx="5029200" cy="3566160"/>
          </a:xfrm>
          <a:prstGeom prst="roundRect">
            <a:avLst/>
          </a:prstGeom>
          <a:solidFill>
            <a:srgbClr val="FEECEC"/>
          </a:solidFill>
          <a:ln w="12700">
            <a:solidFill>
              <a:srgbClr val="D6DEE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Avant : interface unique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Ajouter exportCsv() oblige tous les clients et toutes les implémentations à connaître une opération de batch, même ceux qui ne l’utilisent jamais.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55080" y="1280160"/>
            <a:ext cx="5029200" cy="3566160"/>
          </a:xfrm>
          <a:prstGeom prst="roundRect">
            <a:avLst/>
          </a:prstGeom>
          <a:solidFill>
            <a:srgbClr val="EAF8F0"/>
          </a:solidFill>
          <a:ln w="12700">
            <a:solidFill>
              <a:srgbClr val="D6DEE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Après : rôles séparés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L’évolution touche PaymentExporter. Les clients de lecture, de remboursement ou d’administration restent stables.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148840" y="5349240"/>
            <a:ext cx="8046720" cy="566928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CCDBF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1D4ED8"/>
                </a:solidFill>
              </a:rPr>
              <a:t>ISP est une stratégie de stabilité des consommateurs.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47104"/>
            <a:ext cx="4754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— Classes, dépendances et packages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631168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Atelier ISP — découpage d’un contrat monolithique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4980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Transformer une interface grasse en rôles cohérents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857232" y="384048"/>
            <a:ext cx="1737360" cy="310896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CCDBF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ATELIER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1207008"/>
            <a:ext cx="384048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Méthode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Lister les méthodes réellement utilisées.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Regrouper par rôle métier.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Nommer depuis le client.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Vérifier qu’aucun client ne dépend d’une opération inutile.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92040" y="1207008"/>
            <a:ext cx="2788920" cy="402336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6DEE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Exemples de rôles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PaymentReader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PaymentCaptor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RefundManager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PaymentExporter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PaymentAdmin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01000" y="1207008"/>
            <a:ext cx="3429000" cy="4023360"/>
          </a:xfrm>
          <a:prstGeom prst="roundRect">
            <a:avLst/>
          </a:prstGeom>
          <a:solidFill>
            <a:srgbClr val="EAF8F0"/>
          </a:solidFill>
          <a:ln w="12700">
            <a:solidFill>
              <a:srgbClr val="D6DEE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Critère de correction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bonne solution n’est pas la plus fragmentée : c’est celle dont chaque contrat porte une raison de changer lisible.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47104"/>
            <a:ext cx="4754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— Classes, dépendances et packages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631168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GRASP — un vocabulaire de responsabilités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4980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Neuf heuristiques pour répondre à “qui doit faire quoi ?”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857232" y="384048"/>
            <a:ext cx="1737360" cy="310896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CCDBF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12:00–12:30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1234440"/>
            <a:ext cx="3246120" cy="841248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6DEE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possède l’info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480560" y="1234440"/>
            <a:ext cx="32461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Creator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crée B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75320" y="1234440"/>
            <a:ext cx="3246120" cy="841248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6DEE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reçoit événement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85800" y="2560320"/>
            <a:ext cx="32461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Coupling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limite dépendances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480560" y="2560320"/>
            <a:ext cx="3246120" cy="841248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6DEE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Cohesion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but clair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75320" y="2560320"/>
            <a:ext cx="32461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Polymorphism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varie par type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85800" y="3886200"/>
            <a:ext cx="3246120" cy="841248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6DEE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Indirection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interpose contrat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480560" y="3886200"/>
            <a:ext cx="32461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Pure Fabrication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classe non métier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75320" y="3886200"/>
            <a:ext cx="3246120" cy="841248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6DEE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Protected Variations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protège variations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240280" y="5742432"/>
            <a:ext cx="7772400" cy="475488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CCDBF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1D4ED8"/>
                </a:solidFill>
              </a:rPr>
              <a:t>GRASP rend une revue de conception discutable et argumentée.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47104"/>
            <a:ext cx="4754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— Classes, dépendances et packages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631168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Information Expert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4980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Attribuer la responsabilité à l’objet qui possède l’information nécessaire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857232" y="384048"/>
            <a:ext cx="1737360" cy="310896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CCDBF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GRASP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88720" y="2286000"/>
            <a:ext cx="1828800" cy="749808"/>
          </a:xfrm>
          <a:prstGeom prst="roundRect">
            <a:avLst/>
          </a:prstGeom>
          <a:solidFill>
            <a:srgbClr val="EAF2FF"/>
          </a:solidFill>
          <a:ln w="1524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Commande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lignes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63440" y="2286000"/>
            <a:ext cx="1965960" cy="749808"/>
          </a:xfrm>
          <a:prstGeom prst="roundRect">
            <a:avLst/>
          </a:prstGeom>
          <a:solidFill>
            <a:srgbClr val="EAF8F0"/>
          </a:solidFill>
          <a:ln w="15240">
            <a:solidFill>
              <a:srgbClr val="16A34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LigneCommande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quantité + prix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183880" y="2286000"/>
            <a:ext cx="2194560" cy="749808"/>
          </a:xfrm>
          <a:prstGeom prst="roundRect">
            <a:avLst/>
          </a:prstGeom>
          <a:solidFill>
            <a:srgbClr val="FFF4E5"/>
          </a:solidFill>
          <a:ln w="15240">
            <a:solidFill>
              <a:srgbClr val="F59E0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Total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calculé localement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017520" y="2670048"/>
            <a:ext cx="1600200" cy="0"/>
          </a:xfrm>
          <a:prstGeom prst="line">
            <a:avLst/>
          </a:prstGeom>
          <a:noFill/>
          <a:ln w="2159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629400" y="2670048"/>
            <a:ext cx="1508760" cy="0"/>
          </a:xfrm>
          <a:prstGeom prst="line">
            <a:avLst/>
          </a:prstGeom>
          <a:noFill/>
          <a:ln w="2159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1097280" y="4251960"/>
            <a:ext cx="94640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Expert ne veut pas dire “la classe qui sait tout fait tout”. Les effets externes, la persistance et les appels réseau peuvent rester hors du domaine.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47104"/>
            <a:ext cx="4754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— Classes, dépendances et packages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631168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Creator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4980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Choisir qui crée un objet selon possession, agrégation et connaissance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857232" y="384048"/>
            <a:ext cx="1737360" cy="310896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CCDBF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GRASP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" y="1188720"/>
            <a:ext cx="2743200" cy="329184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6DEE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crée B si…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contient B.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agrège B.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utilise fortement B.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possède les données pour initialiser B.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63440" y="1828800"/>
            <a:ext cx="1554480" cy="566928"/>
          </a:xfrm>
          <a:prstGeom prst="roundRect">
            <a:avLst/>
          </a:prstGeom>
          <a:solidFill>
            <a:srgbClr val="EAF8F0"/>
          </a:solidFill>
          <a:ln w="15240">
            <a:solidFill>
              <a:srgbClr val="16A34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Order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0" y="1828800"/>
            <a:ext cx="173736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OrderLine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2112264"/>
            <a:ext cx="1051560" cy="0"/>
          </a:xfrm>
          <a:prstGeom prst="line">
            <a:avLst/>
          </a:prstGeom>
          <a:noFill/>
          <a:ln w="2159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4206240" y="3337560"/>
            <a:ext cx="534924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Quand introduire une Factory ?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Création complexe, choix polymorphe, invariants transverses, dépendance à une technologie ou besoin de cacher l’assemblage.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47104"/>
            <a:ext cx="4754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— Classes, dépendances et packages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631168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Controller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4980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Recevoir un événement système sans créer un god object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857232" y="384048"/>
            <a:ext cx="1737360" cy="310896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CCDBF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GRASP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" y="2514600"/>
            <a:ext cx="2011680" cy="777240"/>
          </a:xfrm>
          <a:prstGeom prst="roundRect">
            <a:avLst/>
          </a:prstGeom>
          <a:solidFill>
            <a:srgbClr val="EAF2FF"/>
          </a:solidFill>
          <a:ln w="1524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HTTP Controller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traduit protocole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931920" y="2514600"/>
            <a:ext cx="1920240" cy="777240"/>
          </a:xfrm>
          <a:prstGeom prst="roundRect">
            <a:avLst/>
          </a:prstGeom>
          <a:solidFill>
            <a:srgbClr val="EAF8F0"/>
          </a:solidFill>
          <a:ln w="15240">
            <a:solidFill>
              <a:srgbClr val="16A34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Use Case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orchestre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903720" y="2514600"/>
            <a:ext cx="173736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</a:rPr>
              <a:t>Domaine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</a:rPr>
              <a:t>décide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555480" y="2514600"/>
            <a:ext cx="1920240" cy="777240"/>
          </a:xfrm>
          <a:prstGeom prst="roundRect">
            <a:avLst/>
          </a:prstGeom>
          <a:solidFill>
            <a:srgbClr val="FFF4E5"/>
          </a:solidFill>
          <a:ln w="15240">
            <a:solidFill>
              <a:srgbClr val="F59E0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Ports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effets externes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80360" y="2907792"/>
            <a:ext cx="1005840" cy="0"/>
          </a:xfrm>
          <a:prstGeom prst="line">
            <a:avLst/>
          </a:prstGeom>
          <a:noFill/>
          <a:ln w="2159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852160" y="2907792"/>
            <a:ext cx="1005840" cy="0"/>
          </a:xfrm>
          <a:prstGeom prst="line">
            <a:avLst/>
          </a:prstGeom>
          <a:noFill/>
          <a:ln w="2159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641080" y="2907792"/>
            <a:ext cx="868680" cy="0"/>
          </a:xfrm>
          <a:prstGeom prst="line">
            <a:avLst/>
          </a:prstGeom>
          <a:noFill/>
          <a:ln w="2159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914400" y="4617720"/>
            <a:ext cx="101955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Message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contrôleur technique reste mince. Le cas d’usage coordonne sans absorber toutes les règles.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47104"/>
            <a:ext cx="4754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— Classes, dépendances et packages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631168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Low Coupling et High Cohesion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4980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Deux forces qui structurent presque toutes les décisions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857232" y="384048"/>
            <a:ext cx="1737360" cy="310896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CCDBF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GRASP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1188720"/>
            <a:ext cx="5166360" cy="384048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6DEE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Coupling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Limiter la connaissance aux rôles nécessaires. Une dépendance vers un contrat stable n’a pas le même risque qu’une dépendance vers un SDK volatil.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09360" y="1188720"/>
            <a:ext cx="5166360" cy="3840480"/>
          </a:xfrm>
          <a:prstGeom prst="roundRect">
            <a:avLst/>
          </a:prstGeom>
          <a:solidFill>
            <a:srgbClr val="EAF8F0"/>
          </a:solidFill>
          <a:ln w="12700">
            <a:solidFill>
              <a:srgbClr val="D6DEE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Cohesion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Faire contribuer les méthodes à une responsabilité principale. Plusieurs raisons de changer dans une classe signalent une cohésion faible.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63040" y="5532120"/>
            <a:ext cx="9372600" cy="530352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CCDBF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1D4ED8"/>
                </a:solidFill>
              </a:rPr>
              <a:t>Un système sans dépendances ne fait rien ; un système sans cohésion ne se comprend plus.</a:t>
            </a:r>
            <a:endParaRPr lang="en-US" sz="1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47104"/>
            <a:ext cx="4754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— Classes, dépendances et packages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631168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Polymorphism et Indirection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4980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Absorber la variation et interposer un contrat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857232" y="384048"/>
            <a:ext cx="1737360" cy="310896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CCDBF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GRASP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" y="1828800"/>
            <a:ext cx="2240280" cy="749808"/>
          </a:xfrm>
          <a:prstGeom prst="roundRect">
            <a:avLst/>
          </a:prstGeom>
          <a:solidFill>
            <a:srgbClr val="FEECEC"/>
          </a:solidFill>
          <a:ln w="15240">
            <a:solidFill>
              <a:srgbClr val="DC262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Switch sur type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if card / paypal / wire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663440" y="1828800"/>
            <a:ext cx="1920240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PaymentMethod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interface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412480" y="1828800"/>
            <a:ext cx="2103120" cy="749808"/>
          </a:xfrm>
          <a:prstGeom prst="roundRect">
            <a:avLst/>
          </a:prstGeom>
          <a:solidFill>
            <a:srgbClr val="EAF8F0"/>
          </a:solidFill>
          <a:ln w="15240">
            <a:solidFill>
              <a:srgbClr val="16A34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CardPayment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PayPalPayment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54680" y="2194560"/>
            <a:ext cx="1463040" cy="0"/>
          </a:xfrm>
          <a:prstGeom prst="line">
            <a:avLst/>
          </a:prstGeom>
          <a:noFill/>
          <a:ln w="2159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583680" y="2194560"/>
            <a:ext cx="1783080" cy="0"/>
          </a:xfrm>
          <a:prstGeom prst="line">
            <a:avLst/>
          </a:prstGeom>
          <a:noFill/>
          <a:ln w="2159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914400" y="4160520"/>
            <a:ext cx="47548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Polymorphism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comportements qui varient selon le type sont attribués aux types concernés.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0" y="4160520"/>
            <a:ext cx="47548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Indirection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intermédiaire stabilise une collaboration mais ajoute de la navigation.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47104"/>
            <a:ext cx="4754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— Classes, dépendances et packages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631168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Pure Fabrication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4980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Créer une classe non métier pour préserver le domaine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857232" y="384048"/>
            <a:ext cx="1737360" cy="310896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CCDBF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GRASP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" y="1234440"/>
            <a:ext cx="3246120" cy="3429000"/>
          </a:xfrm>
          <a:prstGeom prst="roundRect">
            <a:avLst/>
          </a:prstGeom>
          <a:solidFill>
            <a:srgbClr val="FEECEC"/>
          </a:solidFill>
          <a:ln w="12700">
            <a:solidFill>
              <a:srgbClr val="D6DEE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Responsabilités suspectes dans le domaine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SQL, mapping DTO, sérialisation JSON, envoi SMTP, client HTTP, cache Redis, logs techniques.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92040" y="2148840"/>
            <a:ext cx="1645920" cy="594360"/>
          </a:xfrm>
          <a:prstGeom prst="roundRect">
            <a:avLst/>
          </a:prstGeom>
          <a:solidFill>
            <a:srgbClr val="EAF2FF"/>
          </a:solidFill>
          <a:ln w="1524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Order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46720" y="2148840"/>
            <a:ext cx="1828800" cy="594360"/>
          </a:xfrm>
          <a:prstGeom prst="roundRect">
            <a:avLst/>
          </a:prstGeom>
          <a:solidFill>
            <a:srgbClr val="EAF8F0"/>
          </a:solidFill>
          <a:ln w="15240">
            <a:solidFill>
              <a:srgbClr val="16A34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OrderRepository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37960" y="2450592"/>
            <a:ext cx="1463040" cy="0"/>
          </a:xfrm>
          <a:prstGeom prst="line">
            <a:avLst/>
          </a:prstGeom>
          <a:noFill/>
          <a:ln w="2159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4572000" y="3794760"/>
            <a:ext cx="608076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Décision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Pure Fabrication est pertinente quand elle évite de polluer le domaine avec une responsabilité technique ou transversale.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47104"/>
            <a:ext cx="4754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— Classes, dépendances et packages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631168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Protected Variations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4980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Protéger les variations probables, pas toutes les variations imaginables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857232" y="384048"/>
            <a:ext cx="1737360" cy="310896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CCDBF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GRASP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2560320"/>
            <a:ext cx="1828800" cy="685800"/>
          </a:xfrm>
          <a:prstGeom prst="roundRect">
            <a:avLst/>
          </a:prstGeom>
          <a:solidFill>
            <a:srgbClr val="EAF2FF"/>
          </a:solidFill>
          <a:ln w="1524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Point stable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UseCase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617720" y="2560320"/>
            <a:ext cx="2011680" cy="685800"/>
          </a:xfrm>
          <a:prstGeom prst="roundRect">
            <a:avLst/>
          </a:prstGeom>
          <a:solidFill>
            <a:srgbClr val="FFF4E5"/>
          </a:solidFill>
          <a:ln w="15240">
            <a:solidFill>
              <a:srgbClr val="F59E0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9E0B"/>
                </a:solidFill>
              </a:rPr>
              <a:t>Variation probable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59E0B"/>
                </a:solidFill>
              </a:rPr>
              <a:t>paiement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412480" y="2560320"/>
            <a:ext cx="2011680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Contrat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PaymentPort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0" y="2898648"/>
            <a:ext cx="1828800" cy="0"/>
          </a:xfrm>
          <a:prstGeom prst="line">
            <a:avLst/>
          </a:prstGeom>
          <a:noFill/>
          <a:ln w="2159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629400" y="2898648"/>
            <a:ext cx="1737360" cy="0"/>
          </a:xfrm>
          <a:prstGeom prst="line">
            <a:avLst/>
          </a:prstGeom>
          <a:noFill/>
          <a:ln w="2159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960120" y="4343400"/>
            <a:ext cx="9966960" cy="804672"/>
          </a:xfrm>
          <a:prstGeom prst="roundRect">
            <a:avLst/>
          </a:prstGeom>
          <a:solidFill>
            <a:srgbClr val="F2EAFE"/>
          </a:solidFill>
          <a:ln w="12700">
            <a:solidFill>
              <a:srgbClr val="D6DEE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Lien SOLID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Protected Variations relie OCP, DIP et polymorphisme : identifier ce qui varie puis stabiliser le reste autour d’un contrat.</a:t>
            </a:r>
            <a:endParaRPr lang="en-US" sz="13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47104"/>
            <a:ext cx="4754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— Classes, dépendances et packages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631168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GRASP — matrice de responsabilités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4980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Passer d’un diagramme à des décisions argumentées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857232" y="384048"/>
            <a:ext cx="1737360" cy="310896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CCDBF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GRASP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1234440"/>
            <a:ext cx="2743200" cy="329184"/>
          </a:xfrm>
          <a:prstGeom prst="roundRect">
            <a:avLst/>
          </a:prstGeom>
          <a:solidFill>
            <a:srgbClr val="EAF2FF"/>
          </a:solidFill>
          <a:ln>
            <a:solidFill>
              <a:srgbClr val="EAF2F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Responsabilité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566160" y="1234440"/>
            <a:ext cx="1965960" cy="329184"/>
          </a:xfrm>
          <a:prstGeom prst="roundRect">
            <a:avLst/>
          </a:prstGeom>
          <a:solidFill>
            <a:srgbClr val="EAF2FF"/>
          </a:solidFill>
          <a:ln>
            <a:solidFill>
              <a:srgbClr val="EAF2F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Candidat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760720" y="1234440"/>
            <a:ext cx="2331720" cy="329184"/>
          </a:xfrm>
          <a:prstGeom prst="roundRect">
            <a:avLst/>
          </a:prstGeom>
          <a:solidFill>
            <a:srgbClr val="EAF2FF"/>
          </a:solidFill>
          <a:ln>
            <a:solidFill>
              <a:srgbClr val="EAF2F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Justification GRASP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321040" y="1234440"/>
            <a:ext cx="2926080" cy="329184"/>
          </a:xfrm>
          <a:prstGeom prst="roundRect">
            <a:avLst/>
          </a:prstGeom>
          <a:solidFill>
            <a:srgbClr val="EAF2FF"/>
          </a:solidFill>
          <a:ln>
            <a:solidFill>
              <a:srgbClr val="EAF2F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Risque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94360" y="1691640"/>
            <a:ext cx="2743200" cy="530352"/>
          </a:xfrm>
          <a:prstGeom prst="roundRect">
            <a:avLst/>
          </a:prstGeom>
          <a:solidFill>
            <a:srgbClr val="FBFCFF"/>
          </a:solidFill>
          <a:ln w="12700">
            <a:solidFill>
              <a:srgbClr val="D6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Calculer total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566160" y="1691640"/>
            <a:ext cx="1965960" cy="530352"/>
          </a:xfrm>
          <a:prstGeom prst="roundRect">
            <a:avLst/>
          </a:prstGeom>
          <a:solidFill>
            <a:srgbClr val="FBFCFF"/>
          </a:solidFill>
          <a:ln w="12700">
            <a:solidFill>
              <a:srgbClr val="D6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760720" y="1691640"/>
            <a:ext cx="2331720" cy="530352"/>
          </a:xfrm>
          <a:prstGeom prst="roundRect">
            <a:avLst/>
          </a:prstGeom>
          <a:solidFill>
            <a:srgbClr val="FBFCFF"/>
          </a:solidFill>
          <a:ln w="12700">
            <a:solidFill>
              <a:srgbClr val="D6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Expert + Cohesion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321040" y="1691640"/>
            <a:ext cx="2926080" cy="530352"/>
          </a:xfrm>
          <a:prstGeom prst="roundRect">
            <a:avLst/>
          </a:prstGeom>
          <a:solidFill>
            <a:srgbClr val="FBFCFF"/>
          </a:solidFill>
          <a:ln w="12700">
            <a:solidFill>
              <a:srgbClr val="D6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God object si effets externes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4360" y="2441448"/>
            <a:ext cx="27432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Créer ligne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566160" y="2441448"/>
            <a:ext cx="196596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760720" y="2441448"/>
            <a:ext cx="233172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Creator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321040" y="2441448"/>
            <a:ext cx="29260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Factory si création complexe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94360" y="3191256"/>
            <a:ext cx="2743200" cy="530352"/>
          </a:xfrm>
          <a:prstGeom prst="roundRect">
            <a:avLst/>
          </a:prstGeom>
          <a:solidFill>
            <a:srgbClr val="FBFCFF"/>
          </a:solidFill>
          <a:ln w="12700">
            <a:solidFill>
              <a:srgbClr val="D6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Encaisser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566160" y="3191256"/>
            <a:ext cx="1965960" cy="530352"/>
          </a:xfrm>
          <a:prstGeom prst="roundRect">
            <a:avLst/>
          </a:prstGeom>
          <a:solidFill>
            <a:srgbClr val="FBFCFF"/>
          </a:solidFill>
          <a:ln w="12700">
            <a:solidFill>
              <a:srgbClr val="D6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UseCase + Port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760720" y="3191256"/>
            <a:ext cx="2331720" cy="530352"/>
          </a:xfrm>
          <a:prstGeom prst="roundRect">
            <a:avLst/>
          </a:prstGeom>
          <a:solidFill>
            <a:srgbClr val="FBFCFF"/>
          </a:solidFill>
          <a:ln w="12700">
            <a:solidFill>
              <a:srgbClr val="D6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Controller + Indirection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321040" y="3191256"/>
            <a:ext cx="2926080" cy="530352"/>
          </a:xfrm>
          <a:prstGeom prst="roundRect">
            <a:avLst/>
          </a:prstGeom>
          <a:solidFill>
            <a:srgbClr val="FBFCFF"/>
          </a:solidFill>
          <a:ln w="12700">
            <a:solidFill>
              <a:srgbClr val="D6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 trop technique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94360" y="3941064"/>
            <a:ext cx="27432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Notifier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566160" y="3941064"/>
            <a:ext cx="196596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NotificationPort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760720" y="3941064"/>
            <a:ext cx="233172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Pure Fabrication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321040" y="3941064"/>
            <a:ext cx="29260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Couplage canal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468880" y="5257800"/>
            <a:ext cx="7315200" cy="530352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CCDBF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1D4ED8"/>
                </a:solidFill>
              </a:rPr>
              <a:t>Avant de choisir une classe, formulez la responsabilité.</a:t>
            </a:r>
            <a:endParaRPr lang="en-US" sz="17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47104"/>
            <a:ext cx="4754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— Classes, dépendances et packages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631168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 package comme frontière de conception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4980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Une frontière doit être visible dans le code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857232" y="384048"/>
            <a:ext cx="1737360" cy="310896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CCDBF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13:30–14:25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" y="1234440"/>
            <a:ext cx="3291840" cy="374904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6DEE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bon package expose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une responsabilité résumable;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une API publique identifiable;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des détails internes cachés;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des dépendances orientées.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166360" y="1600200"/>
            <a:ext cx="2560320" cy="685800"/>
          </a:xfrm>
          <a:prstGeom prst="roundRect">
            <a:avLst/>
          </a:prstGeom>
          <a:solidFill>
            <a:srgbClr val="EAF8F0"/>
          </a:solidFill>
          <a:ln w="15240">
            <a:solidFill>
              <a:srgbClr val="16A34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orders.application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API publique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94960" y="3063240"/>
            <a:ext cx="2103120" cy="594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</a:rPr>
              <a:t>internal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</a:rPr>
              <a:t>mappers/adapters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41080" y="2286000"/>
            <a:ext cx="2011680" cy="685800"/>
          </a:xfrm>
          <a:prstGeom prst="roundRect">
            <a:avLst/>
          </a:prstGeom>
          <a:solidFill>
            <a:srgbClr val="FFF4E5"/>
          </a:solidFill>
          <a:ln w="15240">
            <a:solidFill>
              <a:srgbClr val="F59E0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clients externes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641080" y="2633472"/>
            <a:ext cx="-868680" cy="-640080"/>
          </a:xfrm>
          <a:prstGeom prst="line">
            <a:avLst/>
          </a:prstGeom>
          <a:noFill/>
          <a:ln w="2159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355080" y="3063240"/>
            <a:ext cx="0" cy="-777240"/>
          </a:xfrm>
          <a:prstGeom prst="line">
            <a:avLst/>
          </a:prstGeom>
          <a:noFill/>
          <a:ln w="15240">
            <a:solidFill>
              <a:srgbClr val="5B667A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1325880" y="5532120"/>
            <a:ext cx="9509760" cy="530352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CCDBF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1D4ED8"/>
                </a:solidFill>
              </a:rPr>
              <a:t>Un package n’est pas un dossier de rangement : c’est une unité de compréhension.</a:t>
            </a:r>
            <a:endParaRPr lang="en-US" sz="17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47104"/>
            <a:ext cx="4754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— Classes, dépendances et packages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631168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publique et encapsulation au niveau package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4980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Tout ce qui est dans un module ne doit pas être visible partout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857232" y="384048"/>
            <a:ext cx="1737360" cy="310896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CCDBF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PACKAGES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" y="1234440"/>
            <a:ext cx="4937760" cy="3383280"/>
          </a:xfrm>
          <a:prstGeom prst="roundRect">
            <a:avLst/>
          </a:prstGeom>
          <a:solidFill>
            <a:srgbClr val="EAF8F0"/>
          </a:solidFill>
          <a:ln w="12700">
            <a:solidFill>
              <a:srgbClr val="D6DEE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Visible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Ports, cas d’usage, DTO de frontière, événements publics et types du langage commun.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09360" y="1234440"/>
            <a:ext cx="4937760" cy="3383280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D6DEE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Caché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Implémentations, mappers internes, adapters techniques, helpers locaux et choix de persistance.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331720" y="5303520"/>
            <a:ext cx="7543800" cy="566928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CCDBF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1D4ED8"/>
                </a:solidFill>
              </a:rPr>
              <a:t>L’encapsulation existe aussi au niveau composant.</a:t>
            </a:r>
            <a:endParaRPr lang="en-US" sz="17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47104"/>
            <a:ext cx="4754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— Classes, dépendances et packages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631168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Découpage horizontal vs découpage par capacité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4980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Le package doit refléter les raisons de changer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857232" y="384048"/>
            <a:ext cx="1737360" cy="310896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CCDBF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PACKAGES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1234440"/>
            <a:ext cx="5074920" cy="3794760"/>
          </a:xfrm>
          <a:prstGeom prst="roundRect">
            <a:avLst/>
          </a:prstGeom>
          <a:solidFill>
            <a:srgbClr val="FEECEC"/>
          </a:solidFill>
          <a:ln w="12700">
            <a:solidFill>
              <a:srgbClr val="D6DEE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Horizontal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controllers / services / repositories / entities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au démarrage, mais une évolution métier traverse souvent plusieurs packages.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0" y="1234440"/>
            <a:ext cx="5074920" cy="3794760"/>
          </a:xfrm>
          <a:prstGeom prst="roundRect">
            <a:avLst/>
          </a:prstGeom>
          <a:solidFill>
            <a:srgbClr val="EAF8F0"/>
          </a:solidFill>
          <a:ln w="12700">
            <a:solidFill>
              <a:srgbClr val="D6DEE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 capacité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orders / billing / shipping / catalog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Regroupe ce qui contribue à une même fonctionnalité ou sous-domaine.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760720" y="3108960"/>
            <a:ext cx="594360" cy="0"/>
          </a:xfrm>
          <a:prstGeom prst="line">
            <a:avLst/>
          </a:prstGeom>
          <a:noFill/>
          <a:ln w="2159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1600200" y="5486400"/>
            <a:ext cx="9098280" cy="502920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CCDBF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1D4ED8"/>
                </a:solidFill>
              </a:rPr>
              <a:t>Une capacité métier peut encore être structurée en domain/application/infrastructure.</a:t>
            </a:r>
            <a:endParaRPr lang="en-US" sz="17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47104"/>
            <a:ext cx="4754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— Classes, dépendances et packages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631168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Exemple de hiérarchisation des packages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4980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Les dépendances traduisent stabilité et responsabilités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857232" y="384048"/>
            <a:ext cx="1737360" cy="310896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CCDBF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PACKAGES</a:t>
            </a:r>
            <a:endParaRPr lang="en-US" sz="900" dirty="0"/>
          </a:p>
        </p:txBody>
      </p:sp>
      <p:pic>
        <p:nvPicPr>
          <p:cNvPr id="8" name="Image 0" descr="/mnt/data/course_assets/04_packag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43000"/>
            <a:ext cx="1083564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47104"/>
            <a:ext cx="4754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— Classes, dépendances et packages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631168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 — Reuse/Release Equivalence Principle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4980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Ce qui est réutilisé ensemble doit être livré ensemble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857232" y="384048"/>
            <a:ext cx="1737360" cy="310896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CCDBF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14:25–15:15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2286000"/>
            <a:ext cx="2011680" cy="640080"/>
          </a:xfrm>
          <a:prstGeom prst="roundRect">
            <a:avLst/>
          </a:prstGeom>
          <a:solidFill>
            <a:srgbClr val="EAF2FF"/>
          </a:solidFill>
          <a:ln w="1524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Code réutilisé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983480" y="2286000"/>
            <a:ext cx="2148840" cy="640080"/>
          </a:xfrm>
          <a:prstGeom prst="roundRect">
            <a:avLst/>
          </a:prstGeom>
          <a:solidFill>
            <a:srgbClr val="EAF8F0"/>
          </a:solidFill>
          <a:ln w="15240">
            <a:solidFill>
              <a:srgbClr val="16A34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A34A"/>
                </a:solidFill>
              </a:rPr>
              <a:t>Unité de release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961120" y="2286000"/>
            <a:ext cx="2103120" cy="640080"/>
          </a:xfrm>
          <a:prstGeom prst="roundRect">
            <a:avLst/>
          </a:prstGeom>
          <a:solidFill>
            <a:srgbClr val="FFF4E5"/>
          </a:solidFill>
          <a:ln w="15240">
            <a:solidFill>
              <a:srgbClr val="F59E0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9E0B"/>
                </a:solidFill>
              </a:rPr>
              <a:t>Version consommable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926080" y="2606040"/>
            <a:ext cx="2011680" cy="0"/>
          </a:xfrm>
          <a:prstGeom prst="line">
            <a:avLst/>
          </a:prstGeom>
          <a:noFill/>
          <a:ln w="2159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132320" y="2606040"/>
            <a:ext cx="1783080" cy="0"/>
          </a:xfrm>
          <a:prstGeom prst="line">
            <a:avLst/>
          </a:prstGeom>
          <a:noFill/>
          <a:ln w="2159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914400" y="4069080"/>
            <a:ext cx="102412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projet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vous promettez un composant réutilisable, vous promettez aussi une version cohérente, documentée et testable.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47104"/>
            <a:ext cx="4754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— Classes, dépendances et packages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631168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CRP — Common Reuse Principle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4980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Ne forcez pas un consommateur à dépendre de choses qu’il ne réutilise pas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857232" y="384048"/>
            <a:ext cx="1737360" cy="310896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CCDBF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14:25–15:15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1234440"/>
            <a:ext cx="5212080" cy="3749040"/>
          </a:xfrm>
          <a:prstGeom prst="roundRect">
            <a:avLst/>
          </a:prstGeom>
          <a:solidFill>
            <a:srgbClr val="FEECEC"/>
          </a:solidFill>
          <a:ln w="12700">
            <a:solidFill>
              <a:srgbClr val="D6DEE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Violation typique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shared-kernel contient Money, JsonUtils, JwtToken, S3Client, DateParser, DatabaseConfig.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Chaque consommateur hérite d’un ensemble disproportionné.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0" y="1234440"/>
            <a:ext cx="4754880" cy="3749040"/>
          </a:xfrm>
          <a:prstGeom prst="roundRect">
            <a:avLst/>
          </a:prstGeom>
          <a:solidFill>
            <a:srgbClr val="EAF8F0"/>
          </a:solidFill>
          <a:ln w="12700">
            <a:solidFill>
              <a:srgbClr val="D6DEE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Meilleure lecture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Regrouper les classes réellement réutilisées ensemble. Séparer les adapters et détails techniques spécifiques.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194560" y="5486400"/>
            <a:ext cx="7955280" cy="502920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CCDBF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1D4ED8"/>
                </a:solidFill>
              </a:rPr>
              <a:t>CRP est l’équivalent d’ISP au niveau composants.</a:t>
            </a:r>
            <a:endParaRPr lang="en-US" sz="17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47104"/>
            <a:ext cx="4754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— Classes, dépendances et packages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631168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CCP — Common Closure Principle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4980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Regrouper ce qui change pour les mêmes raisons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857232" y="384048"/>
            <a:ext cx="1737360" cy="310896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CCDBF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14:25–15:15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2148840"/>
            <a:ext cx="2194560" cy="640080"/>
          </a:xfrm>
          <a:prstGeom prst="roundRect">
            <a:avLst/>
          </a:prstGeom>
          <a:solidFill>
            <a:srgbClr val="FFF4E5"/>
          </a:solidFill>
          <a:ln w="15240">
            <a:solidFill>
              <a:srgbClr val="F59E0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9E0B"/>
                </a:solidFill>
              </a:rPr>
              <a:t>Règle remboursement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0" y="1417320"/>
            <a:ext cx="1828800" cy="548640"/>
          </a:xfrm>
          <a:prstGeom prst="roundRect">
            <a:avLst/>
          </a:prstGeom>
          <a:solidFill>
            <a:srgbClr val="EAF2FF"/>
          </a:solidFill>
          <a:ln w="1524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orders-core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0" y="2606040"/>
            <a:ext cx="1828800" cy="548640"/>
          </a:xfrm>
          <a:prstGeom prst="roundRect">
            <a:avLst/>
          </a:prstGeom>
          <a:solidFill>
            <a:srgbClr val="EAF2FF"/>
          </a:solidFill>
          <a:ln w="1524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billing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995160" y="2011680"/>
            <a:ext cx="1828800" cy="548640"/>
          </a:xfrm>
          <a:prstGeom prst="roundRect">
            <a:avLst/>
          </a:prstGeom>
          <a:solidFill>
            <a:srgbClr val="FEECEC"/>
          </a:solidFill>
          <a:ln w="15240">
            <a:solidFill>
              <a:srgbClr val="DC262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common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464040" y="2011680"/>
            <a:ext cx="1828800" cy="548640"/>
          </a:xfrm>
          <a:prstGeom prst="roundRect">
            <a:avLst/>
          </a:prstGeom>
          <a:solidFill>
            <a:srgbClr val="FEECEC"/>
          </a:solidFill>
          <a:ln w="15240">
            <a:solidFill>
              <a:srgbClr val="DC262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web-utils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08960" y="2468880"/>
            <a:ext cx="960120" cy="-777240"/>
          </a:xfrm>
          <a:prstGeom prst="line">
            <a:avLst/>
          </a:prstGeom>
          <a:noFill/>
          <a:ln w="2159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108960" y="2468880"/>
            <a:ext cx="960120" cy="384048"/>
          </a:xfrm>
          <a:prstGeom prst="line">
            <a:avLst/>
          </a:prstGeom>
          <a:noFill/>
          <a:ln w="2159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943600" y="2880360"/>
            <a:ext cx="1005840" cy="-594360"/>
          </a:xfrm>
          <a:prstGeom prst="line">
            <a:avLst/>
          </a:prstGeom>
          <a:noFill/>
          <a:ln w="21590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823960" y="2286000"/>
            <a:ext cx="594360" cy="0"/>
          </a:xfrm>
          <a:prstGeom prst="line">
            <a:avLst/>
          </a:prstGeom>
          <a:noFill/>
          <a:ln w="21590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960120" y="4343400"/>
            <a:ext cx="100584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Objectif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Quand une règle change, l’impact doit rester localisable. CCP transpose l’intuition de SRP au niveau package.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47104"/>
            <a:ext cx="4754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— Classes, dépendances et packages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631168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REP, CRP et CCP — trois forces en tension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4980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Un bon découpage n’optimise pas tout au maximum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857232" y="384048"/>
            <a:ext cx="1737360" cy="310896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CCDBF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14:25–15:15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754880" y="1143000"/>
            <a:ext cx="2286000" cy="640080"/>
          </a:xfrm>
          <a:prstGeom prst="roundRect">
            <a:avLst/>
          </a:prstGeom>
          <a:solidFill>
            <a:srgbClr val="EAF2FF"/>
          </a:solidFill>
          <a:ln w="1524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REP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release cohérente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828800" y="4251960"/>
            <a:ext cx="2240280" cy="640080"/>
          </a:xfrm>
          <a:prstGeom prst="roundRect">
            <a:avLst/>
          </a:prstGeom>
          <a:solidFill>
            <a:srgbClr val="EAF8F0"/>
          </a:solidFill>
          <a:ln w="15240">
            <a:solidFill>
              <a:srgbClr val="16A34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A34A"/>
                </a:solidFill>
              </a:rPr>
              <a:t>CRP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6A34A"/>
                </a:solidFill>
              </a:rPr>
              <a:t>réutilisé ensemble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863840" y="4251960"/>
            <a:ext cx="2240280" cy="640080"/>
          </a:xfrm>
          <a:prstGeom prst="roundRect">
            <a:avLst/>
          </a:prstGeom>
          <a:solidFill>
            <a:srgbClr val="FFF4E5"/>
          </a:solidFill>
          <a:ln w="15240">
            <a:solidFill>
              <a:srgbClr val="F59E0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9E0B"/>
                </a:solidFill>
              </a:rPr>
              <a:t>CCP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59E0B"/>
                </a:solidFill>
              </a:rPr>
              <a:t>change ensemble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743200" y="2606040"/>
            <a:ext cx="67208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Décision de conception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Chaque découpage privilégie une force : versionner, réutiliser ou localiser les changements. Il faut choisir le compromis adapté au contexte.</a:t>
            </a:r>
            <a:endParaRPr lang="en-US" sz="13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47104"/>
            <a:ext cx="4754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— Classes, dépendances et packages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631168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Étude de cas REP/CRP/CCP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4980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Découper un module common devenu critique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857232" y="384048"/>
            <a:ext cx="1737360" cy="310896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CCDBF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CAS PRATIQUE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1234440"/>
            <a:ext cx="315468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Inventaire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Money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JsonUtils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JwtToken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S3Client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DateParser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DatabaseConfig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DomainEvent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251960" y="1234440"/>
            <a:ext cx="3246120" cy="393192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6DEE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Qui consomme quoi 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Qu’est-ce qui change ensemble 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Qu’est-ce qui est vraiment réutilisable 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Qu’est-ce qui est un détail technique 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818120" y="1234440"/>
            <a:ext cx="3337560" cy="3931920"/>
          </a:xfrm>
          <a:prstGeom prst="roundRect">
            <a:avLst/>
          </a:prstGeom>
          <a:solidFill>
            <a:srgbClr val="EAF8F0"/>
          </a:solidFill>
          <a:ln w="12700">
            <a:solidFill>
              <a:srgbClr val="D6DEE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Sortie possible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shared-kernel minimal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security-token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storage-s3-adapter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domain-events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utilities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47104"/>
            <a:ext cx="4754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— Classes, dépendances et packages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631168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Relations entre packages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4980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Le graphe des dépendances raconte l’architecture réelle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857232" y="384048"/>
            <a:ext cx="1737360" cy="310896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CCDBF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15:30–16:00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05840" y="2286000"/>
            <a:ext cx="1463040" cy="594360"/>
          </a:xfrm>
          <a:prstGeom prst="roundRect">
            <a:avLst/>
          </a:prstGeom>
          <a:solidFill>
            <a:srgbClr val="EAF2FF"/>
          </a:solidFill>
          <a:ln w="1524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orders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120640" y="1463040"/>
            <a:ext cx="1463040" cy="594360"/>
          </a:xfrm>
          <a:prstGeom prst="roundRect">
            <a:avLst/>
          </a:prstGeom>
          <a:solidFill>
            <a:srgbClr val="FFF4E5"/>
          </a:solidFill>
          <a:ln w="15240">
            <a:solidFill>
              <a:srgbClr val="F59E0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9E0B"/>
                </a:solidFill>
              </a:rPr>
              <a:t>billing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120640" y="3246120"/>
            <a:ext cx="1463040" cy="594360"/>
          </a:xfrm>
          <a:prstGeom prst="roundRect">
            <a:avLst/>
          </a:prstGeom>
          <a:solidFill>
            <a:srgbClr val="EAF8F0"/>
          </a:solidFill>
          <a:ln w="15240">
            <a:solidFill>
              <a:srgbClr val="16A34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A34A"/>
                </a:solidFill>
              </a:rPr>
              <a:t>shipping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468880" y="2514600"/>
            <a:ext cx="2606040" cy="-731520"/>
          </a:xfrm>
          <a:prstGeom prst="line">
            <a:avLst/>
          </a:prstGeom>
          <a:noFill/>
          <a:ln w="2159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583680" y="1783080"/>
            <a:ext cx="0" cy="1463040"/>
          </a:xfrm>
          <a:prstGeom prst="line">
            <a:avLst/>
          </a:prstGeom>
          <a:noFill/>
          <a:ln w="2159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120640" y="3547872"/>
            <a:ext cx="-2651760" cy="-850392"/>
          </a:xfrm>
          <a:prstGeom prst="line">
            <a:avLst/>
          </a:prstGeom>
          <a:noFill/>
          <a:ln w="2159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7635240" y="1554480"/>
            <a:ext cx="3474720" cy="2971800"/>
          </a:xfrm>
          <a:prstGeom prst="roundRect">
            <a:avLst/>
          </a:prstGeom>
          <a:solidFill>
            <a:srgbClr val="FEECEC"/>
          </a:solidFill>
          <a:ln w="12700">
            <a:solidFill>
              <a:srgbClr val="D6DEE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Cycle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orders → billing → shipping → orders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Aucun package n’est réellement indépendant : ils forment un bloc de changement.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08760" y="5349240"/>
            <a:ext cx="9098280" cy="502920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CCDBF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1D4ED8"/>
                </a:solidFill>
              </a:rPr>
              <a:t>Un cycle détruit l’idée de modification et de release indépendantes.</a:t>
            </a:r>
            <a:endParaRPr lang="en-US" sz="17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47104"/>
            <a:ext cx="4754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— Classes, dépendances et packages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631168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Supprimer un cycle — méthode de travail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4980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Ne pas casser la flèche au hasard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857232" y="384048"/>
            <a:ext cx="1737360" cy="310896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CCDBF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CYCLES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" y="1143000"/>
            <a:ext cx="5074920" cy="82296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6DEE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Dessiner le cycle minimal avec les types responsables.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63640" y="1143000"/>
            <a:ext cx="50749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Expliquer le besoin derrière chaque flèche.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560320"/>
            <a:ext cx="5074920" cy="82296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6DEE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Identifier la dépendance vers le détail le plus instable.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63640" y="2560320"/>
            <a:ext cx="50749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Tester une inversion de dépendance côté besoin.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3977640"/>
            <a:ext cx="5074920" cy="82296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6DEE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Vérifier si deux packages doivent être fusionnés.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63640" y="3977640"/>
            <a:ext cx="50749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Éviter de tout déplacer dans common.</a:t>
            </a:r>
            <a:endParaRPr lang="en-US" sz="1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47104"/>
            <a:ext cx="4754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— Classes, dépendances et packages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631168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Stabilité des packages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4980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Mesurer sans transformer la métrique en objectif aveugle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857232" y="384048"/>
            <a:ext cx="1737360" cy="310896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CCDBF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15:30–16:00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" y="1234440"/>
            <a:ext cx="3017520" cy="342900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6DEE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Afferent coupling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Nombre de packages qui dépendent de ce package.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480560" y="1234440"/>
            <a:ext cx="3017520" cy="3429000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D6DEE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Efferent coupling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Nombre de packages dont celui-ci dépend.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183880" y="1234440"/>
            <a:ext cx="3017520" cy="3429000"/>
          </a:xfrm>
          <a:prstGeom prst="roundRect">
            <a:avLst/>
          </a:prstGeom>
          <a:solidFill>
            <a:srgbClr val="EAF8F0"/>
          </a:solidFill>
          <a:ln w="12700">
            <a:solidFill>
              <a:srgbClr val="D6DEE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= Ce/(Ca+Ce)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Instabilité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= très stable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= très instable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874520" y="5394960"/>
            <a:ext cx="8458200" cy="566928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CCDBF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1D4ED8"/>
                </a:solidFill>
              </a:rPr>
              <a:t>Les dépendances devraient tendre vers ce qui change moins souvent.</a:t>
            </a:r>
            <a:endParaRPr lang="en-US" sz="17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47104"/>
            <a:ext cx="4754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— Classes, dépendances et packages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631168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 package fourre-tout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4980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shared, common, utils : trois noms qui méritent une revue attentive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857232" y="384048"/>
            <a:ext cx="1737360" cy="310896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CCDBF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PACKAGES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" y="1188720"/>
            <a:ext cx="3657600" cy="4023360"/>
          </a:xfrm>
          <a:prstGeom prst="roundRect">
            <a:avLst/>
          </a:prstGeom>
          <a:solidFill>
            <a:srgbClr val="FEECEC"/>
          </a:solidFill>
          <a:ln w="12700">
            <a:solidFill>
              <a:srgbClr val="D6DEE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Pourquoi il grossit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Tout ce qui ne trouve pas immédiatement de propriétaire y entre : constantes, helpers, DTO, exceptions, clients externes.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1188720"/>
            <a:ext cx="2926080" cy="402336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6DEE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Procédure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Lister les consommateurs.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Identifier la raison de changer.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Redonner un propriétaire naturel.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Garder une API minimale.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01000" y="1188720"/>
            <a:ext cx="3246120" cy="4023360"/>
          </a:xfrm>
          <a:prstGeom prst="roundRect">
            <a:avLst/>
          </a:prstGeom>
          <a:solidFill>
            <a:srgbClr val="EAF8F0"/>
          </a:solidFill>
          <a:ln w="12700">
            <a:solidFill>
              <a:srgbClr val="D6DEE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 qui peut rester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Types valeur réellement partagés, contrats stables, événements publics et conventions contrôlées.</a:t>
            </a:r>
            <a:endParaRPr lang="en-US" sz="1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47104"/>
            <a:ext cx="4754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— Classes, dépendances et packages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631168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Rendre les règles d’architecture exécutables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4980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Un diagramme sans garde-fou finit souvent contourné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857232" y="384048"/>
            <a:ext cx="1737360" cy="310896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CCDBF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PACKAGES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5806440" cy="1554480"/>
          </a:xfrm>
          <a:prstGeom prst="rect">
            <a:avLst/>
          </a:prstGeom>
          <a:solidFill>
            <a:srgbClr val="1F2937"/>
          </a:solidFill>
          <a:ln>
            <a:solidFill>
              <a:srgbClr val="11182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// Exemple conceptuel ArchUnit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noClasses().that().resideInAPackage("..domain..")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.should().dependOnClassesThat()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.resideInAPackage("..infrastructure..");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903720" y="1325880"/>
            <a:ext cx="4206240" cy="155448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6DEE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 que l’outil sait vérifier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Direction de dépendance, nommage, localisation des classes, interdictions d’imports.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886200"/>
            <a:ext cx="4389120" cy="1143000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D6DEE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 que l’outil ne sait pas décider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pertinence d’une responsabilité ou le compromis REP/CRP/CCP.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23560" y="3886200"/>
            <a:ext cx="5394960" cy="1143000"/>
          </a:xfrm>
          <a:prstGeom prst="roundRect">
            <a:avLst/>
          </a:prstGeom>
          <a:solidFill>
            <a:srgbClr val="EAF8F0"/>
          </a:solidFill>
          <a:ln w="12700">
            <a:solidFill>
              <a:srgbClr val="D6DEE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Usage pédagogique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Automatiser les règles simples ; garder la revue humaine pour les décisions de conception.</a:t>
            </a:r>
            <a:endParaRPr lang="en-US" sz="13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47104"/>
            <a:ext cx="4754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— Classes, dépendances et packages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631168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TP 2 — Construction et hiérarchisation des packages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4980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Transformer une conception de classes en architecture de packages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857232" y="384048"/>
            <a:ext cx="1737360" cy="310896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CCDBF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16:00–17:00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1188720"/>
            <a:ext cx="35204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Livrables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5 à 8 packages.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API publique minimale.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Graphe de dépendances.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Cycles identifiés.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Justification DIP/ISP/GRASP.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Arbitrage REP/CRP/CCP.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26280" y="1188720"/>
            <a:ext cx="3246120" cy="429768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6DEE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Méthode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Inventorier les classes.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Associer une raison de changer.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Regrouper par responsabilité.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Dessiner les dépendances.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Corriger les cycles.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092440" y="1188720"/>
            <a:ext cx="3246120" cy="4297680"/>
          </a:xfrm>
          <a:prstGeom prst="roundRect">
            <a:avLst/>
          </a:prstGeom>
          <a:solidFill>
            <a:srgbClr val="EAF8F0"/>
          </a:solidFill>
          <a:ln w="12700">
            <a:solidFill>
              <a:srgbClr val="D6DEE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Restitution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minutes : choix, compromis, risques, règles d’architecture et améliorations possibles.</a:t>
            </a:r>
            <a:endParaRPr lang="en-US" sz="13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47104"/>
            <a:ext cx="4754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— Classes, dépendances et packages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631168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TP 2 — correction indicative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4980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Plusieurs architectures peuvent être valides si elles justifient leurs compromis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857232" y="384048"/>
            <a:ext cx="1737360" cy="310896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CCDBF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CORRECTION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2011680"/>
            <a:ext cx="1828800" cy="594360"/>
          </a:xfrm>
          <a:prstGeom prst="roundRect">
            <a:avLst/>
          </a:prstGeom>
          <a:solidFill>
            <a:srgbClr val="EAF2FF"/>
          </a:solidFill>
          <a:ln w="1524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domain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Order, Money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0" y="2011680"/>
            <a:ext cx="2194560" cy="594360"/>
          </a:xfrm>
          <a:prstGeom prst="roundRect">
            <a:avLst/>
          </a:prstGeom>
          <a:solidFill>
            <a:srgbClr val="EAF8F0"/>
          </a:solidFill>
          <a:ln w="15240">
            <a:solidFill>
              <a:srgbClr val="16A34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application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UseCases + Ports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589520" y="2011680"/>
            <a:ext cx="2011680" cy="594360"/>
          </a:xfrm>
          <a:prstGeom prst="roundRect">
            <a:avLst/>
          </a:prstGeom>
          <a:solidFill>
            <a:srgbClr val="FFF4E5"/>
          </a:solidFill>
          <a:ln w="15240">
            <a:solidFill>
              <a:srgbClr val="F59E0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infrastructure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Adapters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97680" y="3657600"/>
            <a:ext cx="1828800" cy="594360"/>
          </a:xfrm>
          <a:prstGeom prst="roundRect">
            <a:avLst/>
          </a:prstGeom>
          <a:solidFill>
            <a:srgbClr val="F2EAFE"/>
          </a:solidFill>
          <a:ln w="15240">
            <a:solidFill>
              <a:srgbClr val="7C3AE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presentation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API/UI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0" y="2304288"/>
            <a:ext cx="-1325880" cy="0"/>
          </a:xfrm>
          <a:prstGeom prst="line">
            <a:avLst/>
          </a:prstGeom>
          <a:noFill/>
          <a:ln w="2159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589520" y="2304288"/>
            <a:ext cx="-1234440" cy="0"/>
          </a:xfrm>
          <a:prstGeom prst="line">
            <a:avLst/>
          </a:prstGeom>
          <a:noFill/>
          <a:ln w="2159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212080" y="3657600"/>
            <a:ext cx="0" cy="-1005840"/>
          </a:xfrm>
          <a:prstGeom prst="line">
            <a:avLst/>
          </a:prstGeom>
          <a:noFill/>
          <a:ln w="2159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914400" y="4892040"/>
            <a:ext cx="98755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Critère recherché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graphe acyclique avec contrats stables au centre et détails techniques en périphérie.</a:t>
            </a:r>
            <a:endParaRPr lang="en-US" sz="14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47104"/>
            <a:ext cx="4754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— Classes, dépendances et packages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631168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Quiz de fin de J2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4980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15 questions pour vérifier les décisions de conception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857232" y="384048"/>
            <a:ext cx="1737360" cy="310896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CCDBF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ÉVALUATION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" y="114300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1. DIP : runtime ou dépendances du code ?</a:t>
            </a:r>
            <a:endParaRPr lang="en-US" sz="960" dirty="0"/>
          </a:p>
        </p:txBody>
      </p:sp>
      <p:sp>
        <p:nvSpPr>
          <p:cNvPr id="9" name="Text 7"/>
          <p:cNvSpPr/>
          <p:nvPr/>
        </p:nvSpPr>
        <p:spPr>
          <a:xfrm>
            <a:off x="4572000" y="114300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2. Pourquoi @Autowired StripeClient ne suffit pas ?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8366760" y="114300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3. Avantage de l’injection constructeur ?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777240" y="1892808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4. ISP impose-t-il une méthode par interface ?</a:t>
            </a:r>
            <a:endParaRPr lang="en-US" sz="960" dirty="0"/>
          </a:p>
        </p:txBody>
      </p:sp>
      <p:sp>
        <p:nvSpPr>
          <p:cNvPr id="12" name="Text 10"/>
          <p:cNvSpPr/>
          <p:nvPr/>
        </p:nvSpPr>
        <p:spPr>
          <a:xfrm>
            <a:off x="4572000" y="1892808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5. Deux symptômes d’une interface grasse ?</a:t>
            </a:r>
            <a:endParaRPr lang="en-US" sz="960" dirty="0"/>
          </a:p>
        </p:txBody>
      </p:sp>
      <p:sp>
        <p:nvSpPr>
          <p:cNvPr id="13" name="Text 11"/>
          <p:cNvSpPr/>
          <p:nvPr/>
        </p:nvSpPr>
        <p:spPr>
          <a:xfrm>
            <a:off x="8366760" y="1892808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6. Quel GRASP pour l’objet qui possède l’information ?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777240" y="2642616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7. Quand utiliser Pure Fabrication ?</a:t>
            </a:r>
            <a:endParaRPr lang="en-US" sz="960" dirty="0"/>
          </a:p>
        </p:txBody>
      </p:sp>
      <p:sp>
        <p:nvSpPr>
          <p:cNvPr id="15" name="Text 13"/>
          <p:cNvSpPr/>
          <p:nvPr/>
        </p:nvSpPr>
        <p:spPr>
          <a:xfrm>
            <a:off x="4572000" y="2642616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8. Quel GRASP justifie un port intermédiaire ?</a:t>
            </a:r>
            <a:endParaRPr lang="en-US" sz="960" dirty="0"/>
          </a:p>
        </p:txBody>
      </p:sp>
      <p:sp>
        <p:nvSpPr>
          <p:cNvPr id="16" name="Text 14"/>
          <p:cNvSpPr/>
          <p:nvPr/>
        </p:nvSpPr>
        <p:spPr>
          <a:xfrm>
            <a:off x="8366760" y="2642616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9. Que signifie REP ?</a:t>
            </a:r>
            <a:endParaRPr lang="en-US" sz="960" dirty="0"/>
          </a:p>
        </p:txBody>
      </p:sp>
      <p:sp>
        <p:nvSpPr>
          <p:cNvPr id="17" name="Text 15"/>
          <p:cNvSpPr/>
          <p:nvPr/>
        </p:nvSpPr>
        <p:spPr>
          <a:xfrm>
            <a:off x="777240" y="3392424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10. Intuition commune entre CRP et ISP ?</a:t>
            </a:r>
            <a:endParaRPr lang="en-US" sz="960" dirty="0"/>
          </a:p>
        </p:txBody>
      </p:sp>
      <p:sp>
        <p:nvSpPr>
          <p:cNvPr id="18" name="Text 16"/>
          <p:cNvSpPr/>
          <p:nvPr/>
        </p:nvSpPr>
        <p:spPr>
          <a:xfrm>
            <a:off x="4572000" y="3392424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11. Que cherche CCP à regrouper ?</a:t>
            </a:r>
            <a:endParaRPr lang="en-US" sz="960" dirty="0"/>
          </a:p>
        </p:txBody>
      </p:sp>
      <p:sp>
        <p:nvSpPr>
          <p:cNvPr id="19" name="Text 17"/>
          <p:cNvSpPr/>
          <p:nvPr/>
        </p:nvSpPr>
        <p:spPr>
          <a:xfrm>
            <a:off x="8366760" y="3392424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12. Pourquoi REP/CRP/CCP sont en tension ?</a:t>
            </a:r>
            <a:endParaRPr lang="en-US" sz="960" dirty="0"/>
          </a:p>
        </p:txBody>
      </p:sp>
      <p:sp>
        <p:nvSpPr>
          <p:cNvPr id="20" name="Text 18"/>
          <p:cNvSpPr/>
          <p:nvPr/>
        </p:nvSpPr>
        <p:spPr>
          <a:xfrm>
            <a:off x="777240" y="4142232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13. Pourquoi un cycle de packages gêne ?</a:t>
            </a:r>
            <a:endParaRPr lang="en-US" sz="960" dirty="0"/>
          </a:p>
        </p:txBody>
      </p:sp>
      <p:sp>
        <p:nvSpPr>
          <p:cNvPr id="21" name="Text 19"/>
          <p:cNvSpPr/>
          <p:nvPr/>
        </p:nvSpPr>
        <p:spPr>
          <a:xfrm>
            <a:off x="4572000" y="4142232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14. Deux stratégies pour casser un cycle ?</a:t>
            </a:r>
            <a:endParaRPr lang="en-US" sz="960" dirty="0"/>
          </a:p>
        </p:txBody>
      </p:sp>
      <p:sp>
        <p:nvSpPr>
          <p:cNvPr id="22" name="Text 20"/>
          <p:cNvSpPr/>
          <p:nvPr/>
        </p:nvSpPr>
        <p:spPr>
          <a:xfrm>
            <a:off x="8366760" y="4142232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15. Pourquoi shared doit rester petit ?</a:t>
            </a:r>
            <a:endParaRPr lang="en-US" sz="960" dirty="0"/>
          </a:p>
        </p:txBody>
      </p:sp>
      <p:sp>
        <p:nvSpPr>
          <p:cNvPr id="23" name="Text 21"/>
          <p:cNvSpPr/>
          <p:nvPr/>
        </p:nvSpPr>
        <p:spPr>
          <a:xfrm>
            <a:off x="1965960" y="5577840"/>
            <a:ext cx="8366760" cy="502920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CCDBF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1D4ED8"/>
                </a:solidFill>
              </a:rPr>
              <a:t>L’évaluation porte sur la justification, pas sur une recette unique.</a:t>
            </a:r>
            <a:endParaRPr lang="en-US" sz="17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47104"/>
            <a:ext cx="4754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— Classes, dépendances et packages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631168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Checklist de revue J2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4980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Une grille utilisable dès le lendemain en projet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857232" y="384048"/>
            <a:ext cx="1737360" cy="310896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CCDBF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SYNTHÈSE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1143000"/>
            <a:ext cx="539496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300" dirty="0">
                <a:solidFill>
                  <a:srgbClr val="111827"/>
                </a:solidFill>
              </a:rPr>
              <a:t>Les politiques métier n’importent pas directement de SDK ou frameworks.</a:t>
            </a:r>
            <a:endParaRPr lang="en-US" sz="1300" dirty="0"/>
          </a:p>
          <a:p>
            <a:r>
              <a:rPr lang="en-US" sz="1300" dirty="0">
                <a:solidFill>
                  <a:srgbClr val="111827"/>
                </a:solidFill>
              </a:rPr>
              <a:t>Les ports sont nommés depuis le besoin du client.</a:t>
            </a:r>
            <a:endParaRPr lang="en-US" sz="1300" dirty="0"/>
          </a:p>
          <a:p>
            <a:r>
              <a:rPr lang="en-US" sz="1300" dirty="0">
                <a:solidFill>
                  <a:srgbClr val="111827"/>
                </a:solidFill>
              </a:rPr>
              <a:t>Les dépendances obligatoires sont explicites.</a:t>
            </a:r>
            <a:endParaRPr lang="en-US" sz="1300" dirty="0"/>
          </a:p>
          <a:p>
            <a:r>
              <a:rPr lang="en-US" sz="1300" dirty="0">
                <a:solidFill>
                  <a:srgbClr val="111827"/>
                </a:solidFill>
              </a:rPr>
              <a:t>Les interfaces ne forcent pas des méthodes inutiles.</a:t>
            </a:r>
            <a:endParaRPr lang="en-US" sz="1300" dirty="0"/>
          </a:p>
          <a:p>
            <a:r>
              <a:rPr lang="en-US" sz="1300" dirty="0">
                <a:solidFill>
                  <a:srgbClr val="111827"/>
                </a:solidFill>
              </a:rPr>
              <a:t>Chaque responsabilité possède un propriétaire justifiable.</a:t>
            </a:r>
            <a:endParaRPr lang="en-US" sz="1300" dirty="0"/>
          </a:p>
          <a:p>
            <a:r>
              <a:rPr lang="en-US" sz="1300" dirty="0">
                <a:solidFill>
                  <a:srgbClr val="111827"/>
                </a:solidFill>
              </a:rPr>
              <a:t>Les packages ont une responsabilité et une API publique identifiables.</a:t>
            </a:r>
            <a:endParaRPr lang="en-US" sz="1300" dirty="0"/>
          </a:p>
          <a:p>
            <a:r>
              <a:rPr lang="en-US" sz="1300" dirty="0">
                <a:solidFill>
                  <a:srgbClr val="111827"/>
                </a:solidFill>
              </a:rPr>
              <a:t>Le graphe de dépendances est acyclique ou justifié.</a:t>
            </a:r>
            <a:endParaRPr lang="en-US" sz="1300" dirty="0"/>
          </a:p>
          <a:p>
            <a:r>
              <a:rPr lang="en-US" sz="1300" dirty="0">
                <a:solidFill>
                  <a:srgbClr val="111827"/>
                </a:solidFill>
              </a:rPr>
              <a:t>common/shared/utils ne sert pas de décharge universelle.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0" y="1417320"/>
            <a:ext cx="1097280" cy="475488"/>
          </a:xfrm>
          <a:prstGeom prst="roundRect">
            <a:avLst/>
          </a:prstGeom>
          <a:solidFill>
            <a:srgbClr val="EAF2FF"/>
          </a:solidFill>
          <a:ln w="1524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DIP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144000" y="1417320"/>
            <a:ext cx="1097280" cy="475488"/>
          </a:xfrm>
          <a:prstGeom prst="roundRect">
            <a:avLst/>
          </a:prstGeom>
          <a:solidFill>
            <a:srgbClr val="EAF8F0"/>
          </a:solidFill>
          <a:ln w="15240">
            <a:solidFill>
              <a:srgbClr val="16A34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A34A"/>
                </a:solidFill>
              </a:rPr>
              <a:t>ISP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0" y="2514600"/>
            <a:ext cx="1371600" cy="475488"/>
          </a:xfrm>
          <a:prstGeom prst="roundRect">
            <a:avLst/>
          </a:prstGeom>
          <a:solidFill>
            <a:srgbClr val="FFF4E5"/>
          </a:solidFill>
          <a:ln w="15240">
            <a:solidFill>
              <a:srgbClr val="F59E0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9E0B"/>
                </a:solidFill>
              </a:rPr>
              <a:t>GRASP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452360" y="3611880"/>
            <a:ext cx="2560320" cy="475488"/>
          </a:xfrm>
          <a:prstGeom prst="roundRect">
            <a:avLst/>
          </a:prstGeom>
          <a:solidFill>
            <a:srgbClr val="F2EAFE"/>
          </a:solidFill>
          <a:ln w="15240">
            <a:solidFill>
              <a:srgbClr val="7C3AE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</a:rPr>
              <a:t>REP/CRP/CCP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543800" y="4709160"/>
            <a:ext cx="2377440" cy="4754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Packages stables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863840" y="1901952"/>
            <a:ext cx="594360" cy="585216"/>
          </a:xfrm>
          <a:prstGeom prst="line">
            <a:avLst/>
          </a:prstGeom>
          <a:noFill/>
          <a:ln w="2159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692640" y="1901952"/>
            <a:ext cx="-777240" cy="585216"/>
          </a:xfrm>
          <a:prstGeom prst="line">
            <a:avLst/>
          </a:prstGeom>
          <a:noFill/>
          <a:ln w="2159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915400" y="2990088"/>
            <a:ext cx="-182880" cy="594360"/>
          </a:xfrm>
          <a:prstGeom prst="line">
            <a:avLst/>
          </a:prstGeom>
          <a:noFill/>
          <a:ln w="2159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732520" y="4096512"/>
            <a:ext cx="0" cy="585216"/>
          </a:xfrm>
          <a:prstGeom prst="line">
            <a:avLst/>
          </a:prstGeom>
          <a:noFill/>
          <a:ln w="21590">
            <a:solidFill>
              <a:srgbClr val="2563EB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47104"/>
            <a:ext cx="4754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— Classes, dépendances et packages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631168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Transition vers J3 — TDD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4980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Les frontières de J2 rendent le code testable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857232" y="384048"/>
            <a:ext cx="1737360" cy="310896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CCDBF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FIN J2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2331720"/>
            <a:ext cx="196596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J1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Responsabilités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703320" y="2331720"/>
            <a:ext cx="2240280" cy="713232"/>
          </a:xfrm>
          <a:prstGeom prst="roundRect">
            <a:avLst/>
          </a:prstGeom>
          <a:solidFill>
            <a:srgbClr val="EAF2FF"/>
          </a:solidFill>
          <a:ln w="1524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J2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Dépendances explicites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12280" y="2331720"/>
            <a:ext cx="2514600" cy="713232"/>
          </a:xfrm>
          <a:prstGeom prst="roundRect">
            <a:avLst/>
          </a:prstGeom>
          <a:solidFill>
            <a:srgbClr val="EAF8F0"/>
          </a:solidFill>
          <a:ln w="15240">
            <a:solidFill>
              <a:srgbClr val="16A34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A34A"/>
                </a:solidFill>
              </a:rPr>
              <a:t>J3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6A34A"/>
                </a:solidFill>
              </a:rPr>
              <a:t>Tests pilotant la conception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058400" y="2331720"/>
            <a:ext cx="128016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J4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Patterns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880360" y="2688336"/>
            <a:ext cx="777240" cy="0"/>
          </a:xfrm>
          <a:prstGeom prst="line">
            <a:avLst/>
          </a:prstGeom>
          <a:noFill/>
          <a:ln w="2159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943600" y="2688336"/>
            <a:ext cx="822960" cy="0"/>
          </a:xfrm>
          <a:prstGeom prst="line">
            <a:avLst/>
          </a:prstGeom>
          <a:noFill/>
          <a:ln w="2159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326880" y="2688336"/>
            <a:ext cx="685800" cy="0"/>
          </a:xfrm>
          <a:prstGeom prst="line">
            <a:avLst/>
          </a:prstGeom>
          <a:noFill/>
          <a:ln w="2159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1097280" y="4343400"/>
            <a:ext cx="9921240" cy="841248"/>
          </a:xfrm>
          <a:prstGeom prst="roundRect">
            <a:avLst/>
          </a:prstGeom>
          <a:solidFill>
            <a:srgbClr val="EAF8F0"/>
          </a:solidFill>
          <a:ln w="12700">
            <a:solidFill>
              <a:srgbClr val="D6DEE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Préparation J3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Choisir un cas d’usage, formuler un comportement attendu, identifier les collaborateurs à doubler et écrire le premier exemple.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Slides J2 - Conception objet, dépendances et packages</dc:title>
  <dc:subject>J2 - Classes, dépendances et packages</dc:subject>
  <dc:creator>OpenAI</dc:creator>
  <cp:lastModifiedBy>OpenAI</cp:lastModifiedBy>
  <cp:revision>1</cp:revision>
  <dcterms:created xsi:type="dcterms:W3CDTF">2026-08-29T15:33:20Z</dcterms:created>
  <dcterms:modified xsi:type="dcterms:W3CDTF">2026-08-29T15:33:20Z</dcterms:modified>
</cp:coreProperties>
</file>