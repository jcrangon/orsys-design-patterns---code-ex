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19672"/>
            <a:ext cx="11201400" cy="0"/>
          </a:xfrm>
          <a:prstGeom prst="line">
            <a:avLst/>
          </a:prstGeom>
          <a:noFill/>
          <a:ln w="10160">
            <a:solidFill>
              <a:srgbClr val="D8DE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565392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• Conception objet simplifiée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60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89"/>
                </a:solidFill>
              </a:rPr>
              <a:t>Jour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7782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Fondamentaux de la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conception objet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76656" y="2788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POO • UML • héritage • composition • OCP • LSP • couplage • cohésion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3794760"/>
            <a:ext cx="2574036" cy="868680"/>
          </a:xfrm>
          <a:prstGeom prst="roundRect">
            <a:avLst>
              <a:gd name="adj" fmla="val 10526"/>
            </a:avLst>
          </a:prstGeom>
          <a:solidFill>
            <a:srgbClr val="E7F0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3904488"/>
            <a:ext cx="2427732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Responsabilités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2988" y="4229100"/>
            <a:ext cx="109728" cy="0"/>
          </a:xfrm>
          <a:prstGeom prst="line">
            <a:avLst/>
          </a:prstGeom>
          <a:noFill/>
          <a:ln w="17780">
            <a:solidFill>
              <a:srgbClr val="1D4E8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70148" y="3794760"/>
            <a:ext cx="2574036" cy="868680"/>
          </a:xfrm>
          <a:prstGeom prst="roundRect">
            <a:avLst>
              <a:gd name="adj" fmla="val 10526"/>
            </a:avLst>
          </a:prstGeom>
          <a:solidFill>
            <a:srgbClr val="E9F7E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3300" y="3904488"/>
            <a:ext cx="2427732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Contrats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71616" y="4229100"/>
            <a:ext cx="109728" cy="0"/>
          </a:xfrm>
          <a:prstGeom prst="line">
            <a:avLst/>
          </a:prstGeom>
          <a:noFill/>
          <a:ln w="17780">
            <a:solidFill>
              <a:srgbClr val="1D4E8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208776" y="3794760"/>
            <a:ext cx="2574036" cy="868680"/>
          </a:xfrm>
          <a:prstGeom prst="roundRect">
            <a:avLst>
              <a:gd name="adj" fmla="val 10526"/>
            </a:avLst>
          </a:prstGeom>
          <a:solidFill>
            <a:srgbClr val="FFF7E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81928" y="3904488"/>
            <a:ext cx="2427732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Variations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10244" y="4229100"/>
            <a:ext cx="109728" cy="0"/>
          </a:xfrm>
          <a:prstGeom prst="line">
            <a:avLst/>
          </a:prstGeom>
          <a:noFill/>
          <a:ln w="17780">
            <a:solidFill>
              <a:srgbClr val="1D4E89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947404" y="3794760"/>
            <a:ext cx="2574036" cy="868680"/>
          </a:xfrm>
          <a:prstGeom prst="roundRect">
            <a:avLst>
              <a:gd name="adj" fmla="val 10526"/>
            </a:avLst>
          </a:prstGeom>
          <a:solidFill>
            <a:srgbClr val="FDECE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20556" y="3904488"/>
            <a:ext cx="2427732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Tests de changement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5166360"/>
            <a:ext cx="1051560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5262372"/>
            <a:ext cx="1018641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Objectif : passer de “ça compile” à “je peux expliquer pourquoi cette conception tient”.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Objectifs pédagogiques du J1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Les notions difficiles sont reformulées avec des exemples simples.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6245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À la fin, les élèves doivent pouvoir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1691640"/>
            <a:ext cx="4992624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• lire un petit modèle objet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repérer une responsabilité mal placée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choisir héritage ou composition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expliquer OCP et LSP avec un scénario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utiliser UML pour clarifier une décision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263640" y="1234440"/>
            <a:ext cx="530352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362456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Fil rouge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64808" y="1691640"/>
            <a:ext cx="4901184" cy="3794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Un système de commande multicanal avec :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remises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paiements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livraison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notifications</a:t>
            </a:r>
            <a:endParaRPr lang="en-US" sz="1220" dirty="0"/>
          </a:p>
          <a:p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On observe où placer les règles et les variations.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La bonne question : “Quel changement futur cette conception rend-elle plus simple ?”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boussole du Jour 1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Ne pas apprendre des définitions : apprendre à décider.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14400" y="1325880"/>
            <a:ext cx="3334512" cy="960120"/>
          </a:xfrm>
          <a:prstGeom prst="roundRect">
            <a:avLst>
              <a:gd name="adj" fmla="val 9524"/>
            </a:avLst>
          </a:prstGeom>
          <a:solidFill>
            <a:srgbClr val="FDECE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435608"/>
            <a:ext cx="3188208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Problème concret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76344" y="1805940"/>
            <a:ext cx="109728" cy="0"/>
          </a:xfrm>
          <a:prstGeom prst="line">
            <a:avLst/>
          </a:prstGeom>
          <a:noFill/>
          <a:ln w="17780">
            <a:solidFill>
              <a:srgbClr val="1D4E89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413504" y="1325880"/>
            <a:ext cx="3334512" cy="960120"/>
          </a:xfrm>
          <a:prstGeom prst="roundRect">
            <a:avLst>
              <a:gd name="adj" fmla="val 9524"/>
            </a:avLst>
          </a:prstGeom>
          <a:solidFill>
            <a:srgbClr val="E7F0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6656" y="1435608"/>
            <a:ext cx="3188208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Décision de conception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5448" y="1805940"/>
            <a:ext cx="109728" cy="0"/>
          </a:xfrm>
          <a:prstGeom prst="line">
            <a:avLst/>
          </a:prstGeom>
          <a:noFill/>
          <a:ln w="17780">
            <a:solidFill>
              <a:srgbClr val="1D4E8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912608" y="1325880"/>
            <a:ext cx="3334512" cy="960120"/>
          </a:xfrm>
          <a:prstGeom prst="roundRect">
            <a:avLst>
              <a:gd name="adj" fmla="val 9524"/>
            </a:avLst>
          </a:prstGeom>
          <a:solidFill>
            <a:srgbClr val="E9F7E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85760" y="1435608"/>
            <a:ext cx="3188208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Critère de vérification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0" y="2788920"/>
            <a:ext cx="49834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916936"/>
            <a:ext cx="4617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Exemple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07008" y="3246120"/>
            <a:ext cx="4581144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Problème : le total peut devenir négatif.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Décision : Commande contrôle ses transitions.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Vérification : aucun appel public ne permet un état incohérent.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263640" y="2788920"/>
            <a:ext cx="48920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916936"/>
            <a:ext cx="4526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Phrase de cours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64808" y="3246120"/>
            <a:ext cx="4489704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Un principe POO n’est utile que s’il évite un problème concret : état invalide, changement dispersé, dépendance trop forte ou contrat cassé.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Principe = outil de raisonnement, pas règle à appliquer mécaniquement.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Classe et responsabilité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Une classe n’est pas seulement un paquet d’attributs.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25780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0020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5049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C62828"/>
                </a:solidFill>
              </a:rPr>
              <a:t>MAUVAIS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804672" y="2011680"/>
            <a:ext cx="492861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CommandeManager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calculerTotal() {}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sauvegarder() {}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envoyerEmail() {}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exporterPdf() {}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25780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3368" y="160020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65049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E7D32"/>
                </a:solidFill>
              </a:rPr>
              <a:t>MIEUX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6428232" y="2011680"/>
            <a:ext cx="492861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Commande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Money total() { ...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expedier() { ...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NotifierCommande { ...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FactureExporter { ... }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914400" y="5074920"/>
            <a:ext cx="104241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5202936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Idée simple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5532120"/>
            <a:ext cx="1002182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Une bonne classe a une raison claire d’exister. Si elle disparaît, une promesse métier ou technique manque.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Encapsulation : protéger les invariants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Private ne suffit pas si les setters permettent n’importe quoi.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257800" cy="3611880"/>
          </a:xfrm>
          <a:prstGeom prst="roundRect">
            <a:avLst>
              <a:gd name="adj" fmla="val 253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50876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5905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C62828"/>
                </a:solidFill>
              </a:rPr>
              <a:t>MAUVAIS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804672" y="1920240"/>
            <a:ext cx="4928616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Commande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public String statut;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public double total;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public boolean payee;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commande.statut = "EXPEDIEE";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commande.total = -50;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257800" cy="3611880"/>
          </a:xfrm>
          <a:prstGeom prst="roundRect">
            <a:avLst>
              <a:gd name="adj" fmla="val 253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3368" y="150876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55905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E7D32"/>
                </a:solidFill>
              </a:rPr>
              <a:t>MIEUX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6428232" y="1920240"/>
            <a:ext cx="4928616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Commande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Statut statut;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List&lt;Ligne&gt; lignes;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payer()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if (lignes.isEmpty()) throw new Error();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statut = Statut.PAYEE;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Invariant : une règle qui doit rester vraie quand l’objet est valide.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Exemple d’invariant métier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Une commande expédiée doit avoir été payée.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257800" cy="3383280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6304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1333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C62828"/>
                </a:solidFill>
              </a:rPr>
              <a:t>MAUVAIS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804672" y="1874520"/>
            <a:ext cx="4928616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Règle copiée dans un contrôleur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if (!commande.isPayee())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throw new Error("non payée");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commande.setStatut("EXPEDIEE");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257800" cy="3383280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3368" y="146304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51333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E7D32"/>
                </a:solidFill>
              </a:rPr>
              <a:t>MIEUX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6428232" y="1874520"/>
            <a:ext cx="4928616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Commande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expedier()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if (statut != PAYEE) throw new CommandeNonPayee();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statut = EXPEDIEE;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commande.expedier();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1005840" y="5074920"/>
            <a:ext cx="101498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5202936"/>
            <a:ext cx="9784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Pourquoi c’est mieux 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07008" y="5532120"/>
            <a:ext cx="9747504" cy="137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Tous les canaux profitent de la même règle : IHM, API, batch, tests.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Entité et objet valeur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Deux catégories utiles pour placer les règles.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25780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F4B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99616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Entité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1828800"/>
            <a:ext cx="4855464" cy="3840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Possède une identité dans le temps.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Exemples : Commande, Client, Facture.</a:t>
            </a:r>
            <a:endParaRPr lang="en-US" sz="1220" dirty="0"/>
          </a:p>
          <a:p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La commande reste la même quand on ajoute une ligne.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291072" y="1371600"/>
            <a:ext cx="525780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A9D9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499616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Objet valeur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1828800"/>
            <a:ext cx="4855464" cy="3840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Défini par ses valeurs.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Exemples : Money, Email, Période.</a:t>
            </a:r>
            <a:endParaRPr lang="en-US" sz="1220" dirty="0"/>
          </a:p>
          <a:p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Deux montants de 10 EUR sont équivalents.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Les objets valeur évitent les primitives incohérentes : String, double, int utilisés partout.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 valeur : Money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Un montant n’est pas juste un double.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257800" cy="3246120"/>
          </a:xfrm>
          <a:prstGeom prst="roundRect">
            <a:avLst>
              <a:gd name="adj" fmla="val 28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50876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5905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C62828"/>
                </a:solidFill>
              </a:rPr>
              <a:t>MAUVAIS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804672" y="1920240"/>
            <a:ext cx="4928616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double total = 10.0;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double frais = 5.0;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Quelle devise ? Quel arrondi 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double result = total + frais;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257800" cy="3246120"/>
          </a:xfrm>
          <a:prstGeom prst="roundRect">
            <a:avLst>
              <a:gd name="adj" fmla="val 28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3368" y="150876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55905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E7D32"/>
                </a:solidFill>
              </a:rPr>
              <a:t>MIEUX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6428232" y="1920240"/>
            <a:ext cx="4928616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record Money(BigDecimal amount, Currency currency)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Money plus(Money other)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if (!currency.equals(other.currency))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throw new CurrencyMismatch();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return new Money(amount.add(other.amount), currency);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Un type métier devient utile quand plusieurs classes doivent se souvenir de la même règle.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Abstraction : voir le besoin, pas le détail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Une bonne abstraction cache ce que le client n’a pas besoin de savoir.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525780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44752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95044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C62828"/>
                </a:solidFill>
              </a:rPr>
              <a:t>MAUVAIS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804672" y="1856232"/>
            <a:ext cx="492861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ValiderCommande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StripeClient stripe = new StripeClient();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valider(Commande c)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stripe.charge(c.total(), "secret-key", "json-v2");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263640" y="1353312"/>
            <a:ext cx="525780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3368" y="1444752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495044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E7D32"/>
                </a:solidFill>
              </a:rPr>
              <a:t>MIEUX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6428232" y="1856232"/>
            <a:ext cx="492861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PaiementPort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Autorisation autoriser(CommandeId id, Money montant);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ValiderCommande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final PaiementPort paiements;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Le cas d’usage demande “autoriser un paiement”, pas “parler le SDK Stripe”.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Interface utile ou bruit 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Une interface n’est pas automatiquement du découplage.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257800" cy="3520440"/>
          </a:xfrm>
          <a:prstGeom prst="roundRect">
            <a:avLst>
              <a:gd name="adj" fmla="val 25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6304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1333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C62828"/>
                </a:solidFill>
              </a:rPr>
              <a:t>MAUVAIS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804672" y="1874520"/>
            <a:ext cx="4928616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CommandeServiceInterface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creer();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CommandeService implements CommandeServiceInterface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public void creer() { ...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257800" cy="3520440"/>
          </a:xfrm>
          <a:prstGeom prst="roundRect">
            <a:avLst>
              <a:gd name="adj" fmla="val 25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3368" y="146304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51333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E7D32"/>
                </a:solidFill>
              </a:rPr>
              <a:t>MIEUX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6428232" y="1874520"/>
            <a:ext cx="4928616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PaiementPort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Autorisation autoriser(Money montant);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StripeAdapter implements PaiementPort { ...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FakePaiement implements PaiementPort { ... }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914400" y="5166360"/>
            <a:ext cx="104241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5294376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Question clé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5623560"/>
            <a:ext cx="10021824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Qui consomme ce contrat ? Quel changement cherche-t-on à contenir ?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UML : utile si le dessin aide à décider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Un diagramme n’est pas une décoration.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3832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4533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Classes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86968" y="1874520"/>
            <a:ext cx="298094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Qui possède quoi ?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Relations, multiplicités, responsabilités.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434840" y="1417320"/>
            <a:ext cx="33832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54533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Séquence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36008" y="1874520"/>
            <a:ext cx="298094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Qui appelle qui ?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Ordre, orchestration, frontières.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183880" y="1417320"/>
            <a:ext cx="33832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54533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États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85048" y="1874520"/>
            <a:ext cx="298094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Quels états sont possibles ?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Transitions et gardes.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1280160" y="3703320"/>
            <a:ext cx="4480560" cy="1143000"/>
          </a:xfrm>
          <a:prstGeom prst="roundRect">
            <a:avLst>
              <a:gd name="adj" fmla="val 9600"/>
            </a:avLst>
          </a:prstGeom>
          <a:solidFill>
            <a:srgbClr val="FDECEC"/>
          </a:solidFill>
          <a:ln w="12700">
            <a:solidFill>
              <a:srgbClr val="F4B4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383133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À éviter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81328" y="4160520"/>
            <a:ext cx="40782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UML qui recopie tous les getters/setters ou toutes les annotations du framework.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400800" y="3703320"/>
            <a:ext cx="4480560" cy="1143000"/>
          </a:xfrm>
          <a:prstGeom prst="roundRect">
            <a:avLst>
              <a:gd name="adj" fmla="val 9600"/>
            </a:avLst>
          </a:prstGeom>
          <a:solidFill>
            <a:srgbClr val="E9F7EF"/>
          </a:solidFill>
          <a:ln w="12700">
            <a:solidFill>
              <a:srgbClr val="A9D9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83133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À viser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01968" y="4160520"/>
            <a:ext cx="40782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UML qui montre la décision : responsabilité, cycle de vie, dépendance, variation.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Si le diagramme ne change aucune discussion, il est probablement inutile.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Association, agrégation, composition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Choisir la relation selon le cycle de vie et la responsabilité.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330403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344168"/>
            <a:ext cx="3157728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Client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45864" y="1645920"/>
            <a:ext cx="109728" cy="0"/>
          </a:xfrm>
          <a:prstGeom prst="line">
            <a:avLst/>
          </a:prstGeom>
          <a:noFill/>
          <a:ln w="17780">
            <a:solidFill>
              <a:srgbClr val="1D4E89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383024" y="1234440"/>
            <a:ext cx="3304032" cy="822960"/>
          </a:xfrm>
          <a:prstGeom prst="roundRect">
            <a:avLst>
              <a:gd name="adj" fmla="val 11111"/>
            </a:avLst>
          </a:prstGeom>
          <a:solidFill>
            <a:srgbClr val="E7F0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56176" y="1344168"/>
            <a:ext cx="3157728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Commande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14488" y="1645920"/>
            <a:ext cx="109728" cy="0"/>
          </a:xfrm>
          <a:prstGeom prst="line">
            <a:avLst/>
          </a:prstGeom>
          <a:noFill/>
          <a:ln w="17780">
            <a:solidFill>
              <a:srgbClr val="1D4E8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851648" y="1234440"/>
            <a:ext cx="3304032" cy="822960"/>
          </a:xfrm>
          <a:prstGeom prst="roundRect">
            <a:avLst>
              <a:gd name="adj" fmla="val 11111"/>
            </a:avLst>
          </a:prstGeom>
          <a:solidFill>
            <a:srgbClr val="E9F7E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24800" y="1344168"/>
            <a:ext cx="3157728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LigneCommande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0574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association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20840" y="205740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composition forte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971800"/>
            <a:ext cx="33375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099816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Association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4128" y="3429000"/>
            <a:ext cx="2935224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Lien durable entre deux objets.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Ex : une commande référence un client.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4434840" y="2971800"/>
            <a:ext cx="33375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099816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Composition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36008" y="3429000"/>
            <a:ext cx="2935224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La partie appartient au tout.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Ex : une ligne appartient à une commande.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8046720" y="2971800"/>
            <a:ext cx="3337560" cy="1417320"/>
          </a:xfrm>
          <a:prstGeom prst="roundRect">
            <a:avLst>
              <a:gd name="adj" fmla="val 7742"/>
            </a:avLst>
          </a:prstGeom>
          <a:solidFill>
            <a:srgbClr val="FFF7E6"/>
          </a:solidFill>
          <a:ln w="12700">
            <a:solidFill>
              <a:srgbClr val="FBD38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3099816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Vigilance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47888" y="3429000"/>
            <a:ext cx="2935224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Ne pas dessiner une navigation bidirectionnelle sans cas d’usage.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Multiplicités UML = règles potentielles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Les multiplicités peuvent révéler des invariants.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25780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F4B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99616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Lecture UML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1828800"/>
            <a:ext cx="4855464" cy="3840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1 : exactement un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0..1 : optionnel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1..* : au moins un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* : zéro à plusieurs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291072" y="1371600"/>
            <a:ext cx="525780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A9D9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499616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Question métier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1828800"/>
            <a:ext cx="4855464" cy="3840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Commande 1..* LigneCommande :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Est-ce vrai dès la création ?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Ou seulement au moment de valider ?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Quand une multiplicité est importante, le code doit aussi la protéger.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Diagramme de séquence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Il montre la collaboration dans le temps.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02631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298448"/>
            <a:ext cx="1880006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IHM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85262" y="1531620"/>
            <a:ext cx="109728" cy="0"/>
          </a:xfrm>
          <a:prstGeom prst="line">
            <a:avLst/>
          </a:prstGeom>
          <a:noFill/>
          <a:ln w="17780">
            <a:solidFill>
              <a:srgbClr val="1D4E89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22422" y="1188720"/>
            <a:ext cx="2026310" cy="685800"/>
          </a:xfrm>
          <a:prstGeom prst="roundRect">
            <a:avLst>
              <a:gd name="adj" fmla="val 13333"/>
            </a:avLst>
          </a:prstGeom>
          <a:solidFill>
            <a:srgbClr val="E7F0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95574" y="1298448"/>
            <a:ext cx="1880006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ValiderCommande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76165" y="1531620"/>
            <a:ext cx="109728" cy="0"/>
          </a:xfrm>
          <a:prstGeom prst="line">
            <a:avLst/>
          </a:prstGeom>
          <a:noFill/>
          <a:ln w="17780">
            <a:solidFill>
              <a:srgbClr val="1D4E8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13325" y="1188720"/>
            <a:ext cx="2026310" cy="685800"/>
          </a:xfrm>
          <a:prstGeom prst="roundRect">
            <a:avLst>
              <a:gd name="adj" fmla="val 13333"/>
            </a:avLst>
          </a:prstGeom>
          <a:solidFill>
            <a:srgbClr val="E9F7E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86477" y="1298448"/>
            <a:ext cx="1880006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Commande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67067" y="1531620"/>
            <a:ext cx="109728" cy="0"/>
          </a:xfrm>
          <a:prstGeom prst="line">
            <a:avLst/>
          </a:prstGeom>
          <a:noFill/>
          <a:ln w="17780">
            <a:solidFill>
              <a:srgbClr val="1D4E8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04227" y="1188720"/>
            <a:ext cx="2026310" cy="685800"/>
          </a:xfrm>
          <a:prstGeom prst="roundRect">
            <a:avLst>
              <a:gd name="adj" fmla="val 13333"/>
            </a:avLst>
          </a:prstGeom>
          <a:solidFill>
            <a:srgbClr val="FFF7E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77379" y="1298448"/>
            <a:ext cx="1880006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PaiementPort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357970" y="1531620"/>
            <a:ext cx="109728" cy="0"/>
          </a:xfrm>
          <a:prstGeom prst="line">
            <a:avLst/>
          </a:prstGeom>
          <a:noFill/>
          <a:ln w="17780">
            <a:solidFill>
              <a:srgbClr val="1D4E8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495130" y="1188720"/>
            <a:ext cx="202631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68282" y="1298448"/>
            <a:ext cx="1880006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Repository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242316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FDECEC"/>
          </a:solidFill>
          <a:ln w="12700">
            <a:solidFill>
              <a:srgbClr val="F4B4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2551176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Mauvais signal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78408" y="2880360"/>
            <a:ext cx="4764024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Le contrôleur appelle 20 getters puis prend toutes les décisions.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Les objets métier deviennent passifs.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263640" y="242316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E9F7EF"/>
          </a:solidFill>
          <a:ln w="12700">
            <a:solidFill>
              <a:srgbClr val="A9D9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2551176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Meilleur signal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64808" y="2880360"/>
            <a:ext cx="4764024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Le cas d’usage orchestre.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Commande protège ses règles.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PaiementPort matérialise la frontière externe.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Un bon diagramme de séquence distingue orchestration, métier et détails techniques.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Analyse, conception, implémentation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Ne pas mélanger règle métier et détail de framework.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53896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Analyse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32688" y="1783080"/>
            <a:ext cx="3026664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Que doit être vrai ?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“Une commande payée peut être expédiée.”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389120" y="132588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453896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Conception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90288" y="1783080"/>
            <a:ext cx="3026664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Qui porte la règle ?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Commande + ValiderCommande + PaiementPort.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046720" y="132588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453896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Implémentation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47888" y="1783080"/>
            <a:ext cx="3026664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Avec quels mécanismes ?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Java, Spring, JPA, REST.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1371600" y="4160520"/>
            <a:ext cx="2999232" cy="822960"/>
          </a:xfrm>
          <a:prstGeom prst="roundRect">
            <a:avLst>
              <a:gd name="adj" fmla="val 11111"/>
            </a:avLst>
          </a:prstGeom>
          <a:solidFill>
            <a:srgbClr val="E9F7E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44752" y="4270248"/>
            <a:ext cx="2852928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Règle métier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98264" y="4572000"/>
            <a:ext cx="109728" cy="0"/>
          </a:xfrm>
          <a:prstGeom prst="line">
            <a:avLst/>
          </a:prstGeom>
          <a:noFill/>
          <a:ln w="17780">
            <a:solidFill>
              <a:srgbClr val="1D4E8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35424" y="4160520"/>
            <a:ext cx="2999232" cy="822960"/>
          </a:xfrm>
          <a:prstGeom prst="roundRect">
            <a:avLst>
              <a:gd name="adj" fmla="val 11111"/>
            </a:avLst>
          </a:prstGeom>
          <a:solidFill>
            <a:srgbClr val="E7F0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4270248"/>
            <a:ext cx="2852928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Responsabilités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62088" y="4572000"/>
            <a:ext cx="109728" cy="0"/>
          </a:xfrm>
          <a:prstGeom prst="line">
            <a:avLst/>
          </a:prstGeom>
          <a:noFill/>
          <a:ln w="17780">
            <a:solidFill>
              <a:srgbClr val="1D4E8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99248" y="4160520"/>
            <a:ext cx="2999232" cy="822960"/>
          </a:xfrm>
          <a:prstGeom prst="roundRect">
            <a:avLst>
              <a:gd name="adj" fmla="val 11111"/>
            </a:avLst>
          </a:prstGeom>
          <a:solidFill>
            <a:srgbClr val="FFF7E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4270248"/>
            <a:ext cx="2852928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Code concret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Séparer ces niveaux évite de confondre contrainte technique et règle métier.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Polymorphisme et switch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Un switch n’est pas automatiquement contraire à OCP.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25780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50876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5905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E7D32"/>
                </a:solidFill>
              </a:rPr>
              <a:t>ACCEPTABLE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804672" y="1920240"/>
            <a:ext cx="492861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switch (statut)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case PAYEE -&gt; "payée";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case EXPEDIEE -&gt; "expédiée";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un seul endroit, stable, lisible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25780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3368" y="150876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55905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C62828"/>
                </a:solidFill>
              </a:rPr>
              <a:t>SUSPECT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6428232" y="1920240"/>
            <a:ext cx="492861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switch (typeRemise) { ... } // panier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switch (typeRemise) { ... } // facture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switch (typeRemise) { ... } // export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même variation copiée partout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Le problème n’est pas le mot switch : c’est la variation dispersée ou changeante.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OCP : Open/Closed Principle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Ajouter une variante sans rouvrir le coeur stable.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257800" cy="3794760"/>
          </a:xfrm>
          <a:prstGeom prst="roundRect">
            <a:avLst>
              <a:gd name="adj" fmla="val 241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1732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6761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C62828"/>
                </a:solidFill>
              </a:rPr>
              <a:t>MAUVAIS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804672" y="1828800"/>
            <a:ext cx="4928616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PaiementService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payer(Type type, Money montant)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switch (type)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case CARTE -&gt; stripe.payer(montant);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case PAYPAL -&gt; paypal.payer(montant);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263640" y="1325880"/>
            <a:ext cx="5257800" cy="3794760"/>
          </a:xfrm>
          <a:prstGeom prst="roundRect">
            <a:avLst>
              <a:gd name="adj" fmla="val 241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3368" y="141732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46761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E7D32"/>
                </a:solidFill>
              </a:rPr>
              <a:t>MIEUX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6428232" y="1828800"/>
            <a:ext cx="4928616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MoyenPaiement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payer(Money montant);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PaiementService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payer(MoyenPaiement moyen, Money montant)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moyen.payer(montant);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OCP = ajouter une nouvelle classe plutôt que modifier une classe qui fonctionne déjà.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OCP n’est pas gratuit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Une abstraction doit acheter quelque chose.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25780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F4B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99616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À éviter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1828800"/>
            <a:ext cx="4855464" cy="3840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• interface devant chaque classe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plug-in pour un futur imaginaire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factory géante qui cache 40 conditions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contrat qui expose un SDK externe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291072" y="1371600"/>
            <a:ext cx="525780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A9D9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499616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À vérifier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1828800"/>
            <a:ext cx="4855464" cy="3840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• la variation est-elle réelle ?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est-elle répétée ?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coûte-t-elle cher à modifier ?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le contrat est-il stable pour le client ?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OCP est un principe de gestion du changement, pas une métrique du nombre d’interfaces.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Héritage : intention avant mécanisme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extends exprime un contrat de substituabilité, pas juste du copier-coller.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5257800" cy="3611880"/>
          </a:xfrm>
          <a:prstGeom prst="roundRect">
            <a:avLst>
              <a:gd name="adj" fmla="val 253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44752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95044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C62828"/>
                </a:solidFill>
              </a:rPr>
              <a:t>MAUVAIS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804672" y="1856232"/>
            <a:ext cx="4928616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CommandeVIP extends Commande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// juste pour réutiliser calculerTotal()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CommandePromo extends Commande { ... }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263640" y="1353312"/>
            <a:ext cx="5257800" cy="3611880"/>
          </a:xfrm>
          <a:prstGeom prst="roundRect">
            <a:avLst>
              <a:gd name="adj" fmla="val 253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3368" y="1444752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495044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E7D32"/>
                </a:solidFill>
              </a:rPr>
              <a:t>MIEUX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6428232" y="1856232"/>
            <a:ext cx="4928616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RegleEligibilite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boolean estEligible(Candidat c);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AgeMinimum implements RegleEligibilite { ...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DiplomeRequis implements RegleEligibilite { ... }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Question avant extends : le sous-type peut-il remplacer le parent sans cas spécial 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Hiérarchie fragile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Attention aux protocoles implicites dans la classe mère.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32588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37617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C62828"/>
                </a:solidFill>
              </a:rPr>
              <a:t>MAUVAIS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804672" y="1737360"/>
            <a:ext cx="4928616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abstract class Exporteur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protected List&lt;String&gt; lignes = new ArrayList&lt;&gt;();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final byte[] exporter()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preparer();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return encoder();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protected abstract void preparer();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protected abstract byte[] encoder();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263640" y="123444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3368" y="132588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37617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E7D32"/>
                </a:solidFill>
              </a:rPr>
              <a:t>MIEUX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6428232" y="1737360"/>
            <a:ext cx="4928616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Exporteur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final ProducteurLignes producteur;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final Encodeur encodeur;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byte[] exporter()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return encodeur.encoder(producteur.produire());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Si l’enfant doit connaître l’ordre interne du parent, le couplage est fort.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Composition : varier sans multiplier les sous-classes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La composition isole les comportements indépendants.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257800" cy="3749040"/>
          </a:xfrm>
          <a:prstGeom prst="roundRect">
            <a:avLst>
              <a:gd name="adj" fmla="val 243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1732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6761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C62828"/>
                </a:solidFill>
              </a:rPr>
              <a:t>MAUVAIS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804672" y="1828800"/>
            <a:ext cx="4928616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CommandeVIPExpressInternationale extends Commande {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CommandeVIPRelaisFrance extends Commande {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CommandeStandardExpressFrance extends Commande {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explosion de combinaisons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263640" y="1325880"/>
            <a:ext cx="5257800" cy="3749040"/>
          </a:xfrm>
          <a:prstGeom prst="roundRect">
            <a:avLst>
              <a:gd name="adj" fmla="val 243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3368" y="141732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46761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E7D32"/>
                </a:solidFill>
              </a:rPr>
              <a:t>MIEUX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6428232" y="1828800"/>
            <a:ext cx="4928616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Commande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PolitiqueRemise remise;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PolitiqueTaxe taxe;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ModeLivraison livraison;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Money total() { ...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Préférer la composition quand plusieurs dimensions varient indépendamment.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Arbitrer héritage ou composition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La bonne réponse dépend de la variation.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07492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53896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Héritage plutôt si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32688" y="1783080"/>
            <a:ext cx="4672584" cy="3337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• relation “est un” vraie pour le contrat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sous-types substituables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hiérarchie courte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comportement commun stable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355080" y="1325880"/>
            <a:ext cx="507492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453896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Composition plutôt si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56248" y="1783080"/>
            <a:ext cx="4672584" cy="3337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• comportement remplaçable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combinaison de variantes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changement à l’exécution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on veut éviter l’état interne du parent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Ne pas conclure “composition” sans nommer le comportement extrait et pourquoi il varie.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LSP : Liskov Substitution Principle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Une classe fille doit pouvoir remplacer sa classe mère sans casser le programme.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257800" cy="3749040"/>
          </a:xfrm>
          <a:prstGeom prst="roundRect">
            <a:avLst>
              <a:gd name="adj" fmla="val 243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1732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6761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C62828"/>
                </a:solidFill>
              </a:rPr>
              <a:t>MAUVAIS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804672" y="1828800"/>
            <a:ext cx="4928616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Oiseau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voler() { ...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Pingouin extends Oiseau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voler()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throw new RuntimeException("Je ne vole pas");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263640" y="1325880"/>
            <a:ext cx="5257800" cy="3749040"/>
          </a:xfrm>
          <a:prstGeom prst="roundRect">
            <a:avLst>
              <a:gd name="adj" fmla="val 243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3368" y="141732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46761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E7D32"/>
                </a:solidFill>
              </a:rPr>
              <a:t>MIEUX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6428232" y="1828800"/>
            <a:ext cx="4928616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Animal { void manger();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OiseauVolant { void voler(); }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Pingouin implements Animal { ...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Aigle implements Animal, OiseauVolant { ... }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LSP = pas besoin de if spécial quand on remplace le parent par l’enfant.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LSP : Rectangle / Carré mutable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Une relation mathématique ne suffit pas.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257800" cy="365760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1732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6761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C62828"/>
                </a:solidFill>
              </a:rPr>
              <a:t>PROBLÈME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804672" y="1828800"/>
            <a:ext cx="4928616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void redimensionner(Rectangle r)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r.setLargeur(5);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r.setHauteur(4);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assert r.aire() == 20;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Avec Carré, largeur et hauteur restent liées.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263640" y="1325880"/>
            <a:ext cx="5257800" cy="365760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3368" y="141732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46761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E7D32"/>
                </a:solidFill>
              </a:rPr>
              <a:t>MIEUX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6428232" y="1828800"/>
            <a:ext cx="4928616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Forme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int aire();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Rectangle implements Forme { ...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Carre implements Forme { ... }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Pas de setters contradictoires.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Le contrat logiciel offert au client est plus important que la classification du monde réel.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LSP : préconditions, postconditions, invariants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Le sous-type doit conserver les promesses observables.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99616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Précondition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86968" y="1828800"/>
            <a:ext cx="3026664" cy="2148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Le sous-type ne doit pas demander davantage au client.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Parent : montant &gt; 0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Sous-type interdit : montant &gt;= 100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389120" y="137160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499616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Postcondition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90288" y="1828800"/>
            <a:ext cx="3026664" cy="2148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Le sous-type ne doit pas promettre moins.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Parent : résultat non null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Sous-type interdit : null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092440" y="137160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499616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Invariant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93608" y="1828800"/>
            <a:ext cx="3026664" cy="2148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Le sous-type doit préserver l’état cohérent promis par le parent.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Ex : solde cohérent, liste triée.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Un code peut compiler et quand même violer LSP.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Opération non supportée = mauvaise odeur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Souvent, le contrat parent est trop large.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5257800" cy="4343400"/>
          </a:xfrm>
          <a:prstGeom prst="roundRect">
            <a:avLst>
              <a:gd name="adj" fmla="val 21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23444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28473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C62828"/>
                </a:solidFill>
              </a:rPr>
              <a:t>MAUVAIS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804672" y="1645920"/>
            <a:ext cx="4928616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Fichier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byte[] lire();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ecrire(byte[] data);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FichierLectureSeule implements Fichier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public void ecrire(byte[] data)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throw new UnsupportedOperationException();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263640" y="1143000"/>
            <a:ext cx="5257800" cy="4343400"/>
          </a:xfrm>
          <a:prstGeom prst="roundRect">
            <a:avLst>
              <a:gd name="adj" fmla="val 21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3368" y="123444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28473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E7D32"/>
                </a:solidFill>
              </a:rPr>
              <a:t>MIEUX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6428232" y="1645920"/>
            <a:ext cx="4928616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Lecteur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byte[] lire();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Ecrivain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ecrire(byte[] data);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FichierLectureSeule implements Lecteur {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FichierModifiable implements Lecteur, Ecrivain { }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Séparer les capacités prépare directement ISP au Jour 2.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OCP et LSP ensemble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OCP ouvre une extension ; LSP garantit qu’elle est sûre.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2459736" cy="822960"/>
          </a:xfrm>
          <a:prstGeom prst="roundRect">
            <a:avLst>
              <a:gd name="adj" fmla="val 11111"/>
            </a:avLst>
          </a:prstGeom>
          <a:solidFill>
            <a:srgbClr val="E7F0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389888"/>
            <a:ext cx="231343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Client stable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01568" y="1691640"/>
            <a:ext cx="109728" cy="0"/>
          </a:xfrm>
          <a:prstGeom prst="line">
            <a:avLst/>
          </a:prstGeom>
          <a:noFill/>
          <a:ln w="17780">
            <a:solidFill>
              <a:srgbClr val="1D4E89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538728" y="1280160"/>
            <a:ext cx="2459736" cy="822960"/>
          </a:xfrm>
          <a:prstGeom prst="roundRect">
            <a:avLst>
              <a:gd name="adj" fmla="val 11111"/>
            </a:avLst>
          </a:prstGeom>
          <a:solidFill>
            <a:srgbClr val="E9F7E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389888"/>
            <a:ext cx="231343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Contrat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896" y="1691640"/>
            <a:ext cx="109728" cy="0"/>
          </a:xfrm>
          <a:prstGeom prst="line">
            <a:avLst/>
          </a:prstGeom>
          <a:noFill/>
          <a:ln w="17780">
            <a:solidFill>
              <a:srgbClr val="1D4E8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163056" y="1280160"/>
            <a:ext cx="2459736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6208" y="1389888"/>
            <a:ext cx="231343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Implémentation 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50224" y="1691640"/>
            <a:ext cx="109728" cy="0"/>
          </a:xfrm>
          <a:prstGeom prst="line">
            <a:avLst/>
          </a:prstGeom>
          <a:noFill/>
          <a:ln w="17780">
            <a:solidFill>
              <a:srgbClr val="1D4E8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787384" y="1280160"/>
            <a:ext cx="2459736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0536" y="1389888"/>
            <a:ext cx="231343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Implémentation 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2743200"/>
            <a:ext cx="5029200" cy="1600200"/>
          </a:xfrm>
          <a:prstGeom prst="roundRect">
            <a:avLst>
              <a:gd name="adj" fmla="val 6857"/>
            </a:avLst>
          </a:prstGeom>
          <a:solidFill>
            <a:srgbClr val="FDECEC"/>
          </a:solidFill>
          <a:ln w="12700">
            <a:solidFill>
              <a:srgbClr val="F4B4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871216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Sans LSP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3200400"/>
            <a:ext cx="462686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Chaque nouvelle implémentation force le client à ajouter des exceptions et des if spéciaux.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6309360" y="2743200"/>
            <a:ext cx="5029200" cy="1600200"/>
          </a:xfrm>
          <a:prstGeom prst="roundRect">
            <a:avLst>
              <a:gd name="adj" fmla="val 6857"/>
            </a:avLst>
          </a:prstGeom>
          <a:solidFill>
            <a:srgbClr val="E9F7EF"/>
          </a:solidFill>
          <a:ln w="12700">
            <a:solidFill>
              <a:srgbClr val="A9D9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871216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Avec LSP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10528" y="3200400"/>
            <a:ext cx="462686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Toutes les implémentations respectent le même contrat observable. L’extension reste transparente.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Un point d’extension OCP n’est utile que si ses variantes respectent le contrat.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Couplage : mesurer la dépendance réelle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Le couplage n’est pas seulement une histoire d’imports.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257800" cy="3520440"/>
          </a:xfrm>
          <a:prstGeom prst="roundRect">
            <a:avLst>
              <a:gd name="adj" fmla="val 25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6304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1333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C62828"/>
                </a:solidFill>
              </a:rPr>
              <a:t>COUPLAGE STRUCTUREL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804672" y="1874520"/>
            <a:ext cx="4928616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ValiderCommande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StripeClient stripe = new StripeClient();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valider(Commande c)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stripe.charge(c.total());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257800" cy="3520440"/>
          </a:xfrm>
          <a:prstGeom prst="roundRect">
            <a:avLst>
              <a:gd name="adj" fmla="val 25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3368" y="146304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51333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E7D32"/>
                </a:solidFill>
              </a:rPr>
              <a:t>MOINS COUPLÉ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6428232" y="1874520"/>
            <a:ext cx="4928616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ValiderCommande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final PaiementPort paiements;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valider(Commande c)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paiements.autoriser(c.id(), c.total());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914400" y="5166360"/>
            <a:ext cx="104241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5294376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Question pratique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5623560"/>
            <a:ext cx="10021824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Si Stripe change, combien de décisions clientes dois-je revoir ?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Couplage implicite : temps, globals, singletons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Certaines dépendances ne se voient pas dans le constructeur.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257800" cy="3749040"/>
          </a:xfrm>
          <a:prstGeom prst="roundRect">
            <a:avLst>
              <a:gd name="adj" fmla="val 243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1732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6761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C62828"/>
                </a:solidFill>
              </a:rPr>
              <a:t>MAUVAIS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804672" y="1828800"/>
            <a:ext cx="4928616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PenaliteService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Money calculer(Commande c)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if (LocalDateTime.now().isAfter(c.dateLimite()))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return Money.euros(10);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return Money.zero();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263640" y="1325880"/>
            <a:ext cx="5257800" cy="3749040"/>
          </a:xfrm>
          <a:prstGeom prst="roundRect">
            <a:avLst>
              <a:gd name="adj" fmla="val 243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3368" y="141732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46761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E7D32"/>
                </a:solidFill>
              </a:rPr>
              <a:t>MIEUX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6428232" y="1828800"/>
            <a:ext cx="4928616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PenaliteService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final Clock clock;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Money calculer(Commande c)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if (LocalDateTime.now(clock).isAfter(c.dateLimite()))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return Money.euros(10);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return Money.zero();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Rendre la dépendance explicite rend le code plus testable et plus honnête.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Couplage de données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Ne pas donner tout l’objet quand le client n’a besoin que d’une partie.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25780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0020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5049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C62828"/>
                </a:solidFill>
              </a:rPr>
              <a:t>MAUVAIS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804672" y="2011680"/>
            <a:ext cx="492861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PaiementService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Autorisation payer(Commande commande)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// utilise seulement id + total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25780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3368" y="160020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65049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E7D32"/>
                </a:solidFill>
              </a:rPr>
              <a:t>MIEUX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6428232" y="2011680"/>
            <a:ext cx="492861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record DemandePaiement(CommandeId id, Money montant) {}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PaiementService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Autorisation payer(DemandePaiement demande) { ...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Réduire une dépendance peut simplement vouloir dire transmettre le plus petit concept utile.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Cohésion : une classe doit raconter une histoire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La taille n’est pas le vrai problème ; le nombre de raisons de changer l’est.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207008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298448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348740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C62828"/>
                </a:solidFill>
              </a:rPr>
              <a:t>FAIBLE COHÉSION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804672" y="1709928"/>
            <a:ext cx="4928616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OrderManager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createOrder() {}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calculatePrice() {}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saveOrder() {}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sendConfirmation() {}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exportInvoice() {}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purgeOldOrders() {}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263640" y="1207008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3368" y="1298448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348740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E7D32"/>
                </a:solidFill>
              </a:rPr>
              <a:t>MIEUX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6428232" y="1709928"/>
            <a:ext cx="4928616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Commande { Money total();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ValiderCommande { void executer();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NotificationCommande { void envoyer();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FactureExporter { void exporter(); }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Regrouper les méthodes par raison de changement révèle souvent les responsabilités cachées.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Découper les responsabilités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Quatre questions très efficaces.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51206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62456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1. Qui possède l’information 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32688" y="1691640"/>
            <a:ext cx="471830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Ex : Commande possède ses lignes et son statut.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309360" y="1234440"/>
            <a:ext cx="51206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362456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2. Qui garantit l’invariant 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0528" y="1691640"/>
            <a:ext cx="471830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Ex : Commande refuse expédier si non payée.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51206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16936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3. Qui coordonne plusieurs objets 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3246120"/>
            <a:ext cx="471830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Ex : ValiderCommande orchestre paiement + sauvegarde.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309360" y="2788920"/>
            <a:ext cx="51206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916936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4. Quel détail externe isoler 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10528" y="3246120"/>
            <a:ext cx="471830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Ex : PaiementPort cache Stripe/PayPal.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On ne découpe pas pour avoir plus de classes : on découpe pour localiser les décisions.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Modèle anémique : symptôme classique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Le service lit tout et décide à la place de l’objet métier.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32588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37617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C62828"/>
                </a:solidFill>
              </a:rPr>
              <a:t>MAUVAIS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804672" y="1737360"/>
            <a:ext cx="4928616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void expedier(Commande c)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if (!c.isPayee()) throw new Error();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if (c.getLignes().isEmpty()) throw new Error();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c.setStatut("EXPEDIEE");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repository.save(c);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263640" y="123444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3368" y="132588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37617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E7D32"/>
                </a:solidFill>
              </a:rPr>
              <a:t>MIEUX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6428232" y="1737360"/>
            <a:ext cx="4928616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Commande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expedier()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if (statut != PAYEE) throw new CommandeNonPayee();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if (lignes.isEmpty()) throw new CommandeVide();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statut = EXPEDIEE;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commande.expedier();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Rapprocher la règle de l’information réduit la duplication métier.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États : éviter les booléens contradictoires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Plusieurs booléens autorisent des combinaisons impossibles.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257800" cy="3429000"/>
          </a:xfrm>
          <a:prstGeom prst="roundRect">
            <a:avLst>
              <a:gd name="adj" fmla="val 2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50876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5905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C62828"/>
                </a:solidFill>
              </a:rPr>
              <a:t>MAUVAIS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804672" y="1920240"/>
            <a:ext cx="4928616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Commande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boolean payee;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boolean annulee;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boolean expediee;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payee=false, expediee=true, annulee=true ?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257800" cy="3429000"/>
          </a:xfrm>
          <a:prstGeom prst="roundRect">
            <a:avLst>
              <a:gd name="adj" fmla="val 2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3368" y="150876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55905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E7D32"/>
                </a:solidFill>
              </a:rPr>
              <a:t>MIEUX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6428232" y="1920240"/>
            <a:ext cx="4928616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enum Statut { BROUILLON, PAYEE, EXPEDIEE, ANNULEE }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Commande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payer() { ...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expedier() { ...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annuler() { ...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Nommer les transitions est souvent plus clair que multiplier les flags.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coût du changement comme boussole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Une bonne conception localise les impacts.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442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62456"/>
            <a:ext cx="10378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Scénario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32688" y="1691640"/>
            <a:ext cx="1034186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Ajouter un nouveau moyen de paiement : Apple Pay.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5074920" cy="2011680"/>
          </a:xfrm>
          <a:prstGeom prst="roundRect">
            <a:avLst>
              <a:gd name="adj" fmla="val 5455"/>
            </a:avLst>
          </a:prstGeom>
          <a:solidFill>
            <a:srgbClr val="FDECEC"/>
          </a:solidFill>
          <a:ln w="12700">
            <a:solidFill>
              <a:srgbClr val="F4B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51176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Mauvais signe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2880360"/>
            <a:ext cx="4672584" cy="1417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Modifier contrôleur + service + enum + 3 switch + tests non liés.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6355080" y="2423160"/>
            <a:ext cx="5074920" cy="2011680"/>
          </a:xfrm>
          <a:prstGeom prst="roundRect">
            <a:avLst>
              <a:gd name="adj" fmla="val 5455"/>
            </a:avLst>
          </a:prstGeom>
          <a:solidFill>
            <a:srgbClr val="E9F7EF"/>
          </a:solidFill>
          <a:ln w="12700">
            <a:solidFill>
              <a:srgbClr val="A9D9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551176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Meilleur signe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56248" y="2880360"/>
            <a:ext cx="4672584" cy="1417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Ajouter ApplePayAdapter derrière PaiementPort + mapping de création.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Avant de coder, simuler mentalement 2 ou 3 changements plausibles.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TP J1 : découpage des responsabilités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Commencer par les invariants et scénarios de changement.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62456"/>
            <a:ext cx="49834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Travail demandé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86968" y="1691640"/>
            <a:ext cx="4946904" cy="3977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• concepts principaux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entités / objets valeur / services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au moins 4 invariants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diagramme de classes simple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un axe OCP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deux attentes LSP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séquence validation/paiement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263640" y="123444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362456"/>
            <a:ext cx="49834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Critères de réussite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64808" y="1691640"/>
            <a:ext cx="4946904" cy="3977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• responsabilités lisibles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relations justifiées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orchestration distincte du métier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contrat d’extension explicite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compromis reconnu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Corrigé indicatif : responsabilités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Il n’y a pas un seul diagramme parfait, mais des responsabilités défendables.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2461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62456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Commande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86968" y="1691640"/>
            <a:ext cx="28437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lignes, total, statut, transitions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480560" y="1234440"/>
            <a:ext cx="32461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362456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Money / Adresse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81728" y="1691640"/>
            <a:ext cx="28437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objets valeur, règles locales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275320" y="1234440"/>
            <a:ext cx="32461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1362456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PolitiqueRemise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76488" y="1691640"/>
            <a:ext cx="28437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variation autonome de calcul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85800" y="2788920"/>
            <a:ext cx="32461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916936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ValiderCommande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" y="3246120"/>
            <a:ext cx="28437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orchestration du scénario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4480560" y="2788920"/>
            <a:ext cx="32461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916936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PaiementPort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81728" y="3246120"/>
            <a:ext cx="28437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capacité externe stable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8275320" y="2788920"/>
            <a:ext cx="32461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916936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Repository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76488" y="3246120"/>
            <a:ext cx="284378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frontière de persistance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Règles proches des informations ; variations explicites ; détails externes isolés.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de revue J1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Quelques questions suffisent pour déclencher la discussion.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106527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362456"/>
            <a:ext cx="10287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Questions clés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78408" y="1691640"/>
            <a:ext cx="10250424" cy="3977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• La classe a-t-elle une responsabilité en une phrase ?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Les invariants sont-ils protégés ?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Les setters exposent-ils des états incohérents ?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L’héritage garantit-il une vraie substituabilité ?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Les switch représentent-ils une variation réelle ?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Les dépendances externes sont-elles visibles ?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La classe a-t-elle plusieurs raisons de changer ?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Ne pas appliquer la checklist mécaniquement : chaque réponse doit être liée à un scénario.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rapide de fin J1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Répondre avec un exemple, pas seulement une définition.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5212080" cy="48006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62456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Questions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32688" y="1691640"/>
            <a:ext cx="4809744" cy="420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1. Pourquoi private ne suffit-il pas ?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2. Entité ou objet valeur : quelle différence ?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3. Quand un switch devient-il suspect ?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4. Pourquoi UnsupportedOperationException viole souvent LSP ?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5. Quand choisir la composition ?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6. Que mesure le faible couplage ?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7. Comment repérer une faible cohésion ?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263640" y="1234440"/>
            <a:ext cx="5212080" cy="48006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362456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Réponses attendues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64808" y="1691640"/>
            <a:ext cx="4809744" cy="420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• parler d’états invalides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parler d’identité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parler de variation dispersée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parler de contrat parent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parler de comportement indépendant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parler d’impact d’un changement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parler de raisons de changer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opérationnelle J1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Ce qu’il faut marteler au groupe.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74420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71016"/>
            <a:ext cx="10378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32688" y="1600200"/>
            <a:ext cx="10341864" cy="4023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• Une classe porte une responsabilité.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L’encapsulation protège les invariants.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UML sert à décider, pas à décorer.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L’héritage exige la substituabilité.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La composition isole des variations indépendantes.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OCP protège un axe de changement réel.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LSP protège les clients du contrat.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Couplage/cohésion limitent la propagation des changements.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Une bonne conception est un compromis explicable, pas l’application mécanique d’un catalogue.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Transition vers le Jour 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Le vocabulaire J1 devient la base des principes suivants.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3334512" cy="114300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527048"/>
            <a:ext cx="3188208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J1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Responsabilités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Contrats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Variations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76344" y="1988820"/>
            <a:ext cx="109728" cy="0"/>
          </a:xfrm>
          <a:prstGeom prst="line">
            <a:avLst/>
          </a:prstGeom>
          <a:noFill/>
          <a:ln w="17780">
            <a:solidFill>
              <a:srgbClr val="1D4E89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413504" y="1417320"/>
            <a:ext cx="3334512" cy="1143000"/>
          </a:xfrm>
          <a:prstGeom prst="roundRect">
            <a:avLst>
              <a:gd name="adj" fmla="val 8000"/>
            </a:avLst>
          </a:prstGeom>
          <a:solidFill>
            <a:srgbClr val="E7F0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6656" y="1527048"/>
            <a:ext cx="3188208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J2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DIP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ISP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GRASP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Packages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5448" y="1988820"/>
            <a:ext cx="109728" cy="0"/>
          </a:xfrm>
          <a:prstGeom prst="line">
            <a:avLst/>
          </a:prstGeom>
          <a:noFill/>
          <a:ln w="17780">
            <a:solidFill>
              <a:srgbClr val="1D4E8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912608" y="1417320"/>
            <a:ext cx="3334512" cy="1143000"/>
          </a:xfrm>
          <a:prstGeom prst="roundRect">
            <a:avLst>
              <a:gd name="adj" fmla="val 8000"/>
            </a:avLst>
          </a:prstGeom>
          <a:solidFill>
            <a:srgbClr val="FFF7E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85760" y="1527048"/>
            <a:ext cx="3188208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J3+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TDD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Patterns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80160" y="3246120"/>
            <a:ext cx="9601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3374136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</a:rPr>
              <a:t>Préparation simple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81328" y="3703320"/>
            <a:ext cx="9198864" cy="1417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0F172A"/>
                </a:solidFill>
              </a:rPr>
              <a:t>Choisir une classe réelle et noter :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sa responsabilité en une phrase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deux invariants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trois dépendances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un changement métier plausible</a:t>
            </a:r>
            <a:endParaRPr lang="en-US" sz="1220" dirty="0"/>
          </a:p>
          <a:p>
            <a:r>
              <a:rPr lang="en-US" sz="1220" dirty="0">
                <a:solidFill>
                  <a:srgbClr val="0F172A"/>
                </a:solidFill>
              </a:rPr>
              <a:t>• un changement technique plausible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2222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6085332"/>
            <a:ext cx="1046073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89"/>
                </a:solidFill>
              </a:rPr>
              <a:t>Le Jour 2 rendra plus systématiques les notions de dépendance, contrat et responsabilité.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J1 - Fondamentaux de la conception objet</dc:title>
  <dc:subject>J1 - Conception objet simplifiée</dc:subject>
  <dc:creator>OpenAI</dc:creator>
  <cp:lastModifiedBy>OpenAI</cp:lastModifiedBy>
  <cp:revision>1</cp:revision>
  <dcterms:created xsi:type="dcterms:W3CDTF">2026-09-08T05:06:39Z</dcterms:created>
  <dcterms:modified xsi:type="dcterms:W3CDTF">2026-09-08T05:06:39Z</dcterms:modified>
</cp:coreProperties>
</file>