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71323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Jour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20700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Développements pilotés par les tests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TDD, suites de tests, doubles de test, MDE et refactorisation sécurisée</a:t>
            </a:r>
            <a:endParaRPr lang="en-US" sz="1350" dirty="0"/>
          </a:p>
        </p:txBody>
      </p:sp>
      <p:pic>
        <p:nvPicPr>
          <p:cNvPr id="9" name="Image 0" descr="/mnt/data/j3_enriched_assets/02_red_green_refa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066256"/>
            <a:ext cx="3840480" cy="15093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4160520"/>
            <a:ext cx="23317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 conducteur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les tests comme outil de conception, pas seulement comme outil de vérification.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46120" y="4160520"/>
            <a:ext cx="23317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pratique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Construire progressivement des composants testables, isolés et refactorables.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4128" y="592531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Un bon test décrit un comportement. Une bonne conception rend ce comportement facile à tester.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pédagogiques du J3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Ce que les participants doivent savoir faire à la fin de la journée.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42900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TDD versus test après coup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Différence test unitaire/intégration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Rôle du cycle Red–Green–Refactor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70832" y="1417320"/>
            <a:ext cx="342900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Pratiquer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Écrire cas et suites de tests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Utiliser stubs, fakes et mocks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Attribuer les responsabilités via les tests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47304" y="1417320"/>
            <a:ext cx="342900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Concevoir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Identifier les dépendances à contrôler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Rendre un composant refactorable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Relier TDD, MDE et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4343400"/>
            <a:ext cx="1280160" cy="475488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99232" y="4581144"/>
            <a:ext cx="175564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73168" y="4343400"/>
            <a:ext cx="1417320" cy="475488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Design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4581144"/>
            <a:ext cx="168249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918704" y="4343400"/>
            <a:ext cx="1600200" cy="475488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Refactor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Le J3 transforme les principes du J2 en pratiques quotidiennes de développement.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Déroulé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Déroulé pédagogique de la journée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progression de la vérification vers la conception pilotée par les tests.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1143000" cy="713232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Réactivation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764792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929384" y="2542032"/>
            <a:ext cx="1143000" cy="713232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TDD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191256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55848" y="2542032"/>
            <a:ext cx="1143000" cy="713232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Cas de test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617720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782312" y="2542032"/>
            <a:ext cx="1143000" cy="713232"/>
          </a:xfrm>
          <a:prstGeom prst="rect">
            <a:avLst/>
          </a:prstGeom>
          <a:solidFill>
            <a:srgbClr val="EDE9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Doubles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044184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208776" y="2542032"/>
            <a:ext cx="1143000" cy="713232"/>
          </a:xfrm>
          <a:prstGeom prst="rect">
            <a:avLst/>
          </a:prstGeom>
          <a:solidFill>
            <a:srgbClr val="E0F2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MDE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70648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35240" y="2542032"/>
            <a:ext cx="1143000" cy="713232"/>
          </a:xfrm>
          <a:prstGeom prst="rect">
            <a:avLst/>
          </a:prstGeom>
          <a:solidFill>
            <a:srgbClr val="FEE2E2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Refactor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897112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061704" y="2542032"/>
            <a:ext cx="1143000" cy="713232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TP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0323576" y="2889504"/>
            <a:ext cx="23774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488168" y="2542032"/>
            <a:ext cx="1143000" cy="713232"/>
          </a:xfrm>
          <a:prstGeom prst="rect">
            <a:avLst/>
          </a:prstGeom>
          <a:solidFill>
            <a:srgbClr val="EDE9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</a:rPr>
              <a:t>Synthèse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66928" y="4005072"/>
            <a:ext cx="3337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TDD, cas de tests, suites, exemples JUnit et responsabilité des classes.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34256" y="4005072"/>
            <a:ext cx="3337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Après-midi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Doubles de test, dépendances contrôlables, MDE, refactorisation et TP complet.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01584" y="4005072"/>
            <a:ext cx="33375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Évaluation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Quiz, correction collective, checklist de revue et préparation du J4 sur les patterns.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Réactivation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Réactivation J2 — quiz flash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DIP, ISP, GRASP et packages reviennent dès que l’on écrit des tests.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50749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une dépendance directe vers une classe concrète complique-t-elle les tests 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0" y="1298448"/>
            <a:ext cx="50749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 différence entre interface utile et interface “fourre-tout” 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624328"/>
            <a:ext cx="50749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 principe GRASP aide à placer une responsabilité métier 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2624328"/>
            <a:ext cx="50749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4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un cycle de packages gêne-t-il les tests automatisés 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950208"/>
            <a:ext cx="50749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5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un Composition Root est-il plus testable qu’un Service Locator 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26480" y="3950208"/>
            <a:ext cx="50749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6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quel moment faut-il introduire une abstraction 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Le test révèle souvent plus vite les mauvais couplages qu’une revue de code théorique.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Jour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8483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Le TDD comme discipline de conception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269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Écrire un test avant le code oblige à préciser le comportement attendu.</a:t>
            </a:r>
            <a:endParaRPr lang="en-US" sz="1500" dirty="0"/>
          </a:p>
        </p:txBody>
      </p:sp>
      <p:pic>
        <p:nvPicPr>
          <p:cNvPr id="6" name="Image 0" descr="/mnt/data/j3_enriched_assets/02_red_green_refa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2" y="2620862"/>
            <a:ext cx="2670048" cy="10493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05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les tests pilotent-ils le design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Tester avant d’implémenter change la façon de découper le système.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1417320" cy="594360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Besoin métier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67712" y="2212848"/>
            <a:ext cx="97840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273552" y="1920240"/>
            <a:ext cx="2057400" cy="594360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Comportement observable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58384" y="2212848"/>
            <a:ext cx="93268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327648" y="1920240"/>
            <a:ext cx="1600200" cy="59436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 exécutable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2212848"/>
            <a:ext cx="93268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915400" y="1920240"/>
            <a:ext cx="1600200" cy="594360"/>
          </a:xfrm>
          <a:prstGeom prst="rect">
            <a:avLst/>
          </a:prstGeom>
          <a:solidFill>
            <a:srgbClr val="EDE9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Code minimal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" y="3657600"/>
            <a:ext cx="3108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 le code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test force à nommer le service, ses entrées, ses sorties, ses erreurs et ses frontières.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24528" y="3657600"/>
            <a:ext cx="3108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Pendant le code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test limite les détours : on écrit juste ce qui permet de faire passer le comportement attendu.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07808" y="3657600"/>
            <a:ext cx="3108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Après le code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test devient filet de sécurité pour améliorer nommage, responsabilités et dépendances.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Un code difficile à tester est souvent un code mal découpé, trop couplé ou trop implicite.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TDD versus test après coup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deux approches ne produisent pas le même type de feedback.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389888"/>
            <a:ext cx="5120640" cy="237744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après coup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 vérifie un design déjà choisi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 dépendances sont souvent déjà figées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 tests contournent la conception existante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Risque : tests fragiles et coûteux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389888"/>
            <a:ext cx="5120640" cy="237744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 clarifie le comportement avant le design final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 code doit être instanciable et isolable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 dépendances deviennent explicites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Bénéfice : design plus modulaire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4754880"/>
            <a:ext cx="1645920" cy="457200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Question clé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86200" y="4983480"/>
            <a:ext cx="269748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629400" y="4754880"/>
            <a:ext cx="29260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“Quel comportement dois-je prouver ?”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Niveaux de tests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Niveaux de tests : quel feedback cherche-t-on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Tous les tests ne répondent pas à la même question.</a:t>
            </a:r>
            <a:endParaRPr lang="en-US" sz="1050" dirty="0"/>
          </a:p>
        </p:txBody>
      </p:sp>
      <p:pic>
        <p:nvPicPr>
          <p:cNvPr id="8" name="Image 0" descr="/mnt/data/j3_enriched_assets/01_niveaux_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74490"/>
            <a:ext cx="4663440" cy="22175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96128" y="1298448"/>
            <a:ext cx="25603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Unitaire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composant fait-il correctement son travail isolé 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58200" y="1298448"/>
            <a:ext cx="25603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Intégration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composants collaborent-ils correctement 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96128" y="2880360"/>
            <a:ext cx="25603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système répond-il au scénario utilisateur 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58200" y="2880360"/>
            <a:ext cx="25603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frontières externes respectent-elles leurs promesses 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Le TDD travaille surtout sur le feedback rapide, stable et local.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unitaires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test unitaire : une loupe sur une responsabilité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test unitaire doit cibler une règle, pas rejouer toute l’application.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56048" y="2560320"/>
            <a:ext cx="2011680" cy="685800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Classe / service testé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633472"/>
            <a:ext cx="11887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Entrée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31136" y="2880360"/>
            <a:ext cx="2688336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961120" y="2633472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Sortie observable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95160" y="2880360"/>
            <a:ext cx="1929384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956048" y="4297680"/>
            <a:ext cx="2011680" cy="54864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Dépendance contrôlée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61888" y="4279392"/>
            <a:ext cx="0" cy="-100584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" y="1225296"/>
            <a:ext cx="29718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Bonne unité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comportement métier clair, observable et stable.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1225296"/>
            <a:ext cx="29718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Mauvaise unité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méthode privée, un détail SQL ou un ordre interne sans valeur métier.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Tester une responsabilité pousse naturellement vers une classe plus cohésive.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&amp; suites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Écrire des cas et des suites de tests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suite de tests doit raconter le comportement du composant.</a:t>
            </a:r>
            <a:endParaRPr lang="en-US" sz="1050" dirty="0"/>
          </a:p>
        </p:txBody>
      </p:sp>
      <p:pic>
        <p:nvPicPr>
          <p:cNvPr id="8" name="Image 0" descr="/mnt/data/j3_enriched_assets/05_organisation_su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500980"/>
            <a:ext cx="4206240" cy="1856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30368" y="1280160"/>
            <a:ext cx="27889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nominal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scénario attendu, le plus représentatif du métier.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94192" y="1280160"/>
            <a:ext cx="27889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limite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Borne, valeur vide, montant nul, taille maximale.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230368" y="2834640"/>
            <a:ext cx="27889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erreur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Précondition violée, dépendance indisponible, donnée incohérente.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394192" y="2834640"/>
            <a:ext cx="27889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régression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corrigé et figé pour éviter son retour.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Un bon nom de test sert presque de documentation exécutable.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de test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Arrange / Act / Assert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structure simple permet de lire le test comme une histoire.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2103120" cy="685800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Arrange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2487168"/>
            <a:ext cx="141732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709160" y="2148840"/>
            <a:ext cx="2103120" cy="685800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0" y="2487168"/>
            <a:ext cx="141732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321040" y="2148840"/>
            <a:ext cx="2103120" cy="68580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Assert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3063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Préparer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Données, dépendances, objet testé, contexte minimal.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35424" y="3822192"/>
            <a:ext cx="3063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seule action principale : appel de méthode, commande, use case.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47888" y="3822192"/>
            <a:ext cx="3063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Résultat, état observable ou interaction significative.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5230368"/>
            <a:ext cx="6583680" cy="713232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Arrange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order = orderWithTotal(100);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 total = discount.apply(order);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Assert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assertEquals(Money.euros(90), total);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list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test list : découper avant de coder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liste de tests remplace souvent une spécification trop vague.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261872"/>
            <a:ext cx="31089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— remise panier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panier &lt; 100 € : pas de remise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panier ≥ 100 € : -10 %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client premium : -15 %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coupon expiré : refusé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montant négatif : erreur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1609344"/>
            <a:ext cx="1691640" cy="548640"/>
          </a:xfrm>
          <a:prstGeom prst="rect">
            <a:avLst/>
          </a:prstGeom>
          <a:solidFill>
            <a:srgbClr val="FEE2E2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Besoin vague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36792" y="1883664"/>
            <a:ext cx="978408" cy="0"/>
          </a:xfrm>
          <a:prstGeom prst="line">
            <a:avLst/>
          </a:prstGeom>
          <a:noFill/>
          <a:ln w="2032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333488" y="1609344"/>
            <a:ext cx="1691640" cy="54864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Tests nommés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52560" y="1883664"/>
            <a:ext cx="91440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985248" y="1609344"/>
            <a:ext cx="1417320" cy="548640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Règles codées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2999232"/>
            <a:ext cx="2971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Bénéfice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priorise les comportements et on évite de coder une généralité inutile.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92440" y="2999232"/>
            <a:ext cx="2971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liste évolue : elle n’est pas un contrat figé mais une carte de progression.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La test list est le backlog microscopique du développeur.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Red–Green–Refactor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Red–Green–Refactor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cycle court qui évite le “big design upfront” et le code non vérifié.</a:t>
            </a:r>
            <a:endParaRPr lang="en-US" sz="1050" dirty="0"/>
          </a:p>
        </p:txBody>
      </p:sp>
      <p:pic>
        <p:nvPicPr>
          <p:cNvPr id="8" name="Image 0" descr="/mnt/data/j3_enriched_assets/02_red_green_refa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466898"/>
            <a:ext cx="4663440" cy="18327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32120" y="1325880"/>
            <a:ext cx="1874520" cy="1024128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Écrire un test qui échoue pour la bonne raison.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99248" y="1325880"/>
            <a:ext cx="1874520" cy="1024128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Écrire le minimum pour passer au vert.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866376" y="1325880"/>
            <a:ext cx="1874520" cy="1024128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Améliorer le design sans changer le comportement.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77840" y="3063240"/>
            <a:ext cx="5870448" cy="109728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(featureNotDone)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writeFailingTest();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makeItPassSimply();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refactorSafely();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La discipline vient de la boucle courte, pas de la quantité de framework utilisée.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Red — exprimer le comportement attendu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test rouge doit échouer parce que la fonctionnalité manque, pas à cause d’une erreur technique.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417320"/>
            <a:ext cx="5577840" cy="324612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premiumCustomerGetsFifteenPercentDiscount() {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 premium = Customer.premium();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order = orderWithTotal(200);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Money total = service.totalFor(premium, order);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assertEquals(Money.euros(170), total);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6629400" y="1417320"/>
            <a:ext cx="4389120" cy="98755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 test clarifie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Acteur, précondition, action, résultat attendu et vocabulaire métier.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788920"/>
            <a:ext cx="4389120" cy="98755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 fréquente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Écrire un test trop technique avant d’avoir nommé le comportement.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4160520"/>
            <a:ext cx="4389120" cy="98755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Critère de qualité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personne métier peut comprendre le nom du test sans lire toute l’implémentation.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Green — passer au vert sans surconcevoir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première implémentation peut être volontairement simple.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2743200" cy="132588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Autorisé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code naïf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condition simple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retour direct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duplication temporaire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94760" y="1444752"/>
            <a:ext cx="2743200" cy="132588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éviter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architecture prématurée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abstraction non motivée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optimisation précoce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framework inutile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95160" y="1325880"/>
            <a:ext cx="4343400" cy="342900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DiscountService {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Money totalFor(Customer customer, Order order) {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(customer.isPremium()) {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order.total().multiply(0.85);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order.total();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Le design robuste émerge après plusieurs tests, pas avant le premier comportement.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Refactor — améliorer sous filet de sécurité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On ne refactorise pas pour changer le comportement, mais pour rendre le code plus clair.</a:t>
            </a:r>
            <a:endParaRPr lang="en-US" sz="1050" dirty="0"/>
          </a:p>
        </p:txBody>
      </p:sp>
      <p:pic>
        <p:nvPicPr>
          <p:cNvPr id="8" name="Image 0" descr="/mnt/data/j3_enriched_assets/07_refactoring_fi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452798"/>
            <a:ext cx="4297680" cy="18152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1371600"/>
            <a:ext cx="19202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Nommage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Renommer pour faire apparaître le métier.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33488" y="1371600"/>
            <a:ext cx="19202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Extraire méthode, objet ou stratégie.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409176" y="1371600"/>
            <a:ext cx="19202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Injecter un port, isoler un service externe.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0" y="4023360"/>
            <a:ext cx="5394960" cy="566928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 test reste vert pendant que la structure change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assertEquals(Money.euros(170), total);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Sans tests, la refactorisation est un pari ; avec tests, elle devient une opération maîtrisée.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Jour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8483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Cas de tests, limites et suites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269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Passer d’une intention métier à un ensemble de preuves exécutables.</a:t>
            </a:r>
            <a:endParaRPr lang="en-US" sz="1500" dirty="0"/>
          </a:p>
        </p:txBody>
      </p:sp>
      <p:pic>
        <p:nvPicPr>
          <p:cNvPr id="6" name="Image 0" descr="/mnt/data/j3_enriched_assets/05_organisation_su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2" y="2556445"/>
            <a:ext cx="2670048" cy="11781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limites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Partitions d’équivalence et valeurs limites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On ne teste pas toutes les valeurs : on choisit des représentants utiles.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1325880" cy="566928"/>
          </a:xfrm>
          <a:prstGeom prst="rect">
            <a:avLst/>
          </a:prstGeom>
          <a:solidFill>
            <a:srgbClr val="FEE2E2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&lt; 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76272" y="2496312"/>
            <a:ext cx="93268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154680" y="2212848"/>
            <a:ext cx="1325880" cy="566928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07992" y="2496312"/>
            <a:ext cx="93268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486400" y="2212848"/>
            <a:ext cx="13258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1 à 99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39712" y="2496312"/>
            <a:ext cx="93268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818120" y="2212848"/>
            <a:ext cx="1325880" cy="566928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100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71432" y="2496312"/>
            <a:ext cx="93268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149840" y="2212848"/>
            <a:ext cx="1325880" cy="566928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&gt; 100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3730752"/>
            <a:ext cx="30175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de valeurs censées déclencher le même comportement.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26280" y="3730752"/>
            <a:ext cx="30175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 où le comportement change : 0, 100, date d’expiration.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0" y="3730752"/>
            <a:ext cx="30175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 impossible ou interdite qui doit produire une réponse maîtrisée.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paramétrés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Tests paramétrés : couvrir les variantes sans dupliquer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Même règle, plusieurs exemples représentatifs.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5669280" cy="420624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@ParameterizedTest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@CsvSource({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"99, 99",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"100, 90",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"250, 225"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appliesTenPercentFromOneHundred(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initial, int expected)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Money total = service.totalFor(order(initial));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assertEquals(Money.euros(expected), total);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6812280" y="141732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adapté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plusieurs entrées d’une même règle sans répéter tout le code du test.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12280" y="278892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chaque ligne nécessite une explication différente, il faut probablement plusieurs tests nommés.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12280" y="416052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 réflexe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Garder le nom du test lisible et les paramètres simples.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Assertions : vérifier le comportement, pas l’implémentation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assertion stable se place au niveau de ce que l’utilisateur du composant observe.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3246120" cy="132588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Assertions robustes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résultat calculé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exception métier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événement publié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état observable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80560" y="1325880"/>
            <a:ext cx="3246120" cy="132588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Assertions fragiles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ordre interne inutile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appel technique sans valeur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variable privée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message de log non critique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0" y="1325880"/>
            <a:ext cx="324612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je change l’algorithme sans changer la règle, le test doit-il échouer 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4206240"/>
            <a:ext cx="2103120" cy="548640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Comportement métier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77640" y="4480560"/>
            <a:ext cx="1508760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532120" y="4206240"/>
            <a:ext cx="1828800" cy="548640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Assertion stable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4480560"/>
            <a:ext cx="146304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915400" y="4206240"/>
            <a:ext cx="1920240" cy="54864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Refactor possible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Jour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8483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Doubles de test et dépendances contrôlées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269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Remplacer le monde extérieur par des collaborateurs maîtrisables.</a:t>
            </a:r>
            <a:endParaRPr lang="en-US" sz="1500" dirty="0"/>
          </a:p>
        </p:txBody>
      </p:sp>
      <p:pic>
        <p:nvPicPr>
          <p:cNvPr id="6" name="Image 0" descr="/mnt/data/j3_enriched_assets/03_doubles_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2" y="2568582"/>
            <a:ext cx="2670048" cy="11539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Doubles de test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utiliser des doubles de test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double sert à isoler le comportement testé des dépendances lentes, instables ou externes.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4920" y="2606040"/>
            <a:ext cx="1645920" cy="658368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Service testé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1645920" cy="50292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BDD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1673352"/>
            <a:ext cx="2450592" cy="1271016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915400" y="1417320"/>
            <a:ext cx="1645920" cy="502920"/>
          </a:xfrm>
          <a:prstGeom prst="rect">
            <a:avLst/>
          </a:prstGeom>
          <a:solidFill>
            <a:srgbClr val="FEE2E2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API externe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15400" y="1673352"/>
            <a:ext cx="-2185416" cy="1271016"/>
          </a:xfrm>
          <a:prstGeom prst="line">
            <a:avLst/>
          </a:prstGeom>
          <a:noFill/>
          <a:ln w="2032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1645920" cy="502920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Horloge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78608" y="4553712"/>
            <a:ext cx="2450592" cy="-1609344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915400" y="4297680"/>
            <a:ext cx="1645920" cy="502920"/>
          </a:xfrm>
          <a:prstGeom prst="rect">
            <a:avLst/>
          </a:prstGeom>
          <a:solidFill>
            <a:srgbClr val="EDE9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Bus événement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4553712"/>
            <a:ext cx="-2185416" cy="-1609344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343400" y="4343400"/>
            <a:ext cx="32004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Idée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test remplace seulement ce qui empêche un feedback rapide et déterministe.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Doubles de test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Stub, Fake, Spy, Mock : ne pas tout appeler “mock”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Chaque double répond à un besoin différent.</a:t>
            </a:r>
            <a:endParaRPr lang="en-US" sz="1050" dirty="0"/>
          </a:p>
        </p:txBody>
      </p:sp>
      <p:pic>
        <p:nvPicPr>
          <p:cNvPr id="8" name="Image 0" descr="/mnt/data/j3_enriched_assets/03_doubles_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57298"/>
            <a:ext cx="4663440" cy="201538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23560" y="1188720"/>
            <a:ext cx="26060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Stub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prédéfinie à une question.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49640" y="1188720"/>
            <a:ext cx="26060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Implémentation simple mais fonctionnelle.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23560" y="2697480"/>
            <a:ext cx="26060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Spy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Enregistre ce qui s’est passé.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49640" y="2697480"/>
            <a:ext cx="26060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 une interaction attendue.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Choisir le double le plus simple qui permet d’exprimer le comportement.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Mockito : isoler une dépendance sans tester le framework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mock doit prouver une collaboration significative, pas une mécanique interne.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207008"/>
            <a:ext cx="5989320" cy="443484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sendsConfirmationWhenPaymentAccepted() {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PaymentGateway gateway = mock(PaymentGateway.class);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when(gateway.pay(any())).thenReturn(APPROVED);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Mailer mailer = mock(Mailer.class);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Checkout checkout = new Checkout(gateway, mailer);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checkout.confirm(order);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verify(mailer).sendConfirmation(order.customer());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7086600" y="1325880"/>
            <a:ext cx="41605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 usage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 une collaboration métier : paiement accepté → confirmation envoyée.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86600" y="2743200"/>
            <a:ext cx="41605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Mauvais usage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 tous les getters, l’ordre de chaque appel ou les détails sans impact métier.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86600" y="4160520"/>
            <a:ext cx="41605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pratique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un test connaît l’intérieur du composant, plus il gênera la refactorisation.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Seams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Seams : les coutures où contrôler le système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seam est un point où l’on peut remplacer une dépendance pendant le test.</a:t>
            </a:r>
            <a:endParaRPr lang="en-US" sz="1050" dirty="0"/>
          </a:p>
        </p:txBody>
      </p:sp>
      <p:pic>
        <p:nvPicPr>
          <p:cNvPr id="8" name="Image 0" descr="/mnt/data/j3_enriched_assets/04_seams_dependa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75586"/>
            <a:ext cx="4663440" cy="201538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96128" y="1280160"/>
            <a:ext cx="26974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Constructeur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Dépendances obligatoires explicites et faciles à remplacer.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40496" y="1280160"/>
            <a:ext cx="26974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stable du point de vue du métier.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596128" y="2834640"/>
            <a:ext cx="26974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Implémentation technique remplaçable.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40496" y="2834640"/>
            <a:ext cx="269748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mémoire pour feedback rapide.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DIP et TDD se renforcent mutuellement : le test rend visible le besoin de couture.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Ports &amp; tests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DIP + TDD : ports, adapters et tests rapides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composant testé dépend d’un contrat, pas d’un détail technique.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00600" y="2377440"/>
            <a:ext cx="2057400" cy="749808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Use case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CheckoutService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2377440"/>
            <a:ext cx="1600200" cy="530352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PaymentPort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6432" y="2633472"/>
            <a:ext cx="1298448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388620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PaymentFake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31720" y="4114800"/>
            <a:ext cx="274320" cy="-118872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697480" y="388620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StripeAdapter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3886200"/>
            <a:ext cx="-228600" cy="-96012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183880" y="2377440"/>
            <a:ext cx="1600200" cy="530352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MailerPort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85432" y="2633472"/>
            <a:ext cx="1252728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15200" y="388620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MailerSpy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3886200"/>
            <a:ext cx="411480" cy="-96012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345168" y="388620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SMTPAdapter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84080" y="3886200"/>
            <a:ext cx="-411480" cy="-96012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Le test ne doit pas instancier Stripe, SMTP, l’horloge réelle ou une base externe sans raison.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testable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testable : le métier au centre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Une architecture testable sépare les règles stables des détails remplaçables.</a:t>
            </a:r>
            <a:endParaRPr lang="en-US" sz="1050" dirty="0"/>
          </a:p>
        </p:txBody>
      </p:sp>
      <p:pic>
        <p:nvPicPr>
          <p:cNvPr id="8" name="Image 0" descr="/mnt/data/j3_enriched_assets/08_architecture_tes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10754"/>
            <a:ext cx="4709160" cy="23084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77840" y="1234440"/>
            <a:ext cx="26517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métiers pures, peu de dépendances.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58200" y="1234440"/>
            <a:ext cx="26517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 des cas d’usage et ports.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577840" y="2880360"/>
            <a:ext cx="26517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Adapters BDD, API, files, mails, bus.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58200" y="2880360"/>
            <a:ext cx="26517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Remplacent les détails par fakes, stubs, spies.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Responsabilités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Attribuer les responsabilités via les tests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test force à choisir qui sait, qui décide et qui orchestre.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26060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Expert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possède les données nécessaires pour répondre 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11880" y="1234440"/>
            <a:ext cx="26060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reçoit l’intention applicative 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37960" y="1234440"/>
            <a:ext cx="26060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Coupling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peut dépendre de quoi sans figer le système 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64040" y="1234440"/>
            <a:ext cx="20574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Cohesion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 classe garde une mission claire 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17320" y="3703320"/>
            <a:ext cx="1234440" cy="502920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97480" y="3950208"/>
            <a:ext cx="150876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251960" y="3703320"/>
            <a:ext cx="1600200" cy="502920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API publique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3950208"/>
            <a:ext cx="150876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452360" y="3703320"/>
            <a:ext cx="2011680" cy="50292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Responsabilités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La forme du test révèle la forme souhaitable de l’objet testé.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Stratégies TDD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Outside-in ou Inside-out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Deux manières de faire émerger la conception selon le contexte.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280160"/>
            <a:ext cx="5074920" cy="29718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Outside-in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 d’un scénario utilisateur ou use case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Fait apparaître les ports et collaborations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Utile quand le workflow est central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Peut générer plus de mocks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280160"/>
            <a:ext cx="5074920" cy="29718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Inside-out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 d’une règle métier locale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Stabilise progressivement le domaine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Utile quand l’algorithme est central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Peut retarder la vision d’ensemble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Il ne s’agit pas d’une religion : on choisit le point de départ qui donne le meilleur feedback.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Tester l’état ou tester l’interaction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type d’assertion révèle ce que l’on considère comme comportement.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1325880"/>
            <a:ext cx="2971800" cy="109728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d’état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vérifie le résultat ou l’état observable après l’action.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1325880"/>
            <a:ext cx="2971800" cy="1097280"/>
          </a:xfrm>
          <a:prstGeom prst="rect">
            <a:avLst/>
          </a:prstGeom>
          <a:solidFill>
            <a:srgbClr val="DBEAFE"/>
          </a:solidFill>
          <a:ln>
            <a:solidFill>
              <a:srgbClr val="93C5FD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d’interaction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vérifie qu’une collaboration significative a eu lieu.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58200" y="1325880"/>
            <a:ext cx="2971800" cy="109728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Trop d’interactions vérifiées rendent le test fragile.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3246120"/>
            <a:ext cx="8046720" cy="128016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État : résultat métier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assertEquals(APPROVED, receipt.status());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Interaction : effet externe métier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verify(mailer).sendConfirmation(customer);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Préférer le test d’état quand c’est possible ; utiliser l’interaction pour les effets externes significatifs.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continu : local, CI, revue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tests deviennent utiles s’ils sont rapides, fiables et intégrés au flux de développement.</a:t>
            </a:r>
            <a:endParaRPr lang="en-US" sz="1050" dirty="0"/>
          </a:p>
        </p:txBody>
      </p:sp>
      <p:pic>
        <p:nvPicPr>
          <p:cNvPr id="8" name="Image 0" descr="/mnt/data/j3_enriched_assets/09_ci_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480198"/>
            <a:ext cx="4617720" cy="1769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77840" y="1234440"/>
            <a:ext cx="26060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immédiat pendant le cycle Red-Green-Refactor.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31352" y="1234440"/>
            <a:ext cx="26060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collective à chaque push ou merge request.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577840" y="2862072"/>
            <a:ext cx="26060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Unitaires rapides, intégration ciblée, E2E limités.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31352" y="2862072"/>
            <a:ext cx="26060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Revue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tests aident à comprendre l’intention du changement.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 des tests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mutation testing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couverture mesure ce qui a été exécuté ; la mutation mesure ce qui est réellement détecté.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2057400"/>
            <a:ext cx="1828800" cy="594360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Code exécuté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2359152"/>
            <a:ext cx="105156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069080" y="2057400"/>
            <a:ext cx="1463040" cy="594360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Coverage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3840480"/>
            <a:ext cx="2331720" cy="59436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Code modifié artificiellement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0" y="4142232"/>
            <a:ext cx="105156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572000" y="3840480"/>
            <a:ext cx="1828800" cy="594360"/>
          </a:xfrm>
          <a:prstGeom prst="rect">
            <a:avLst/>
          </a:prstGeom>
          <a:solidFill>
            <a:srgbClr val="EDE9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Tests détectent 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95160" y="1463040"/>
            <a:ext cx="38862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élevée ≠ tests efficaces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test peut exécuter une ligne sans vérifier son résultat.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95160" y="2926080"/>
            <a:ext cx="38862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Mutation testing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Introduit des fautes contrôlées pour voir si les tests échouent.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95160" y="4389120"/>
            <a:ext cx="38862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retenir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valeur d’un test se mesure à sa capacité à détecter une régression pertinente.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smells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smells : quand les tests deviennent un problème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mauvais test peut freiner la conception autant qu’un mauvais code de production.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325880"/>
            <a:ext cx="324612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fragile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échoue au moindre refactoring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4453128" y="1325880"/>
            <a:ext cx="3246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lent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trop d’I/O ou de démarrage framework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247888" y="1325880"/>
            <a:ext cx="324612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obscur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vague, préparation massive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58368" y="3108960"/>
            <a:ext cx="3246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Over-mocking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 trop de détails internes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453128" y="3108960"/>
            <a:ext cx="324612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Fixture géante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 partagées incompréhensibles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8247888" y="3108960"/>
            <a:ext cx="3246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 faible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exécute mais ne prouve rien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Quand un test gêne une refactorisation légitime, il faut questionner ce qu’il vérifie vraiment.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Tester du legacy : characterization tests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Avant de modifier un système mal testé, on capture son comportement actuel.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1600200" cy="594360"/>
          </a:xfrm>
          <a:prstGeom prst="rect">
            <a:avLst/>
          </a:prstGeom>
          <a:solidFill>
            <a:srgbClr val="FEE2E2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Code legacy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51760" y="2450592"/>
            <a:ext cx="1188720" cy="0"/>
          </a:xfrm>
          <a:prstGeom prst="line">
            <a:avLst/>
          </a:prstGeom>
          <a:noFill/>
          <a:ln w="2032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86200" y="2148840"/>
            <a:ext cx="2377440" cy="59436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Tests de caractérisation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2450592"/>
            <a:ext cx="118872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543800" y="2148840"/>
            <a:ext cx="2148840" cy="594360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Refactor sécurisé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749040"/>
            <a:ext cx="31089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Documenter ce que le code fait réellement, même si ce n’est pas idéal.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98848" y="3749040"/>
            <a:ext cx="31089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confondre comportement existant et comportement souhaité.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56448" y="3749040"/>
            <a:ext cx="31089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Étape suivante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 des tests métier avant les changements fonctionnels.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Catalogue de refactorings protégés par les tests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tests donnent le droit de modifier la structure progressivement.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32588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Method
</a:t>
            </a:r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nommer une intention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453128" y="132588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Class
</a:t>
            </a:r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une responsabilité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8247888" y="132588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Conditional
</a:t>
            </a:r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introduire polymorphisme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58368" y="292608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Parameter Object
</a:t>
            </a:r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regrouper des paramètres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453128" y="292608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Method
</a:t>
            </a:r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rapprocher données et comportement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8247888" y="2926080"/>
            <a:ext cx="32461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Port
</a:t>
            </a:r>
            <a:pPr indent="0" marL="0">
              <a:buNone/>
            </a:pPr>
            <a:r>
              <a:rPr lang="en-US" sz="11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isoler une dépendance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2011680" y="4800600"/>
            <a:ext cx="8138160" cy="82296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Avant : une classe orchestre tout.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Après : règles métier + ports + adapters.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 tests doivent rester verts à chaque micro-changement.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Jour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8483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TDD versus MDE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269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Deux approches complémentaires : tests exécutables et modèles transformables.</a:t>
            </a:r>
            <a:endParaRPr lang="en-US" sz="1500" dirty="0"/>
          </a:p>
        </p:txBody>
      </p:sp>
      <p:pic>
        <p:nvPicPr>
          <p:cNvPr id="6" name="Image 0" descr="/mnt/data/j3_enriched_assets/06_mde_cha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2" y="2620862"/>
            <a:ext cx="2670048" cy="10493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 vs MDE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TDD versus MDE : comparaison pédagogique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TDD pilote par les comportements ; MDE pilote par les modèles.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234440"/>
            <a:ext cx="51663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TDD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 comportement à la fois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immédiat par exécution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émergence progressive du design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excellent pour règles métier et refactorisation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risque : vision globale moins explicite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234440"/>
            <a:ext cx="516636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modèles abstraits du système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transformations vers code/configuration/tests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cohérence globale et génération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excellent pour systèmes répétitifs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risque : coût d’outillage et rigidité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Le choix n’est pas forcément exclusif : un modèle peut générer du squelette, les tests valident le comportement.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Chaîne MDE : modèle, transformation, artefact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 modèle devient une source de vérité exploitable par des transformations.</a:t>
            </a:r>
            <a:endParaRPr lang="en-US" sz="1050" dirty="0"/>
          </a:p>
        </p:txBody>
      </p:sp>
      <p:pic>
        <p:nvPicPr>
          <p:cNvPr id="8" name="Image 0" descr="/mnt/data/j3_enriched_assets/06_mde_cha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53501"/>
            <a:ext cx="4754880" cy="18687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0" y="1234440"/>
            <a:ext cx="2514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Modèle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abstraite : classes, règles, états, flux.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49640" y="1234440"/>
            <a:ext cx="2514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Génération ou synchronisation contrôlée.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0" y="2788920"/>
            <a:ext cx="2514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Code, schémas, tests, documentation, contrats.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49640" y="2788920"/>
            <a:ext cx="251460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tests restent nécessaires pour vérifier le comportement.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 MDE apporte de la valeur 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MDE devient rentable lorsque la répétition et la cohérence priment sur la liberté locale.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3291840" cy="132588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Pertinent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beaucoup de structures répétitives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règles de génération stables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contrats à maintenir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documentation synchronisée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80560" y="1325880"/>
            <a:ext cx="3291840" cy="1325880"/>
          </a:xfrm>
          <a:prstGeom prst="rect">
            <a:avLst/>
          </a:prstGeom>
          <a:solidFill>
            <a:srgbClr val="FEE2E2"/>
          </a:solidFill>
          <a:ln>
            <a:solidFill>
              <a:srgbClr val="FCA5A5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outillage lourd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modèle éloigné du code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génération difficile à déboguer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verrouillage techno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75320" y="1325880"/>
            <a:ext cx="329184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le modèle pour le squelette et le TDD pour le comportement critique.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4343400"/>
            <a:ext cx="1280160" cy="502920"/>
          </a:xfrm>
          <a:prstGeom prst="rect">
            <a:avLst/>
          </a:prstGeom>
          <a:solidFill>
            <a:srgbClr val="EDE9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Modèle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4599432"/>
            <a:ext cx="1600200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74920" y="4343400"/>
            <a:ext cx="1645920" cy="50292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Code généré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4599432"/>
            <a:ext cx="164592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458200" y="4343400"/>
            <a:ext cx="1463040" cy="502920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Tests TDD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Jour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2084832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Travaux pratiques J3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2761488"/>
            <a:ext cx="7269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Attribuer les responsabilités aux composants via l’approche TDD.</a:t>
            </a:r>
            <a:endParaRPr lang="en-US" sz="1500" dirty="0"/>
          </a:p>
        </p:txBody>
      </p:sp>
      <p:pic>
        <p:nvPicPr>
          <p:cNvPr id="6" name="Image 0" descr="/mnt/data/j3_enriched_assets/10_synthese_t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2" y="2530305"/>
            <a:ext cx="2670048" cy="12304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40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J3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TP J3 — attribution des responsabilités par TDD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Construire un use case testable en partant des comportements attendus.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261872"/>
            <a:ext cx="338328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commande client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remises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paiement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notification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historique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07408" y="1261872"/>
            <a:ext cx="338328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Contraintes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 d’appel réel API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 de BDD réelle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unitaire rapide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dépendances injectées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56448" y="1261872"/>
            <a:ext cx="338328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Livrables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list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tests JUnit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interfaces/ports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implémentation minimale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refactoring justifié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Le TP doit montrer que les tests guident vraiment le découpage, pas seulement qu’ils vérifient le résultat.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étape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Étape 1 — écrire la test list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Avant la première classe : clarifier les comportements à prouver.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188720"/>
            <a:ext cx="36576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à poser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Quel est le scénario nominal ?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Quels cas limites existent ?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Quelle erreur doit être maîtrisée ?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Quelle dépendance externe intervient ?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Quel résultat est observable 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2743200" cy="914400"/>
          </a:xfrm>
          <a:prstGeom prst="rect">
            <a:avLst/>
          </a:prstGeom>
          <a:solidFill>
            <a:srgbClr val="DCFCE7"/>
          </a:solidFill>
          <a:ln>
            <a:solidFill>
              <a:srgbClr val="86EFAC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Nommer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tests doivent exprimer le langage métier.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00600" y="2514600"/>
            <a:ext cx="2743200" cy="914400"/>
          </a:xfrm>
          <a:prstGeom prst="rect">
            <a:avLst/>
          </a:prstGeom>
          <a:solidFill>
            <a:srgbClr val="FEF3C7"/>
          </a:solidFill>
          <a:ln>
            <a:solidFill>
              <a:srgbClr val="FCD34D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Prioriser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Commencer par le comportement le plus simple.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00600" y="3840480"/>
            <a:ext cx="2743200" cy="914400"/>
          </a:xfrm>
          <a:prstGeom prst="rect">
            <a:avLst/>
          </a:prstGeom>
          <a:solidFill>
            <a:srgbClr val="EDE9FE"/>
          </a:solidFill>
          <a:ln>
            <a:solidFill>
              <a:srgbClr val="C4B5FD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Découper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test = un comportement important.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09560" y="1280160"/>
            <a:ext cx="3429000" cy="3474720"/>
          </a:xfrm>
          <a:prstGeom prst="rect">
            <a:avLst/>
          </a:prstGeom>
          <a:solidFill>
            <a:srgbClr val="111827"/>
          </a:solidFill>
          <a:ln>
            <a:solidFill>
              <a:srgbClr val="0B11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confirms order when payment is approved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refuses order when payment is declined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sends confirmation email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records order history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applies premium discount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étape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Étape 2 — créer les ports et doubles nécessaires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On introduit les abstractions motivées par les tests, pas par habitude.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0" y="2377440"/>
            <a:ext cx="1920240" cy="640080"/>
          </a:xfrm>
          <a:prstGeom prst="rect">
            <a:avLst/>
          </a:prstGeom>
          <a:solidFill>
            <a:srgbClr val="DBEA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CheckoutService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PaymentPort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78608" y="1627632"/>
            <a:ext cx="2404872" cy="1069848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971800" y="42519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DiscountPolicy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6008" y="4507992"/>
            <a:ext cx="347472" cy="-1810512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635240" y="42519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OrderRepository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35240" y="4507992"/>
            <a:ext cx="-640080" cy="-1810512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64040" y="137160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Notifier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64040" y="1627632"/>
            <a:ext cx="-2468880" cy="1069848"/>
          </a:xfrm>
          <a:prstGeom prst="line">
            <a:avLst/>
          </a:prstGeom>
          <a:noFill/>
          <a:ln w="2032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114800" y="4892040"/>
            <a:ext cx="38404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Décision de conception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port correspond à une variation ou un effet externe que le test doit contrôler.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TP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indicative — responsabilités obtenues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correction valorise le raisonnement, pas une unique arborescence.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325880"/>
            <a:ext cx="32461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CheckoutService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 du cas d’usage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4453128" y="1325880"/>
            <a:ext cx="32461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DiscountPolicy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variation métier isolée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247888" y="1325880"/>
            <a:ext cx="32461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PaymentPort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de paiement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658368" y="3081528"/>
            <a:ext cx="32461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OrderRepository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persistance remplaçable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453128" y="3081528"/>
            <a:ext cx="32461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Notifier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effet externe contrôlé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8247888" y="3081528"/>
            <a:ext cx="324612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
</a:t>
            </a:r>
            <a:pPr indent="0" marL="0">
              <a:buNone/>
            </a:pPr>
            <a:r>
              <a:rPr lang="en-US" sz="113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invariants métier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Une bonne correction doit être défendable par les tests écrits et les principes du J2.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fin de J3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Évaluation rapide avant la transition vers les Design Patterns.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115568"/>
            <a:ext cx="5074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écrire le test avant le code ?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190488" y="1115568"/>
            <a:ext cx="5074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 différence entre stub et mock ?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58368" y="2103120"/>
            <a:ext cx="5074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préférer un fake à un mock ?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190488" y="2103120"/>
            <a:ext cx="5074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mesure réellement la couverture ?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58368" y="3090672"/>
            <a:ext cx="5074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le Service Locator gêne-t-il les tests ?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190488" y="3090672"/>
            <a:ext cx="5074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un test peut-il révéler une mauvaise responsabilité ?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58368" y="4078224"/>
            <a:ext cx="5074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quoi sert un test de caractérisation ?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190488" y="4078224"/>
            <a:ext cx="5074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le MDE ne remplace-t-il pas les tests ?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58368" y="5065776"/>
            <a:ext cx="5074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 risque avec l’over-mocking ?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190488" y="5065776"/>
            <a:ext cx="5074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doit-on vérifier pendant la phase Refactor ?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Correction collective : chaque réponse doit être reliée à un exemple de code ou de conception.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revue J3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À utiliser pendant les TP et sur les projets réels.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333756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noms lisibles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AAA visible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 comportement par test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 limites présents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assertions significatives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1188720"/>
            <a:ext cx="333756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responsabilités claires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dépendances injectées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ports utiles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cohésion forte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couplage maîtrisé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1188720"/>
            <a:ext cx="333756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tests rapides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peu de fragilité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refactor possible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 fiable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documentation exécutable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du J3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tests deviennent un outil de conception lorsque le feedback est rapide et signifiant.</a:t>
            </a:r>
            <a:endParaRPr lang="en-US" sz="1050" dirty="0"/>
          </a:p>
        </p:txBody>
      </p:sp>
      <p:pic>
        <p:nvPicPr>
          <p:cNvPr id="8" name="Image 0" descr="/mnt/data/j3_enriched_assets/10_synthese_t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13304"/>
            <a:ext cx="4663440" cy="2149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23560" y="1280160"/>
            <a:ext cx="2560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test commence par une règle observable.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49640" y="1280160"/>
            <a:ext cx="2560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Conception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test pousse à découper les responsabilités.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23560" y="2788920"/>
            <a:ext cx="2560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Dépendances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ports et doubles rendent le système contrôlable.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49640" y="2788920"/>
            <a:ext cx="2560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filet de sécurité autorise l’amélioration continue.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Le TDD prépare naturellement le terrain du J4 : les patterns comme solutions de refactorisation.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01168"/>
            <a:ext cx="1508760" cy="25603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6510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Conception objet &amp; Design Patterns — Jour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48872" y="65105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vers J4 — Design Patterns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624" y="80467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patterns ne doivent pas être plaqués : ils répondent à des tensions révélées par les tests.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554480" cy="548640"/>
          </a:xfrm>
          <a:prstGeom prst="rect">
            <a:avLst/>
          </a:prstGeom>
          <a:solidFill>
            <a:srgbClr val="FEE2E2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Tests rouges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2514600"/>
            <a:ext cx="1280160" cy="0"/>
          </a:xfrm>
          <a:prstGeom prst="line">
            <a:avLst/>
          </a:prstGeom>
          <a:noFill/>
          <a:ln w="2032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40480" y="2240280"/>
            <a:ext cx="1554480" cy="548640"/>
          </a:xfrm>
          <a:prstGeom prst="rect">
            <a:avLst/>
          </a:prstGeom>
          <a:solidFill>
            <a:srgbClr val="DCFCE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Code vert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40680" y="2514600"/>
            <a:ext cx="1280160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766560" y="2240280"/>
            <a:ext cx="1691640" cy="548640"/>
          </a:xfrm>
          <a:prstGeom prst="rect">
            <a:avLst/>
          </a:prstGeom>
          <a:solidFill>
            <a:srgbClr val="FEF3C7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Smell détecté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03920" y="2514600"/>
            <a:ext cx="1143000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692640" y="2240280"/>
            <a:ext cx="1600200" cy="548640"/>
          </a:xfrm>
          <a:prstGeom prst="rect">
            <a:avLst/>
          </a:prstGeom>
          <a:solidFill>
            <a:srgbClr val="EDE9FE"/>
          </a:solidFill>
          <a:ln>
            <a:solidFill>
              <a:srgbClr val="0F172A">
                <a:alpha val="95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Pattern utile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31089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condition qui grossit peut devenir Strategy.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3931920"/>
            <a:ext cx="31089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création complexe peut mener à Factory ou Builder.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3931920"/>
            <a:ext cx="31089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BD5E1">
                <a:alpha val="88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notification multiple peut mener à Observer.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24128" y="6016752"/>
            <a:ext cx="10149840" cy="310896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563EB"/>
                </a:solidFill>
              </a:rPr>
              <a:t>J4 : choisir un pattern parce qu’il résout un problème réel, pas parce qu’il existe.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J3 — Conception objet, Design Patterns et Architecture</dc:title>
  <dc:subject>Jour 3 — TDD, MDE et refactorisation</dc:subject>
  <dc:creator>OpenAI</dc:creator>
  <cp:lastModifiedBy>OpenAI</cp:lastModifiedBy>
  <cp:revision>1</cp:revision>
  <dcterms:created xsi:type="dcterms:W3CDTF">2026-08-30T06:58:45Z</dcterms:created>
  <dcterms:modified xsi:type="dcterms:W3CDTF">2026-08-30T06:58:45Z</dcterms:modified>
</cp:coreProperties>
</file>