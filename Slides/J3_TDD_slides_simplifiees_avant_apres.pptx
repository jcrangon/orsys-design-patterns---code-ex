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JOUR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Développements pilotés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 les tests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4748B"/>
                </a:solidFill>
              </a:rPr>
              <a:t>TDD • suites de tests • doubles • seams • MDE • refactoring sécurisé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653796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Fil rouge : un bon test décrit un comportement observable.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Slides simplifiées avec exemples AVANT / APRÈS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Objectifs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pédagogiques du J3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Objectif : utiliser les tests pour comprendre et améliorer la conception.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Mémoriser JUnit/Mockito sans comprendre ce que le test prouve.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Résultat : des tests techniques, fragiles et peu lisibles.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Savoir nommer un comportement, choisir le bon niveau de test, contrôler les dépendances et refactorer sans peur.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Objectifs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Progression : comportement → test → design → refactoring.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1060704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Matin : TDD, cas de tests, limites, assertions.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Midi : doubles de test et dépendances contrôlées.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Après-midi : seams, architecture testable, legacy, MDE.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: TP complet sur Checkout.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5925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257800"/>
            <a:ext cx="1501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TDD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42972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6708" y="5120640"/>
            <a:ext cx="15925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2428" y="5257800"/>
            <a:ext cx="1501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Doubles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36720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0456" y="5120640"/>
            <a:ext cx="15925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6176" y="5257800"/>
            <a:ext cx="1501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Seams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0468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4204" y="5120640"/>
            <a:ext cx="15925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9924" y="5257800"/>
            <a:ext cx="1501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Legacy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24216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7952" y="5120640"/>
            <a:ext cx="15925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3672" y="5257800"/>
            <a:ext cx="1501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617964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91700" y="5120640"/>
            <a:ext cx="15925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37420" y="5257800"/>
            <a:ext cx="15011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Réactivation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Réactivation J2 — les tests révèlent le design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 test pénible est souvent le symptôme d’une dépendance mal placée.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StripeSdk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stripe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StripeSdk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stripe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 = dépend de Stripe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amount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payment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this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payment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 = fake simple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TDD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TDD comme discipline de conception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TDD ne veut pas dire “écrire plus de tests”. Cela veut dire avancer par comportements prouvés.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Partir du code interne : classes, méthodes privées, algorithme.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Puis chercher comment tester après coup.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Partir d’un comportement visible : entrée, action, résultat.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Le design apparaît progressivement.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TDD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les tests pilotent-ils le design 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Pour écrire un test, je dois déjà choisir une API utilisable.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On commence par l'intérieur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private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double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rate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private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compute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Puis on cherche comment tester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premiumGets15Percent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premium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orderWithTotal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170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TDD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TDD versus test après coup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 test après coup peut être utile, mais le feedback arrive plus tard.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Db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save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Stripe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charge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Mail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send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Difficile à isoler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 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Notifier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n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 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OrderRepository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Les dépendances sont visibles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Niveaux de tests : quel feedback 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Chaque niveau de test répond à une question différente.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Tout tester en end-to-end.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C’est lent, fragile et les erreurs sont difficiles à localiser.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Beaucoup de tests rapides sur les règles.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Quelques tests d’intégration pour les vraies collaborations.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Quelques E2E sur les parcours critiques.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test unitaire : une loupe sur une responsabilité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On teste une responsabilité observable, pas une ligne de code.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testPrivateMethod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envie de tester calculateInternal()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mais elle est privée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 test regarde trop l'intérieur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orderOver100GetsDiscount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orderWithTotal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discount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108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Écrire des cas et suites de tests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 nom du test doit raconter le comportement.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test1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calculate2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Impossible de savoir ce qui est prouvé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expiredCouponIsRejected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premiumCustomerGets15Percent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declinedPaymentRefusesOrder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Arrange / Act / Assert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AAA raconte une petite histoire : préparer, agir, vérifier.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addItem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t1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addItem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t2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t1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135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t2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93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applies10PercentDiscount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Arrange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orderWithTotal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Act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discount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apply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Assert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90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test list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Une test list est un mini-backlog de comportements.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Mauvais départ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créer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créer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créer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FakeRepository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On pense classes avant besoin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 list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panier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: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pas de remise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panier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: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%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client premium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: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15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%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coupon expiré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: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refus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On pense comportements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TDD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Red–Green–Refactor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Une seule variable change à la fois : comportement, puis structure.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Rester longtemps en rouge.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Ou refactorer pendant que les tests échouent.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On ne sait plus ce qui casse.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Red : comportement manquant.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Green : code minimum.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Refactor : même comportement, meilleure structure.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TDD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Red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 test rouge doit échouer pour la bonne raison.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shouldWork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service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assertTrue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service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!=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null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Ne décrit aucun comportement métier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premiumCustomerGets15PercentDiscount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premium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premium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orderWithTotal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premium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170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TDD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Green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En Green, le code peut être simple. Le but est d’obtenir un signal vert.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Sur-design immédiat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DiscountStrategy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PremiumStrategy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implements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DiscountStrategy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StandardStrategy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implements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DiscountStrategy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StrategyFactory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Avant même d'avoir plusieurs cas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isPremium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multiply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0.85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Suffisant pour le premier comportement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TDD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Refactor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Refactor = changer la structure sans changer le comportement.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Refactor dangereux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1. on change l'algorithme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2. on renomme tout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3. on modifie les règles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4. les tests sont rouges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Trop de changements à la fois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Micro-refactoring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DiscountPolicy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policy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policyFor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policy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Même résultat, structure plus claire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Tests toujours verts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Cas de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Choisir les bons tests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On ne teste pas toutes les valeurs : on choisit celles qui apprennent quelque chose.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Tester 20, 30, 40, 50, 60 alors que tout déclenche le même comportement.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Tester un représentant normal, les limites, les erreurs et les régressions déjà rencontrées.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Cas de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Partitions d’équivalence et valeurs limites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Les valeurs proches d’un seuil sont plus informatives que des valeurs au hasard.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randomValues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42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42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43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43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44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44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On ne teste pas la frontière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boundaryValues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99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99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101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90.90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On teste le point où la règle change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Cas de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paramétrés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 test paramétré évite de copier le même scénario.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total99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99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99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total250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250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225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Même structure copiée trois fois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@ParameterizedTest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@CsvSource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"99,99"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"100,90"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"250,225"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appliesTenPercentFrom100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initial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expected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initial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expected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Assertions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Assertions : comportement, pas implémentation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Une bonne assertion vérifie le contrat, pas la mécanique interne.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confirmsOrder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openTransaction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flush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close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 couplé à l'implémentation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confirmsOrder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receipt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APPROVED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receipt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Teste le résultat observable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Doubles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Doubles de test et dépendances contrôlées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 double remplace temporairement le monde extérieur.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Lancer une vraie base, une vraie API, une vraie horloge et un vrai SMTP pour chaque test unitaire.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Remplacer uniquement ce qui rend le test lent, instable ou non déterministe.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Doubles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utiliser des doubles 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 double sert à contrôler une frontière.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checkout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RealStripeSdk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RealSmtpClient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SystemClock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Lent, fragile, non déterministe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checkout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PaymentStub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APPROVED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MailSpy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FixedClock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"2026-01-01"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Rapide et contrôlé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Doubles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Stub, Fake, Spy, Mock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Ne pas appeler “mock” tous les doubles.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Vocabulaire flou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PaymentGateway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payment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mock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OrderRepository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repo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mock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Mailer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mailer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mock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Tout est appelé mock, même si le rôle diffère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Stub : répond une valeur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PaymentGateway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stub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amount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-&gt;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APPROVED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Fake : implémentation simplifiée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OrderRepository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fake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InMemoryOrderRepo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Spy : enregistre ce qui s'est passé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MailSpy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spy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MailSpy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Doubles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Mockito : vérifier une collaboration significative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Vérifier une interaction seulement si elle fait partie du comportement attendu.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tooMuchVerify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getCustomer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gateway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buildRequest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any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flush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 test espionne l'intérieur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sendsConfirmationEmail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when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gateway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any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thenReturn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APPROVED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mailer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sendConfirmation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Effet externe significatif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Seams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Seams : coutures de contrôle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 seam est un point où l’on peut remplacer une dépendance.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InvoiceService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Invoice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id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UUID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randomUUID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toString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Instant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date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Instant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now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Invoice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date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 instable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InvoiceService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InvoiceService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Clock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clock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IdGenerator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ids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Invoice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create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Invoice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ids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clock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now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 déterministe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DIP + TDD : ports, adapters et tests rapides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 cœur connaît ses besoins ; l’infrastructure traduit les détails.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StripeSdk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stripe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StripeSdk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return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stripe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charge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totalInCents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 coeur parle Stripe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amount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payment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StripeAdapter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implements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Stripe reste en périphérie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testable : métier au centre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Les règles stables restent au centre ; les détails remplaçables restent autour.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Le domaine connaît HTTP, SQL, Stripe, SMTP et l’heure système.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Tout test devient un mini démarrage de l’application.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Domaine : règles pures.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Application : cas d’usage et ports.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Infrastructure : adapters réels.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Tests rapides au centre, intégration en périphérie.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Attribuer les responsabilités via les tests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La préparation du test révèle parfois une classe qui fait trop de choses.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localDiscountRule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service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db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mailer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stripe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taxApi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clock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ids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bus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Trop de collaborateurs pour une règle locale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localDiscountRule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DiscountPolicy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policy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StandardDiscount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policy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Responsabilité isolée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Outside-in ou Inside-out 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On choisit le point de départ selon le risque principal.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Choisir toujours la même méthode par principe : “on commence toujours par l’UI” ou “toujours par le domaine”.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Outside-in : utile pour un workflow complet.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Inside-out : utile pour une règle métier complexe.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On peut combiner les deux.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Assertions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Tester l’état ou tester l’interaction 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Préférer l’état quand il exprime le contrat ; vérifier l’interaction pour les effets externes.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fragileInteractionTest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any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history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append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any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Trop lié à l'orchestration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93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confirmsPaidOrder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receipt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checkout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APPROVED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receipt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CONFIRMED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r>
              <a:rPr lang="en-US" sz="93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sendsConfirmationEmail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checkout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assertTrue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mailSpy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wasSentTo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customer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Feedback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continu : local, CI, revue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 feedback doit arriver vite et au bon niveau.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Une suite unique qui met 40 minutes.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Les développeurs ne la lancent presque jamais.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Local : secondes.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CI : minutes.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E2E : plus lent, réservé aux parcours critiques.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Revue : les tests expliquent l’intention.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Feedback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mutation testing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La couverture dit ce qui est exécuté ; pas si les assertions sont utiles.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coversLinesOnly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Les lignes passent,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mais rien n'est vérifié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detectsWrongDiscount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euros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Si le 10% devient 5%,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 test doit échouer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Qualité des tests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smells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Les tests aussi peuvent devenir de la dette.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giantFixtureTest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80 lignes de préparation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10 mocks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12 assertions sans lien clair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Lent, obscur, fragile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refusedPaymentRefusesOrder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checkout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checkoutWithPayment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DECLINED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receipt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REFUSED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receipt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Court, nommé, lisible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Legacy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Characterization tests pour le legacy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 test de caractérisation capture l’existant avant de refactorer.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Mauvais réflexe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ShippingCalculator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On réécrit tout directement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sans savoir si le comportement change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Risque de régression invisible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capturesLegacyShipping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12.50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legacy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"FR"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18.00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legacy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"EU"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On protège l'existant avant refactor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Legacy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Catalogue de refactorings protégés par les tests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Les tests réduisent la taille du pari entre deux versions.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Grand soir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1. réécriture complète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2. nouveau modèle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3. nouvelle architecture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4. pas de filet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Risque maximum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Micro-changements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1. Extract Method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2. Run tests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3. Extract 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4. Run tests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5. Introduce 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6. Run tests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Même comportement, design meilleur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MDE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TDD versus MDE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TDD part des comportements ; MDE part d’un modèle formel.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Opposer les deux comme deux religions incompatibles.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MDE peut générer une structure.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TDD vérifie les comportements critiques.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Les deux peuvent coexister.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MDE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TDD versus MDE — comparaison simple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La bonne question : quel feedback est le plus utile ici 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Utiliser MDE pour tout, même quand chaque cas métier est très spécifique.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Ou utiliser TDD sans jamais documenter la vue globale.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TDD : feedback rapide sur le comportement.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MDE : cohérence sur beaucoup d’artefacts répétitifs.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Hybride : squelette généré + règles testées.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MDE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Chaîne MDE : modèle, transformation, artefact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 modèle doit rester la source de vérité.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generated/Order.java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record Order(String id, Money total) {}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 développeur modifie directement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 fichier généré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Prochaine génération = conflit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model.txt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entity 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field id:String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field total:Money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générateur -&gt; Order.java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 -&gt; vérifie l'artefact généré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Source de vérité claire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MDE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 MDE apporte de la valeur 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MDE vaut le coût quand la répétition et la cohérence dominent.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Créer un générateur complexe pour trois classes simples.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Résultat : l’outil devient plus coûteux que le problème.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Beaucoup de DTO, contrats, schémas, configurations ou artefacts synchronisés.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Le modèle évite les divergences.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Travaux pratiques J3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 TP : laisser les tests faire émerger le découpage.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Commencer par dessiner dix classes et trois patterns.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Commencer par une test list, écrire un premier comportement, puis créer seulement les ports nécessaires.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 J3 — attribution des responsabilités par TDD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 besoin parle de comportements, pas de classes techniques.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Mauvais départ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CheckoutManagerFactoryBuilder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AbstractPaymentProcessor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NotificationStrategyFactory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Beaucoup de structure avant le test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Départ TDD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@Test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confirmsOrderWhenPaymentApproved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PaymentStub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payment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approvedPayment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checkout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receipt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checkout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assertEquals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APPROVED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receipt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Étape 1 — écrire la test list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Chaque ligne doit être un comportement métier.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Liste technique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tester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tester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Notifier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tester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Repository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tester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DiscountPolicy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On teste des moyens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Test list métier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paiement accepté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-&gt;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commande confirmée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paiement refusé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-&gt;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commande refusée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confirmation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-&gt;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email envoyé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confirmation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-&gt;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historique écrit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premium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-&gt;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remise appliquée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On teste des comportements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Étape 2 — créer les ports et doubles nécessaires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Une abstraction doit être justifiée par un test ou une frontière réelle.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OrderServicePort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CheckoutFactoryPort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StringFormatterPort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LoggerPort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Interfaces par réflexe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1 </a:t>
            </a:r>
            <a:pPr indent="0" marL="0">
              <a:buNone/>
            </a:pPr>
            <a:r>
              <a:rPr lang="en-US" sz="93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2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PaymentResult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amount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3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4 </a:t>
            </a:r>
            <a:pPr indent="0" marL="0">
              <a:buNone/>
            </a:pPr>
            <a:r>
              <a:rPr lang="en-US" sz="93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OrderRepository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5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save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6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7 </a:t>
            </a:r>
            <a:pPr indent="0" marL="0">
              <a:buNone/>
            </a:pPr>
            <a:r>
              <a:rPr lang="en-US" sz="93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Notifier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8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93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confirmationSent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9 </a:t>
            </a:r>
            <a:pPr indent="0" marL="0">
              <a:buNone/>
            </a:pPr>
            <a:r>
              <a:rPr lang="en-US" sz="93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10 </a:t>
            </a:r>
            <a:pPr indent="0" marL="0">
              <a:buNone/>
            </a:pP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11 </a:t>
            </a:r>
            <a:pPr indent="0" marL="0">
              <a:buNone/>
            </a:pPr>
            <a:r>
              <a:rPr lang="en-US" sz="93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Ports motivés par les tests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TP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indicative — responsabilités obtenues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La correction est défendable si les responsabilités sont claires.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void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StripeSdk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charge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SmtpClient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send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JdbcTemplate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update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;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Tout est mélangé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CheckoutService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CheckoutService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PaymentPort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payment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        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Notifier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notifier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        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OrderRepository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orders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,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              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DiscountPolicy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discount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Receipt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confirm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order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Orchestration + ports clairs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Synthèse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fin de J3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Les réponses attendues doivent être illustrées par un exemple.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À ÉVITER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Répondre seulement par acronymes : “AAA”, “mock”, “TDD”, “coverage”.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20640" cy="3200400"/>
          </a:xfrm>
          <a:prstGeom prst="roundRect">
            <a:avLst>
              <a:gd name="adj" fmla="val 2000"/>
            </a:avLst>
          </a:prstGeom>
          <a:solidFill>
            <a:srgbClr val="E9F8EF"/>
          </a:solidFill>
          <a:ln w="12700">
            <a:solidFill>
              <a:srgbClr val="1B7F4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6712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F4A"/>
                </a:solidFill>
              </a:rPr>
              <a:t>MIEUX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91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Expliquer en une phrase 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AAA = préparer, agir, vérifier.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Stub = répond une valeur.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Refactor = comportement inchangé, structure améliorée.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Synthèse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revue J3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Checklist courte à utiliser en revue de code.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1060704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nom du test raconte-t-il le métier ?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test suit-il une structure Arrange / Act / Assert lisible ?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assertions vérifient-elles le comportement observable ?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dépendances lentes ou instables sont-elles contrôlées ?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refactoring garde-t-il les comportements verts 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95133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257800"/>
            <a:ext cx="1859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Nom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01722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5458" y="5120640"/>
            <a:ext cx="195133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1178" y="5257800"/>
            <a:ext cx="1859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AAA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54219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7955" y="5120640"/>
            <a:ext cx="195133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3675" y="5257800"/>
            <a:ext cx="1859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Assert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06717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80453" y="5120640"/>
            <a:ext cx="195133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6173" y="5257800"/>
            <a:ext cx="1859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Dépendances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59214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32950" y="5120640"/>
            <a:ext cx="195133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78670" y="5257800"/>
            <a:ext cx="1859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Refactor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Synthèse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du J3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TDD devient un outil de conception quand le feedback est rapide et orienté comportement.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1060704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test commence par un comportement observable.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forme du test met le design sous contrainte.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ports et doubles rendent les dépendances contrôlables.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tests donnent un filet pour refactorer.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248945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257800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Comportement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9846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3582" y="5120640"/>
            <a:ext cx="248945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9302" y="5257800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Design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0468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4204" y="5120640"/>
            <a:ext cx="248945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9924" y="5257800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Dépendances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21090" y="5239512"/>
            <a:ext cx="146304" cy="219456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4826" y="5120640"/>
            <a:ext cx="248945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0546" y="5257800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Refactor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J3  •  Synthèse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47120" y="73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vers J4 — Design Patterns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19104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FE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8A5A00"/>
                </a:solidFill>
              </a:rPr>
              <a:t>Un pattern vient après une tension réelle, pas avant.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C0392B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FDECEA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C0392B"/>
                </a:solidFill>
              </a:rPr>
              <a:t>MAUVAIS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12648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Mauvais réflexe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"Je connais Strategy, donc je l'applique"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interface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Strategy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implements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Strategy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implements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Strategy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Pattern plaqué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440680" cy="4279392"/>
          </a:xfrm>
          <a:prstGeom prst="roundRect">
            <a:avLst>
              <a:gd name="adj" fmla="val 1282"/>
            </a:avLst>
          </a:prstGeom>
          <a:solidFill>
            <a:srgbClr val="1E1E1E"/>
          </a:solidFill>
          <a:ln w="12700">
            <a:solidFill>
              <a:srgbClr val="1B7F4A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773936"/>
            <a:ext cx="5440680" cy="292608"/>
          </a:xfrm>
          <a:prstGeom prst="roundRect">
            <a:avLst>
              <a:gd name="adj" fmla="val 15625"/>
            </a:avLst>
          </a:prstGeom>
          <a:solidFill>
            <a:srgbClr val="E9F8EF"/>
          </a:solidFill>
          <a:ln w="12700">
            <a:solidFill>
              <a:srgbClr val="1B7F4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3794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B7F4A"/>
                </a:solidFill>
              </a:rPr>
              <a:t>MIEUX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221224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Bon réflexe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paymentType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CARD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paymentType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PAYPAL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4 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paymentType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WIRE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 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5 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La variation grossit -&gt; Strategy peut aider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7 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 Le pattern répond à un problème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J3 • TDD, tests, doubles, MDE, refactoring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J3 - Développements pilotés par les tests</dc:title>
  <dc:subject>J3 TDD, tests, doubles, MDE, refactoring - slides simplifiées</dc:subject>
  <dc:creator>OpenAI</dc:creator>
  <cp:lastModifiedBy>OpenAI</cp:lastModifiedBy>
  <cp:revision>1</cp:revision>
  <dcterms:created xsi:type="dcterms:W3CDTF">2026-09-08T04:17:25Z</dcterms:created>
  <dcterms:modified xsi:type="dcterms:W3CDTF">2026-09-08T04:17:25Z</dcterms:modified>
</cp:coreProperties>
</file>