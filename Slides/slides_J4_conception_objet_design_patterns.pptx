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7132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Jour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143000"/>
            <a:ext cx="6629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Patterns GoF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refactorisation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Réutiliser l’expérience sans tomber dans le patternitis</a:t>
            </a:r>
            <a:endParaRPr lang="en-US" sz="1350" dirty="0"/>
          </a:p>
        </p:txBody>
      </p:sp>
      <p:pic>
        <p:nvPicPr>
          <p:cNvPr id="9" name="Image 0" descr="/mnt/data/j4_enriched_assets/01_carte_g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2677"/>
            <a:ext cx="3886200" cy="190505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4251960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 conducteur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des problèmes récurrents en structures de conception reconnaissables.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46120" y="4251960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pratique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Refactoriser un checkout trop conditionnel vers Strategy, Factory, Decorator et Observer.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" y="592531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Un pattern n’est pas une recette magique : c’est un compromis nommé et transmissible.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pédagogiques du J4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Ce que les participants doivent savoir faire à la fin de la journée.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42900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Intention et structure d’un pattern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Familles création / structure / comportement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Avantages, limites et coûts cachés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70832" y="1417320"/>
            <a:ext cx="342900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 problème récurrent de conception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 pattern adapté au contexte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 patterns proches à ne pas confondre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47304" y="1417320"/>
            <a:ext cx="342900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Refactoriser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Remplacer des conditionnels par Strategy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Encapsuler la création d’objets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Composer des responsabilités sans héritage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4343400"/>
            <a:ext cx="1280160" cy="475488"/>
          </a:xfrm>
          <a:prstGeom prst="rect">
            <a:avLst/>
          </a:prstGeom>
          <a:solidFill>
            <a:srgbClr val="FEE2E2"/>
          </a:solidFill>
          <a:ln>
            <a:solidFill>
              <a:srgbClr val="EF4444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Symptôme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16352" y="4581144"/>
            <a:ext cx="1664208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498848" y="4343400"/>
            <a:ext cx="1371600" cy="475488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Pattern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4581144"/>
            <a:ext cx="173736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662672" y="4343400"/>
            <a:ext cx="1828800" cy="475488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Design explicite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Le J4 relie SOLID, GRASP et TDD à un catalogue de solutions éprouvées.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Déroulé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 de la journée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parcours du vocabulaire GoF vers le refactoring complet d’un cas réel.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1143000" cy="713232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Pourquoi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764792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929384" y="2542032"/>
            <a:ext cx="1143000" cy="713232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Création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191256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55848" y="2542032"/>
            <a:ext cx="1143000" cy="713232"/>
          </a:xfrm>
          <a:prstGeom prst="rect">
            <a:avLst/>
          </a:prstGeom>
          <a:solidFill>
            <a:srgbClr val="DCFCE7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Structure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17720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782312" y="2542032"/>
            <a:ext cx="1143000" cy="713232"/>
          </a:xfrm>
          <a:prstGeom prst="rect">
            <a:avLst/>
          </a:prstGeom>
          <a:solidFill>
            <a:srgbClr val="FEF3C7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Comportement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44184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208776" y="2542032"/>
            <a:ext cx="1143000" cy="713232"/>
          </a:xfrm>
          <a:prstGeom prst="rect">
            <a:avLst/>
          </a:prstGeom>
          <a:solidFill>
            <a:srgbClr val="E0E7FF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Combinaisons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470648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35240" y="2542032"/>
            <a:ext cx="1143000" cy="713232"/>
          </a:xfrm>
          <a:prstGeom prst="rect">
            <a:avLst/>
          </a:prstGeom>
          <a:solidFill>
            <a:srgbClr val="FEE2E2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Refactor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897112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061704" y="2542032"/>
            <a:ext cx="1143000" cy="713232"/>
          </a:xfrm>
          <a:prstGeom prst="rect">
            <a:avLst/>
          </a:prstGeom>
          <a:solidFill>
            <a:srgbClr val="CCFBF1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TP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323576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488168" y="2542032"/>
            <a:ext cx="1143000" cy="713232"/>
          </a:xfrm>
          <a:prstGeom prst="rect">
            <a:avLst/>
          </a:prstGeom>
          <a:solidFill>
            <a:srgbClr val="FCE7F3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Synthèse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66928" y="4005072"/>
            <a:ext cx="3337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Principes des patterns, création d’objets, comparaison Factory / Builder / Prototype / Singleton.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34256" y="4005072"/>
            <a:ext cx="3337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Après-midi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structurels, comportementaux, combinaisons, refactoring progressif et code.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01584" y="4005072"/>
            <a:ext cx="3337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Évaluation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checkout, quiz, fiche mémo des 23 GoF et transition vers architecture J5.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Fondamentaux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design pattern : une solution nommée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pattern décrit une relation entre un problème, un contexte et des conséquences.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1234440" cy="50292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Nom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39696" y="2084832"/>
            <a:ext cx="101498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182112" y="1828800"/>
            <a:ext cx="1508760" cy="502920"/>
          </a:xfrm>
          <a:prstGeom prst="rect">
            <a:avLst/>
          </a:prstGeom>
          <a:solidFill>
            <a:srgbClr val="FEE2E2"/>
          </a:solidFill>
          <a:ln>
            <a:solidFill>
              <a:srgbClr val="EF4444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Problème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6592" y="2084832"/>
            <a:ext cx="106984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833872" y="1828800"/>
            <a:ext cx="123444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Forces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14032" y="2084832"/>
            <a:ext cx="106984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11312" y="1828800"/>
            <a:ext cx="141732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Solution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74352" y="2084832"/>
            <a:ext cx="70408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405872" y="1828800"/>
            <a:ext cx="11430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Coût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3310128"/>
            <a:ext cx="333756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 pattern apporte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vocabulaire commun, une structure connue, des responsabilités mieux séparées et des variations mieux encapsulées.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34840" y="3310128"/>
            <a:ext cx="333756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qu’il ne remplace pas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compréhension du domaine, l’analyse des besoins, la simplicité et la mesure du coût de complexité.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83880" y="3310128"/>
            <a:ext cx="333756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réflexe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problème est-il réellement récurrent et stable, ou seulement une supposition prématurée 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Chaque pattern est un compromis. Le nom du pattern doit raccourcir la discussion, pas la remplacer.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Fondamentaux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Anatomie d’une fiche pattern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Avant de coder un pattern, on vérifie cinq informations.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3246120" cy="1170432"/>
          </a:xfrm>
          <a:prstGeom prst="rect">
            <a:avLst/>
          </a:prstGeom>
          <a:solidFill>
            <a:srgbClr val="EDE9FE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Intention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le pattern existe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444752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Dans quel type de situation 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1444752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Quels rôles et collaborations 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82112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Conséquences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Quels bénéfices et quels coûts 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3182112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Variantes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Quelles adaptations raisonnables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11312" y="3182112"/>
            <a:ext cx="2926080" cy="141732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Exemple de lecture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: Strategy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Intention : varier un algorithme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Contexte : règles métier interchangeables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Coût : plus de classes, plus de wiring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Un pattern sans intention claire devient une décoration technique.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carte des 23 patterns GoF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Trois familles selon ce que l’on veut faire varier.</a:t>
            </a:r>
            <a:endParaRPr lang="en-US" sz="1050" dirty="0"/>
          </a:p>
        </p:txBody>
      </p:sp>
      <p:pic>
        <p:nvPicPr>
          <p:cNvPr id="8" name="Image 0" descr="/mnt/data/j4_enriched_assets/01_carte_g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23790"/>
            <a:ext cx="5623560" cy="2756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325880"/>
            <a:ext cx="4297680" cy="960120"/>
          </a:xfrm>
          <a:prstGeom prst="rect">
            <a:avLst/>
          </a:prstGeom>
          <a:solidFill>
            <a:srgbClr val="DBEAFE"/>
          </a:solidFill>
          <a:ln>
            <a:solidFill>
              <a:srgbClr val="93C5F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Décider comment créer sans coupler le client aux classes concrètes.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29400" y="2633472"/>
            <a:ext cx="4297680" cy="96012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Composer objets et classes pour former des structures souples.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3941064"/>
            <a:ext cx="4297680" cy="96012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Répartir les responsabilités d’algorithme, d’état, d’événement ou de coordination.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Le bon réflexe : identifier la variation, puis seulement chercher un pattern.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Patternitis : quand le pattern devient le problème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catalogue GoF ne doit pas transformer chaque classe en architecture complète.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337560" cy="123444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Symptôme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Beaucoup de classes, beaucoup d’abstractions, mais une règle métier simple.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1417320"/>
            <a:ext cx="3337560" cy="123444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appliqué parce qu’il est connu, pas parce qu’un changement réel l’exige.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83880" y="1417320"/>
            <a:ext cx="3337560" cy="123444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Remède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Partir d’un smell, d’une variation ou d’un test difficile avant d’introduire la structure.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3913632"/>
            <a:ext cx="1508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Simplicité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4160520"/>
            <a:ext cx="17373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36592" y="391363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Changement avéré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93408" y="4160520"/>
            <a:ext cx="16733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394192" y="3913632"/>
            <a:ext cx="1600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Pattern utile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Un pattern doit réduire le coût futur d’un changement plausible, pas seulement embellir le diagramme.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Jour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482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Patterns de création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406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Découpler le code client des classes concrètes à instancier.</a:t>
            </a:r>
            <a:endParaRPr lang="en-US" sz="1500" dirty="0"/>
          </a:p>
        </p:txBody>
      </p:sp>
      <p:pic>
        <p:nvPicPr>
          <p:cNvPr id="6" name="Image 0" descr="/mnt/data/j4_enriched_assets/02_creation_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520150"/>
            <a:ext cx="2724912" cy="11776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08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problème récurrent : qui crée quoi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création d’objets révèle très vite le couplage aux détails.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4983480" cy="315468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CheckoutService {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PaymentGateway gateway;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CheckoutService(String provider) {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(provider.equals("stripe"))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gateway = new StripeGateway();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(provider.equals("paypal"))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gateway = new PaypalGateway();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080760" y="1572768"/>
            <a:ext cx="2423160" cy="114300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Problèmes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Conditionnels de création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Couplage aux classes concrètes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Tests plus lourds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23960" y="1572768"/>
            <a:ext cx="2423160" cy="114300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Intention GoF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Masquer la création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Nommer la variation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Centraliser le choix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4160520"/>
            <a:ext cx="1143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Client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62672" y="4379976"/>
            <a:ext cx="1371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061704" y="4160520"/>
            <a:ext cx="1298448" cy="438912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Creator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Les patterns de création ne servent pas à créer plus d’objets : ils servent à éviter de propager le choix concret.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Factory Method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Laisser une sous-classe ou une méthode spécialisée décider de l’objet concret.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18288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Creator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93B"/>
                </a:solidFill>
              </a:rPr>
              <a:t>+ createProduct()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816352" y="1664208"/>
            <a:ext cx="186537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709160" y="1417320"/>
            <a:ext cx="182880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Product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246120"/>
            <a:ext cx="1828800" cy="502920"/>
          </a:xfrm>
          <a:prstGeom prst="rect">
            <a:avLst/>
          </a:prstGeom>
          <a:solidFill>
            <a:srgbClr val="E0E7FF"/>
          </a:solidFill>
          <a:ln>
            <a:solidFill>
              <a:srgbClr val="4F46E5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ConcreteCreator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160" y="3246120"/>
            <a:ext cx="182880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ConcreteProduct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74520" y="3246120"/>
            <a:ext cx="0" cy="-886968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3246120"/>
            <a:ext cx="0" cy="-886968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261872"/>
            <a:ext cx="3977640" cy="3310128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Exporter { void export(Document d);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PdfExporter implements Exporter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CsvExporter implements Exporter { ...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Exporter createExporter(Format f)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switch(f)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PDF -&gt; new PdfExporter();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CSV -&gt; new CsvExporter();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68680" y="4800600"/>
            <a:ext cx="30175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utiliser quand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famille d’objets varie et le client ne doit pas connaître les classes concrètes.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43400" y="4800600"/>
            <a:ext cx="30175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éviter quand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simple constructeur suffit et aucune variation réelle n’est identifiée.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 Factory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Créer des familles cohérentes d’objets sans exposer leurs classes concrètes.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169164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UIFactory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1887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22192" y="1463040"/>
            <a:ext cx="128016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Button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2331720"/>
            <a:ext cx="11887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822192" y="2103120"/>
            <a:ext cx="128016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Dialog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246120"/>
            <a:ext cx="1691640" cy="457200"/>
          </a:xfrm>
          <a:prstGeom prst="rect">
            <a:avLst/>
          </a:prstGeom>
          <a:solidFill>
            <a:srgbClr val="E0E7FF"/>
          </a:solidFill>
          <a:ln>
            <a:solidFill>
              <a:srgbClr val="4F46E5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WebFactory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169164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MobileFactory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132588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Famille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objets créés doivent fonctionner ensemble : widgets web, mobile, desktop.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49640" y="132588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Cohérence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choisit une factory, pas une combinaison manuelle de classes.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6440" y="297180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Coût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une nouvelle famille est facile ; ajouter un nouveau type de produit peut devenir coûteux.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297180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Thèmes UI, connecteurs cloud, drivers, adapters multi-environnements.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Factory Method choisit un produit ; Abstract Factory coordonne une famille de produits.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Construire un objet complexe étape par étape en protégeant ses invariants.</a:t>
            </a:r>
            <a:endParaRPr lang="en-US" sz="1050" dirty="0"/>
          </a:p>
        </p:txBody>
      </p:sp>
      <p:pic>
        <p:nvPicPr>
          <p:cNvPr id="8" name="Image 0" descr="/mnt/data/j4_enriched_assets/03_builder_flu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71932"/>
            <a:ext cx="4526280" cy="19117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77840" y="1389888"/>
            <a:ext cx="4846320" cy="132588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order = Order.builder()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.customer(customer)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.addItem(book,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.coupon("WELCOME")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.shippingAddress(address)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.build();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3108960"/>
            <a:ext cx="2331720" cy="109728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L’appelant lit un scénario métier au lieu d’une longue liste de paramètres.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11312" y="3108960"/>
            <a:ext cx="2331720" cy="109728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Vigilance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build() doit valider les invariants ; sinon le Builder maquille un objet incohérent.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Builder est très utile lorsque le constructeur devient illisible ou que la construction suit plusieurs étapes optionnelles.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et Singleton : deux patterns à manier avec soin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Ils sont utiles, mais souvent mal compris ou sur-utilisés.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5029200" cy="1828800"/>
          </a:xfrm>
          <a:prstGeom prst="rect">
            <a:avLst/>
          </a:prstGeom>
          <a:solidFill>
            <a:srgbClr val="DBEAFE"/>
          </a:solidFill>
          <a:ln>
            <a:solidFill>
              <a:srgbClr val="93C5F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un nouvel objet en copiant un exemplaire existant. Utile quand la création est coûteuse, dynamique ou configurée à l’exécution.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73952" y="1417320"/>
            <a:ext cx="5029200" cy="182880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Singleton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Garantir une instance unique et un point d’accès contrôlé. Aujourd’hui, on privilégie souvent l’injection de dépendances et le cycle de vie géré par le conteneur.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13632"/>
            <a:ext cx="4663440" cy="123444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Prototype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ReportTemplate copy = original.clone();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copy.setTitle("Bilan mensuel");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Alternative au Singleton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CheckoutService(config, clock, logger);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3822192"/>
            <a:ext cx="43434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formateur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Cette unicité est-elle une règle métier, une contrainte technique ou seulement une facilité globale dangereuse 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Choisir un pattern de création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choix dépend surtout de ce qui varie.</a:t>
            </a:r>
            <a:endParaRPr lang="en-US" sz="1050" dirty="0"/>
          </a:p>
        </p:txBody>
      </p:sp>
      <p:pic>
        <p:nvPicPr>
          <p:cNvPr id="8" name="Image 0" descr="/mnt/data/j4_enriched_assets/02_creation_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95400"/>
            <a:ext cx="5669280" cy="245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1298448"/>
            <a:ext cx="41605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classe concrète varie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Method ou simple factory.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20840" y="2606040"/>
            <a:ext cx="41605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famille entière varie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 Factory.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20840" y="3913632"/>
            <a:ext cx="41605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construction est progressive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Builder, avec validation des invariants.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Le meilleur pattern de création est celui qui réduit le nombre d’endroits à modifier.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court — supprimer la création dispersée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Diagnostic en binôme : où placer la décision de création 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4937760" cy="178308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(type.equals("email")) sender = new EmailSender();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(type.equals("sms"))   sender = new SmsSender();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(type.equals("push"))  sender = new PushSender();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sender.send(message);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80760" y="1353312"/>
            <a:ext cx="23317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 variation est visible dans ce code 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32520" y="1353312"/>
            <a:ext cx="23317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Method, Strategy ou les deux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23317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Où placer l’abstraction Sender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32520" y="2834640"/>
            <a:ext cx="23317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4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test prouve la correction 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La création et le comportement sont souvent liés : Factory choisit, Strategy exécute.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Jour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482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Patterns structurels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406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Assembler les objets autrement pour gagner en souplesse.</a:t>
            </a:r>
            <a:endParaRPr lang="en-US" sz="1500" dirty="0"/>
          </a:p>
        </p:txBody>
      </p:sp>
      <p:pic>
        <p:nvPicPr>
          <p:cNvPr id="6" name="Image 0" descr="/mnt/data/j4_enriched_assets/04_structure_compara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467748"/>
            <a:ext cx="2724912" cy="12824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Rendre compatible une API existante avec l’interface attendue.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Client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84832" y="2057400"/>
            <a:ext cx="12527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364992" y="1828800"/>
            <a:ext cx="160020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Port attendu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10912" y="2057400"/>
            <a:ext cx="12527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291072" y="1828800"/>
            <a:ext cx="137160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Adapter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99248" y="2057400"/>
            <a:ext cx="117043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897112" y="1828800"/>
            <a:ext cx="164592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API externe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4983480" cy="146304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StripePaymentAdapter implements PaymentGateway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StripeClient client;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Receipt pay(Money amount)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StripeCharge c = client.charge(amount.cents());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Receipt(c.id());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44348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typique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Intégrer une librairie, un service externe ou une ancienne API sans contaminer le domaine avec ses types.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Adapter protège le modèle contre les détails externes ; il est très proche des Ports &amp; Adapters vus en architecture.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Découpler deux axes de variation pour éviter l’explosion de classes.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1828800" cy="6858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Abstraction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RemoteControl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1810512"/>
            <a:ext cx="19385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800600" y="1463040"/>
            <a:ext cx="1828800" cy="6858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Implementor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Device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1828800" cy="502920"/>
          </a:xfrm>
          <a:prstGeom prst="rect">
            <a:avLst/>
          </a:prstGeom>
          <a:solidFill>
            <a:srgbClr val="E0E7FF"/>
          </a:solidFill>
          <a:ln>
            <a:solidFill>
              <a:srgbClr val="4F46E5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AdvancedRemote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2880360"/>
            <a:ext cx="141732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TV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3657600"/>
            <a:ext cx="141732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Radio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86600" y="1298448"/>
            <a:ext cx="37490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Problème
</a:t>
            </a:r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dimensions changent indépendamment : interface d’usage et implémentation technique.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086600" y="2834640"/>
            <a:ext cx="37490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
</a:t>
            </a:r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L’abstraction contient une référence vers l’implémentation au lieu d’hériter de toutes les combinaisons.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Bridge est souvent moins visible que Adapter, mais il évite les hiérarchies combinatoires.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Traiter de la même manière un objet simple et un groupe d’objets.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0" y="1234440"/>
            <a:ext cx="182880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Component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0" y="1691640"/>
            <a:ext cx="0" cy="68580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560320"/>
            <a:ext cx="146304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Leaf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0" y="2560320"/>
            <a:ext cx="164592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Composite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2377440"/>
            <a:ext cx="-2286000" cy="18288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377440"/>
            <a:ext cx="2377440" cy="18288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88620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Fichier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78040" y="388620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Dossier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82128" y="3886200"/>
            <a:ext cx="0" cy="-850392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9808" y="4983480"/>
            <a:ext cx="3246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Menus, dossiers, composants UI, règles combinées.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4983480"/>
            <a:ext cx="3246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ne distingue plus élément simple et arbre.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19872" y="4983480"/>
            <a:ext cx="3246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Coût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aux opérations qui n’ont pas de sens pour les feuilles.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Decorator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Ajouter dynamiquement des responsabilités par composition.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137160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Notifier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2057400"/>
            <a:ext cx="1600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005072" y="1828800"/>
            <a:ext cx="164592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EmailNotifier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05072" y="2926080"/>
            <a:ext cx="164592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Decorator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28032" y="2926080"/>
            <a:ext cx="0" cy="-64008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629400" y="2377440"/>
            <a:ext cx="1828800" cy="45720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SlackDecorator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3154680"/>
            <a:ext cx="1828800" cy="45720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SmsDecorator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206240"/>
            <a:ext cx="5303520" cy="100584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 n = new SlackDecorator(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new SmsDecorator(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new EmailNotifier()));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n.notify("Commande validée");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4160520"/>
            <a:ext cx="42062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retenir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Decorator respecte souvent mieux OCP qu’un héritage par combinaison : EmailAndSmsAndSlackNotifier.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Facade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Offrir une interface simple vers un sous-système complexe.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12801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Client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76272" y="2468880"/>
            <a:ext cx="166420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86200" y="2148840"/>
            <a:ext cx="1920240" cy="64008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CheckoutFacade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70448" y="2468880"/>
            <a:ext cx="1627632" cy="-86868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70448" y="2468880"/>
            <a:ext cx="162763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70448" y="2468880"/>
            <a:ext cx="1627632" cy="86868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543800" y="1371600"/>
            <a:ext cx="137160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Payment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43800" y="2240280"/>
            <a:ext cx="137160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Inventory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43800" y="3108960"/>
            <a:ext cx="1371600" cy="45720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Invoice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4023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voit un cas d’usage stable, pas l’orchestration interne.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4389120"/>
            <a:ext cx="4023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Facade peut devenir un “god service” si elle absorbe trop de logique métier.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Proxy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Contrôler l’accès à un objet sans changer son interface.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Client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48840" y="2057400"/>
            <a:ext cx="12801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56432" y="1828800"/>
            <a:ext cx="128016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Proxy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73168" y="2057400"/>
            <a:ext cx="12801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080760" y="1828800"/>
            <a:ext cx="164592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Service réel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291840"/>
            <a:ext cx="23774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proxy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Retarder une création coûteuse jusqu’au moment nécessaire.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291840"/>
            <a:ext cx="23774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proxy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 droits, quotas ou règles d’accès.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3291840"/>
            <a:ext cx="23774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proxy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Masquer l’appel distant derrière une interface locale.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98280" y="3291840"/>
            <a:ext cx="20574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proxy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Réduire coût et latence si les données s’y prêtent.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Proxy ajoute un contrôle ; Decorator ajoute une responsabilité métier ou technique autour du comportement.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Flyweight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Partager l’état intrinsèque pour réduire la mémoire.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2560320" cy="54864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État intrinsèque partagé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6560" y="1508760"/>
            <a:ext cx="2560320" cy="54864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État extrinsèque fourni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11880" y="1783080"/>
            <a:ext cx="3108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3017520"/>
            <a:ext cx="77724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Glyph A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828800" y="3017520"/>
            <a:ext cx="77724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Glyph A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743200" y="3017520"/>
            <a:ext cx="77724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Glyph A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77724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Glyph A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77724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Glyph A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6858000" y="3017520"/>
            <a:ext cx="77724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Position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772400" y="3017520"/>
            <a:ext cx="77724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Position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686800" y="3017520"/>
            <a:ext cx="77724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Position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9601200" y="3017520"/>
            <a:ext cx="77724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Position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0515600" y="3017520"/>
            <a:ext cx="77724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Position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68680" y="4572000"/>
            <a:ext cx="30175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Caractères, icônes, tuiles, particules, objets massivement répétés.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43400" y="4572000"/>
            <a:ext cx="30175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Économie mémoire lorsque beaucoup d’objets partagent la même structure.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18120" y="4572000"/>
            <a:ext cx="30175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Coût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correctement ce qui est partagé et ce qui dépend du contexte.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Comparer les patterns structurels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Ils composent les objets, mais pas pour la même raison.</a:t>
            </a:r>
            <a:endParaRPr lang="en-US" sz="1050" dirty="0"/>
          </a:p>
        </p:txBody>
      </p:sp>
      <p:pic>
        <p:nvPicPr>
          <p:cNvPr id="8" name="Image 0" descr="/mnt/data/j4_enriched_assets/04_structure_compara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66744"/>
            <a:ext cx="5577840" cy="26250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280160"/>
            <a:ext cx="4297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 communiquer deux interfaces incompatibles.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29400" y="2606040"/>
            <a:ext cx="4297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Decorator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des responsabilités empilables autour d’un objet.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629400" y="3931920"/>
            <a:ext cx="4297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Facade / Proxy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Simplifier un sous-système ou contrôler l’accès à un service.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court — choisir la bonne structure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Quatre symptômes, quatre choix possibles.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4343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externe incompatible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pressenti : Adapter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350008"/>
            <a:ext cx="4343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Options combinables à l’exécution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pressenti : Decorator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374136"/>
            <a:ext cx="4343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Sous-système trop bavard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pressenti : Facade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398264"/>
            <a:ext cx="4343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 à contrôler ou retarder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pressenti : Proxy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1554480"/>
            <a:ext cx="4160520" cy="1234440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chaque symptôme, dessiner 3 rôles : client, interface attendue, objet réel.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4160520" cy="123444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attendue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pattern doit être justifié par la variation ou le couplage qu’il réduit.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La même API peut nécessiter Adapter aujourd’hui, Facade demain et Proxy si des contraintes apparaissent.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Jour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482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Patterns de comportement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406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Répartir algorithmes, états, événements et coordinations.</a:t>
            </a:r>
            <a:endParaRPr lang="en-US" sz="1500" dirty="0"/>
          </a:p>
        </p:txBody>
      </p:sp>
      <p:pic>
        <p:nvPicPr>
          <p:cNvPr id="6" name="Image 0" descr="/mnt/data/j4_enriched_assets/05_comportement_compara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441071"/>
            <a:ext cx="2724912" cy="13357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Remplacer un conditionnel d’algorithme par une famille d’objets interchangeables.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13716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Checkout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1764792"/>
            <a:ext cx="1600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913632" y="1508760"/>
            <a:ext cx="201168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DiscountStrategy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2834640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StudentDiscount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57800" y="2834640"/>
            <a:ext cx="1417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VipDiscount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19472" y="2011680"/>
            <a:ext cx="-804672" cy="82296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2011680"/>
            <a:ext cx="1024128" cy="82296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371600"/>
            <a:ext cx="3931920" cy="1572768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DiscountStrategy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apply(Cart cart);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Checkout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DiscountStrategy discount;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2743200" cy="96012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switch/if sur un type, un statut, un canal ou un pays.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60520" y="4251960"/>
            <a:ext cx="2743200" cy="96012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une règle sans modifier le service principal.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06640" y="4251960"/>
            <a:ext cx="2743200" cy="96012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Coût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de classes et besoin de choisir la stratégie.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versus Strategy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Même forme UML, intention différente.</a:t>
            </a:r>
            <a:endParaRPr lang="en-US" sz="1050" dirty="0"/>
          </a:p>
        </p:txBody>
      </p:sp>
      <p:pic>
        <p:nvPicPr>
          <p:cNvPr id="8" name="Image 0" descr="/mnt/data/j4_enriched_assets/07_state_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43166"/>
            <a:ext cx="5257800" cy="22722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325880"/>
            <a:ext cx="44348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L’algorithme est choisi par le client ou la configuration. Le contexte utilise une règle interchangeable.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55080" y="3063240"/>
            <a:ext cx="44348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comportement dépend de l’état interne, et les transitions font partie du modèle.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Question simple : qui choisit le comportement ? Le client → Strategy. L’objet selon son état → State.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Notifier plusieurs objets lorsqu’un événement survient.</a:t>
            </a:r>
            <a:endParaRPr lang="en-US" sz="1050" dirty="0"/>
          </a:p>
        </p:txBody>
      </p:sp>
      <p:pic>
        <p:nvPicPr>
          <p:cNvPr id="8" name="Image 0" descr="/mnt/data/j4_enriched_assets/06_observer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22711"/>
            <a:ext cx="5166360" cy="23302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1417320"/>
            <a:ext cx="4434840" cy="164592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order.confirm();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events.publish(new OrderConfirmed(order.id()));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listeners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invoice.on(event);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email.on(event);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analytics.on(event);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6126480" y="3547872"/>
            <a:ext cx="2148840" cy="100584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Découpler l’émetteur des réactions.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58200" y="3547872"/>
            <a:ext cx="2148840" cy="100584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Vigilance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Ordre d’exécution, erreurs silencieuses, traçabilité.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Observer est puissant, mais un flot d’événements non tracé devient vite difficile à déboguer.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Transformer une action en objet : exécuter, journaliser, annuler, rejouer.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128016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Invoker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40280" y="1874520"/>
            <a:ext cx="14630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30752" y="1645920"/>
            <a:ext cx="141732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Command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84648" y="1874520"/>
            <a:ext cx="139903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611112" y="1645920"/>
            <a:ext cx="141732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Receiver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063240"/>
            <a:ext cx="5166360" cy="114300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Command { void execute(); }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CapturePayment implements Command {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execute() { gateway.capture(order); }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41148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d’usage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d’attente, undo/redo, audit, transaction script, planification différée.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4343400"/>
            <a:ext cx="41148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Lien J3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command peut être testée isolément comme un comportement métier.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 Method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Figer un squelette d’algorithme et laisser varier certaines étapes.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4846320" cy="187452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ImportProcess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void run()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read(); validate(); transform(); save();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abstract void read();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abstract void transform();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0" y="1508760"/>
            <a:ext cx="118872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read()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35240" y="1737360"/>
            <a:ext cx="7772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458200" y="1508760"/>
            <a:ext cx="132588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validate()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829800" y="1737360"/>
            <a:ext cx="50292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378440" y="1508760"/>
            <a:ext cx="109728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save()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2834640" cy="96012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Garantit l’ordre global des étapes.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51960" y="3886200"/>
            <a:ext cx="2834640" cy="96012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Repose sur l’héritage ; moins flexible que Strategy pour varier dynamiquement.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35240" y="3886200"/>
            <a:ext cx="28346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Imports, pipelines simples, génération de documents, validations en plusieurs étapes.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Chain of Responsibility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Faire circuler une demande jusqu’au responsable capable de la traiter.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Auth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2221992"/>
            <a:ext cx="457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34640" y="196596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Quota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2221992"/>
            <a:ext cx="457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754880" y="196596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221992"/>
            <a:ext cx="457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675120" y="1965960"/>
            <a:ext cx="137160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Handler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4480560" cy="100584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 chain = auth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.then(quota)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.then(validation)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.then(commandHandler);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80760" y="3273552"/>
            <a:ext cx="42976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utiliser quand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Plusieurs objets peuvent traiter ou filtrer une requête, et l’ordre de passage a du sens.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Une chaîne trop longue ou opaque devient difficile à diagnostiquer : journalisation et ordre explicite sont essentiels.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Réduire les dépendances directes entre objets qui collaborent fortement.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92040" y="2148840"/>
            <a:ext cx="1737360" cy="59436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Mediator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1188720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Composant 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11880" y="1444752"/>
            <a:ext cx="1280160" cy="100584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955280" y="1188720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Composant 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9560" y="1444752"/>
            <a:ext cx="-1280160" cy="100584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828800" y="3657600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Composant 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11880" y="3913632"/>
            <a:ext cx="1280160" cy="-146304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955280" y="3657600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Composant 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09560" y="3913632"/>
            <a:ext cx="-1280160" cy="-146304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68680" y="4983480"/>
            <a:ext cx="2926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Moins de dépendances croisées.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43400" y="4983480"/>
            <a:ext cx="2926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médiateur peut devenir un objet dieu.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18120" y="4983480"/>
            <a:ext cx="2926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UI, workflow, orchestration de processus.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Iterator et Visitor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Deux façons de parcourir ou d’ajouter des opérations sans exposer toute la structure.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4937760" cy="1463040"/>
          </a:xfrm>
          <a:prstGeom prst="rect">
            <a:avLst/>
          </a:prstGeom>
          <a:solidFill>
            <a:srgbClr val="DBEAFE"/>
          </a:solidFill>
          <a:ln>
            <a:solidFill>
              <a:srgbClr val="93C5F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Iterator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Parcourir une collection sans connaître sa structure interne. Très présent dans les langages modernes, parfois invisible car intégré aux bibliothèques.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371600"/>
            <a:ext cx="4937760" cy="146304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Visitor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des opérations sur une structure d’objets stable sans modifier toutes les classes. Utile pour AST, arbres, modèles UML, exporteurs.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703320"/>
            <a:ext cx="4754880" cy="105156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(OrderLine line : cart.lines()) { ...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node.accept(new PriceVisitor());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node.accept(new ExportVisitor());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3657600"/>
            <a:ext cx="4434840" cy="109728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vigilance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Visitor facilite l’ajout d’opérations mais complique l’ajout de nouveaux types dans la structure visitée.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Memento et Interpreter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Deux patterns plus spécialisés mais utiles à connaître.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4846320" cy="1417320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Memento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Capturer l’état interne d’un objet pour pouvoir le restaurer sans violer l’encapsulation. Exemples : undo, sauvegarde temporaire, édition.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371600"/>
            <a:ext cx="4846320" cy="1417320"/>
          </a:xfrm>
          <a:prstGeom prst="rect">
            <a:avLst/>
          </a:prstGeom>
          <a:solidFill>
            <a:srgbClr val="E0E7FF"/>
          </a:solidFill>
          <a:ln>
            <a:solidFill>
              <a:srgbClr val="C7D2FE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Interpreter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Représenter une grammaire simple et évaluer des expressions. Exemples : règles métier simples, filtres, mini-langages.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794760"/>
            <a:ext cx="1600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Originator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99232" y="4023360"/>
            <a:ext cx="9784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005072" y="3794760"/>
            <a:ext cx="1417320" cy="45720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Memento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3794760"/>
            <a:ext cx="1600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4F46E5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Expression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39328" y="4023360"/>
            <a:ext cx="969264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345168" y="3794760"/>
            <a:ext cx="1417320" cy="457200"/>
          </a:xfrm>
          <a:prstGeom prst="rect">
            <a:avLst/>
          </a:prstGeom>
          <a:solidFill>
            <a:srgbClr val="E0E7FF"/>
          </a:solidFill>
          <a:ln>
            <a:solidFill>
              <a:srgbClr val="4F46E5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evaluate()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Ces patterns sont souvent intégrés à des frameworks ou remplacés par des bibliothèques spécialisées.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Comparer les patterns comportementaux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question centrale : quelle responsabilité veut-on déplacer ?</a:t>
            </a:r>
            <a:endParaRPr lang="en-US" sz="1050" dirty="0"/>
          </a:p>
        </p:txBody>
      </p:sp>
      <p:pic>
        <p:nvPicPr>
          <p:cNvPr id="8" name="Image 0" descr="/mnt/data/j4_enriched_assets/05_comportement_compara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23342"/>
            <a:ext cx="5532120" cy="27118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37960" y="1234440"/>
            <a:ext cx="4343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Algorithme qui varie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ou Template Method.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37960" y="2542032"/>
            <a:ext cx="4343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qui pilote le comportement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37960" y="3849624"/>
            <a:ext cx="4343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Événement ou action à diffuser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Observer, Command ou Chain.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Combinaisons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patterns se combinent souvent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design réel utilise rarement un seul pattern isolé.</a:t>
            </a:r>
            <a:endParaRPr lang="en-US" sz="1050" dirty="0"/>
          </a:p>
        </p:txBody>
      </p:sp>
      <p:pic>
        <p:nvPicPr>
          <p:cNvPr id="8" name="Image 0" descr="/mnt/data/j4_enriched_assets/08_int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90420"/>
            <a:ext cx="5715000" cy="25777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1280160"/>
            <a:ext cx="4297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+ Strategy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factory sélectionne l’algorithme selon la configuration ou le contexte.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20840" y="2606040"/>
            <a:ext cx="4297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Decorator + Observer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comportement est enrichi puis notifie des réactions secondaires.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20840" y="3931920"/>
            <a:ext cx="4297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Facade + Command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cas d’usage public déclenche des commandes internes testables.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Refactorisation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 code smell vers le pattern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 ne commence pas par choisir un pattern : on part d’un problème observé.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207008"/>
            <a:ext cx="3749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répété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Strategy / State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68680" y="2048256"/>
            <a:ext cx="3749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constructeurs dispersés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Factory / Builder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68680" y="2889504"/>
            <a:ext cx="3749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héritage combinatoire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Decorator / Bridge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68680" y="3730752"/>
            <a:ext cx="3749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externe envahissante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Adapter / Facade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3749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qui coordonne tout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Mediator / Command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989320" y="1600200"/>
            <a:ext cx="1828800" cy="502920"/>
          </a:xfrm>
          <a:prstGeom prst="rect">
            <a:avLst/>
          </a:prstGeom>
          <a:solidFill>
            <a:srgbClr val="FEE2E2"/>
          </a:solidFill>
          <a:ln>
            <a:solidFill>
              <a:srgbClr val="EF4444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Observer le smell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847088"/>
            <a:ext cx="9144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823960" y="1600200"/>
            <a:ext cx="146304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Écrire test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9320" y="2971800"/>
            <a:ext cx="182880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Refactorer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0" y="3218688"/>
            <a:ext cx="9144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823960" y="2971800"/>
            <a:ext cx="1554480" cy="50292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Vérifier OCP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Un pattern est plus robuste lorsqu’il apparaît à la fin d’un refactoring sécurisé par les tests.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Refactorisation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Refactoring progressif vers un pattern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Identifier, sécuriser, extraire, remplacer, nettoyer.</a:t>
            </a:r>
            <a:endParaRPr lang="en-US" sz="1050" dirty="0"/>
          </a:p>
        </p:txBody>
      </p:sp>
      <p:pic>
        <p:nvPicPr>
          <p:cNvPr id="8" name="Image 0" descr="/mnt/data/j4_enriched_assets/09_refactoring_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29921"/>
            <a:ext cx="5760720" cy="24895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23444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Étape 1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Caractériser le comportement existant avec des tests.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66560" y="251460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Étape 2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Extraire une abstraction minimale : pas plus que nécessaire.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Étape 3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Déplacer la variation dans des classes dédiées et supprimer le conditionnel.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fil rouge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 fil rouge — checkout trop conditionnel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symptôme : un service central accumule promotions, paiement, notifications et logs.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261872"/>
            <a:ext cx="5120640" cy="320040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CheckoutService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Receipt checkout(Cart cart, String promo, String pay, boolean vip)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(promo.equals("WELCOME")) ...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(vip) ...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(pay.equals("stripe")) ...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(pay.equals("paypal")) ...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email.send(...); analytics.track(...);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172200" y="1325880"/>
            <a:ext cx="2240280" cy="100584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Violations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SRP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OCP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DIP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Testabilité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32520" y="1325880"/>
            <a:ext cx="2240280" cy="100584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candidats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Strategy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Factory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Decorator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2200" y="2880360"/>
            <a:ext cx="48006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Rendre chaque variation explicite, remplaçable et testable sans modifier le scénario checkout principal.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fil rouge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 fil rouge — checkout refactoré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patterns collaborent pour réduire le couplage et clarifier les responsabilités.</a:t>
            </a:r>
            <a:endParaRPr lang="en-US" sz="1050" dirty="0"/>
          </a:p>
        </p:txBody>
      </p:sp>
      <p:pic>
        <p:nvPicPr>
          <p:cNvPr id="8" name="Image 0" descr="/mnt/data/j4_enriched_assets/11_checkout_refac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84370"/>
            <a:ext cx="5715000" cy="25898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1234440"/>
            <a:ext cx="4206240" cy="89611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Calcule la remise selon la règle sélectionnée.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20840" y="2423160"/>
            <a:ext cx="4206240" cy="89611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Instancie les gateways ou policies sans coupler Checkout.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20840" y="3611880"/>
            <a:ext cx="4206240" cy="89611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Decorator / Observer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 logging, notifications et réactions secondaires autour du cœur métier.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Testabilité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Tester un design à base de patterns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pattern bien placé facilite l’isolation du comportement.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291840" cy="114300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chaque stratégie avec ses cas limites, puis tester le contexte avec une stratégie factice.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3291840" cy="1143000"/>
          </a:xfrm>
          <a:prstGeom prst="rect">
            <a:avLst/>
          </a:prstGeom>
          <a:solidFill>
            <a:srgbClr val="DBEAFE"/>
          </a:solidFill>
          <a:ln>
            <a:solidFill>
              <a:srgbClr val="93C5F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le mapping configuration → objet concret. Éviter de retester le comportement de chaque produit.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3880" y="1325880"/>
            <a:ext cx="3291840" cy="114300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l’événement publié, puis chaque listener séparément.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6583680" cy="118872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void usesConfiguredDiscount()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DiscountStrategy fake = cart -&gt; Money.of(10);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Checkout checkout = new Checkout(fake, gateway);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assertEquals(Money.of(90), checkout.total(cart));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Le J3 sécurise le refactoring ; le J4 rend les collaborations plus lisibles.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Boussole de choix des patterns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Partir de la variation, pas de la liste GoF.</a:t>
            </a:r>
            <a:endParaRPr lang="en-US" sz="1050" dirty="0"/>
          </a:p>
        </p:txBody>
      </p:sp>
      <p:pic>
        <p:nvPicPr>
          <p:cNvPr id="8" name="Image 0" descr="/mnt/data/j4_enriched_assets/10_boussole_cho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62739"/>
            <a:ext cx="5760720" cy="28239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1234440"/>
            <a:ext cx="4160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varie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Création, structure, comportement, état, notification, accès, parcours.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20840" y="2514600"/>
            <a:ext cx="4160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doit rester stable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publique, cas d’usage, domaine, tests, dépendances.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20840" y="3794760"/>
            <a:ext cx="4160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 pattern coûte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Classes, indirection, configuration, complexité de lecture.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J4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 J4 — refactorisation par patterns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Refactorer sans changer le comportement observable.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29184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service de commande contient promotions, paiement, notifications, logs et conditions métier.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329184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Travail demandé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 les smells, écrire tests de caractérisation, proposer les patterns, refactorer.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83880" y="1234440"/>
            <a:ext cx="329184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Livrables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Diagramme de classes, code refactoré, justification des patterns et tests.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3977640"/>
            <a:ext cx="1188720" cy="457200"/>
          </a:xfrm>
          <a:prstGeom prst="rect">
            <a:avLst/>
          </a:prstGeom>
          <a:solidFill>
            <a:srgbClr val="FEE2E2"/>
          </a:solidFill>
          <a:ln>
            <a:solidFill>
              <a:srgbClr val="EF4444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Smells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31720" y="4206240"/>
            <a:ext cx="13258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03320" y="3977640"/>
            <a:ext cx="118872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4206240"/>
            <a:ext cx="13258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309360" y="3977640"/>
            <a:ext cx="1417320" cy="45720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Patterns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0" y="4206240"/>
            <a:ext cx="13258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0" y="3977640"/>
            <a:ext cx="118872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Revue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Critère de réussite : le code modifié doit être plus ouvert à l’extension et plus simple à tester.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J4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indicative — architecture cible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solution possible, pas l’unique solution.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1920240" cy="50292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CheckoutService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82880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DiscountStrategy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86200" y="2377440"/>
            <a:ext cx="182880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PaymentGateway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0" y="2377440"/>
            <a:ext cx="164592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OrderEvents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26880" y="2377440"/>
            <a:ext cx="1737360" cy="457200"/>
          </a:xfrm>
          <a:prstGeom prst="rect">
            <a:avLst/>
          </a:prstGeom>
          <a:solidFill>
            <a:srgbClr val="E0E7FF"/>
          </a:solidFill>
          <a:ln>
            <a:solidFill>
              <a:srgbClr val="4F46E5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AuditDecorator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23560" y="1600200"/>
            <a:ext cx="-3776472" cy="7772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23560" y="1600200"/>
            <a:ext cx="-822960" cy="7772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23560" y="1600200"/>
            <a:ext cx="2057400" cy="7772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23560" y="1600200"/>
            <a:ext cx="4572000" cy="7772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68680" y="4069080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une promotion ou un provider sans modifier CheckoutService.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160520" y="4069080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Testabilité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variation se teste seule ; le cas d’usage utilise des doubles.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7452360" y="4069080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Lisibilité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noms de classes décrivent les décisions métier.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fin J4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Questions de vérification rapide avant la synthèse.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Method ou Abstract Factory ?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172200" y="118872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Decorator ou Proxy ?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ou State ?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172200" y="228600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4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 : quel risque principal ?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5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éviter Singleton ?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172200" y="338328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6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smell mène vers Strategy ?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85800" y="448056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7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tester avant refactorer ?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172200" y="448056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8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reconnaître patternitis ?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Les réponses doivent toujours citer le problème résolu et le coût introduit.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J4 — ce qu’il faut retenir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patterns sont utiles lorsqu’ils rendent le changement moins coûteux.</a:t>
            </a:r>
            <a:endParaRPr lang="en-US" sz="1050" dirty="0"/>
          </a:p>
        </p:txBody>
      </p:sp>
      <p:pic>
        <p:nvPicPr>
          <p:cNvPr id="8" name="Image 0" descr="/mnt/data/j4_enriched_assets/12_synth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71156"/>
            <a:ext cx="5394960" cy="24333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188720"/>
            <a:ext cx="45720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Nommer un problème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pattern donne un vocabulaire commun à l’équipe.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331720"/>
            <a:ext cx="45720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Encapsuler une variation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Création, structure ou comportement deviennent remplaçables.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3474720"/>
            <a:ext cx="45720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Refactorer progressivement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d’abord, abstraction minimale, suppression du smell.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55080" y="4617720"/>
            <a:ext cx="45720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Mesurer le coût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Indirection, classes et complexité doivent rester justifiées.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8128" y="201168"/>
            <a:ext cx="1645920" cy="256032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vers J5 — des patterns à l’architecture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même raisonnement change d’échelle.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128016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Classes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2221992"/>
            <a:ext cx="15087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86200" y="1965960"/>
            <a:ext cx="155448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Composants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221992"/>
            <a:ext cx="155448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086600" y="1965960"/>
            <a:ext cx="141732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Packages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49640" y="2221992"/>
            <a:ext cx="1234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829800" y="1965960"/>
            <a:ext cx="1600200" cy="50292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31089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reste vrai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Dépendances, responsabilités, variation, testabilité, cohésion.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3703320"/>
            <a:ext cx="31089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change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décisions deviennent plus coûteuses, plus transverses et plus organisationnelles.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3703320"/>
            <a:ext cx="31089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J5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Styles architecturaux, exigences, qualité, Agile, XP et Scrum.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DE9FE"/>
          </a:solidFill>
          <a:ln>
            <a:solidFill>
              <a:srgbClr val="DDD6FE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Le J5 fera passer les mêmes réflexes de conception du niveau classe au niveau système.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J4 — Conception objet, Design Patterns et Architecture</dc:title>
  <dc:subject>Jour 4 — Design Patterns GoF et refactorisation</dc:subject>
  <dc:creator>OpenAI</dc:creator>
  <cp:lastModifiedBy>OpenAI</cp:lastModifiedBy>
  <cp:revision>1</cp:revision>
  <dcterms:created xsi:type="dcterms:W3CDTF">2026-08-30T07:06:11Z</dcterms:created>
  <dcterms:modified xsi:type="dcterms:W3CDTF">2026-08-30T07:06:11Z</dcterms:modified>
</cp:coreProperties>
</file>