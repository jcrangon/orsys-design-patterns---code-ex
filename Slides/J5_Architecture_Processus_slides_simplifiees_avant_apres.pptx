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image" Target="../media/image-26-3.png"/><Relationship Id="rId4" Type="http://schemas.openxmlformats.org/officeDocument/2006/relationships/image" Target="../media/image-2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image" Target="../media/image-27-3.png"/><Relationship Id="rId4" Type="http://schemas.openxmlformats.org/officeDocument/2006/relationships/image" Target="../media/image-2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image" Target="../media/image-28-3.png"/><Relationship Id="rId4" Type="http://schemas.openxmlformats.org/officeDocument/2006/relationships/image" Target="../media/image-2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image" Target="../media/image-29-3.png"/><Relationship Id="rId4" Type="http://schemas.openxmlformats.org/officeDocument/2006/relationships/image" Target="../media/image-2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image" Target="../media/image-30-3.png"/><Relationship Id="rId4" Type="http://schemas.openxmlformats.org/officeDocument/2006/relationships/image" Target="../media/image-3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image" Target="../media/image-31-3.png"/><Relationship Id="rId4" Type="http://schemas.openxmlformats.org/officeDocument/2006/relationships/image" Target="../media/image-3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image" Target="../media/image-32-3.png"/><Relationship Id="rId4" Type="http://schemas.openxmlformats.org/officeDocument/2006/relationships/image" Target="../media/image-3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svg"/><Relationship Id="rId3" Type="http://schemas.openxmlformats.org/officeDocument/2006/relationships/image" Target="../media/image-33-3.png"/><Relationship Id="rId4" Type="http://schemas.openxmlformats.org/officeDocument/2006/relationships/image" Target="../media/image-3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svg"/><Relationship Id="rId3" Type="http://schemas.openxmlformats.org/officeDocument/2006/relationships/image" Target="../media/image-34-3.png"/><Relationship Id="rId4" Type="http://schemas.openxmlformats.org/officeDocument/2006/relationships/image" Target="../media/image-3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svg"/><Relationship Id="rId3" Type="http://schemas.openxmlformats.org/officeDocument/2006/relationships/image" Target="../media/image-35-3.png"/><Relationship Id="rId4" Type="http://schemas.openxmlformats.org/officeDocument/2006/relationships/image" Target="../media/image-3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svg"/><Relationship Id="rId3" Type="http://schemas.openxmlformats.org/officeDocument/2006/relationships/image" Target="../media/image-36-3.png"/><Relationship Id="rId4" Type="http://schemas.openxmlformats.org/officeDocument/2006/relationships/image" Target="../media/image-3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svg"/><Relationship Id="rId3" Type="http://schemas.openxmlformats.org/officeDocument/2006/relationships/image" Target="../media/image-37-3.png"/><Relationship Id="rId4" Type="http://schemas.openxmlformats.org/officeDocument/2006/relationships/image" Target="../media/image-3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svg"/><Relationship Id="rId3" Type="http://schemas.openxmlformats.org/officeDocument/2006/relationships/image" Target="../media/image-38-3.png"/><Relationship Id="rId4" Type="http://schemas.openxmlformats.org/officeDocument/2006/relationships/image" Target="../media/image-3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svg"/><Relationship Id="rId3" Type="http://schemas.openxmlformats.org/officeDocument/2006/relationships/image" Target="../media/image-39-3.png"/><Relationship Id="rId4" Type="http://schemas.openxmlformats.org/officeDocument/2006/relationships/image" Target="../media/image-3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svg"/><Relationship Id="rId3" Type="http://schemas.openxmlformats.org/officeDocument/2006/relationships/image" Target="../media/image-40-3.png"/><Relationship Id="rId4" Type="http://schemas.openxmlformats.org/officeDocument/2006/relationships/image" Target="../media/image-4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svg"/><Relationship Id="rId3" Type="http://schemas.openxmlformats.org/officeDocument/2006/relationships/image" Target="../media/image-41-3.png"/><Relationship Id="rId4" Type="http://schemas.openxmlformats.org/officeDocument/2006/relationships/image" Target="../media/image-4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svg"/><Relationship Id="rId3" Type="http://schemas.openxmlformats.org/officeDocument/2006/relationships/image" Target="../media/image-42-3.png"/><Relationship Id="rId4" Type="http://schemas.openxmlformats.org/officeDocument/2006/relationships/image" Target="../media/image-4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svg"/><Relationship Id="rId3" Type="http://schemas.openxmlformats.org/officeDocument/2006/relationships/image" Target="../media/image-43-3.png"/><Relationship Id="rId4" Type="http://schemas.openxmlformats.org/officeDocument/2006/relationships/image" Target="../media/image-4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svg"/><Relationship Id="rId3" Type="http://schemas.openxmlformats.org/officeDocument/2006/relationships/image" Target="../media/image-44-3.png"/><Relationship Id="rId4" Type="http://schemas.openxmlformats.org/officeDocument/2006/relationships/image" Target="../media/image-4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svg"/><Relationship Id="rId3" Type="http://schemas.openxmlformats.org/officeDocument/2006/relationships/image" Target="../media/image-45-3.png"/><Relationship Id="rId4" Type="http://schemas.openxmlformats.org/officeDocument/2006/relationships/image" Target="../media/image-4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Jour 5 — Architecture logicielle &amp; processus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On passe du niveau objet au niveau système : décisions, compromis, preuves et processus de livraison.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Une architecture est utile quand elle répond à une force réelle, pas quand elle suit une mode.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Objectifs pédagogiques du J5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Analyser les forces, choisir une solution, puis livrer avec feedback court.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Objectif : relier une décision technique à un driver, un compromis et une preuve.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Déroulé pédagogique de la journée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La progression : exigences → décisions → styles → qualité → processus → TP final.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On ne commence pas par la technologie ; on commence par ce qui force les choix.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Qu’appelle-t-on architecture logicielle 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L’architecture concerne les décisions difficiles à changer : frontières, interactions, données, sécurité, déploiement.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Une architecture utile explique les décisions coûteuses, pas seulement les dossiers ou les boîtes.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 exigences à l’architecture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On distingue drivers, contraintes, risques et décisions.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Une décision architecturale doit pouvoir être reliée à une force explicite.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Scénarios de qualité mesurables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Une qualité devient utile quand elle est formulée avec contexte, réponse et mesure.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“Rapide” ne guide pas le design ; “p95 &lt; 300 ms sous 1000 req/min” le guide.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rapide — identifier les drivers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Tout ne peut pas être prioritaire : on choisit les forces qui changent vraiment les décisions.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Un vrai driver est une exigence qui change concrètement l’architecture.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Décider et documenter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Documenter évite qu’une décision importante devienne une tradition orale incomprise.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La documentation utile explique la raison d’un choix, pas seulement le choix.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ADR — Architecture Decision Record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Un ADR court contient contexte, décision, conséquences et statut.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Un bon ADR garde la mémoire du “pourquoi”, pas seulement du “quoi”.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Exemple d’ADR — communication de réservation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Une architecture réelle peut combiner synchrone et asynchrone selon les drivers.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Paiement et confirmation peuvent rester synchrones ; email et analytics peuvent partir en événement.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Patterns de distribution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Ils décrivent comment les composants se parlent et comment les responsabilités circulent.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Le style de distribution se choisit selon le flux et la qualité prioritaire.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Client/Serveur — style de base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Un appel réseau n’est pas un appel de méthode plus lent : il peut échouer autrement.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Réseau = latence, panne partielle, compatibilité, timeout et idempotence.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Repository — isoler la persistance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Le cœur a besoin de sauvegarder une réservation, pas de connaître SQL ou MongoDB.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Le Repository protège le domaine de la technologie de stockage.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Bus — partager des événements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Le producteur publie un fait ; les réactions secondaires s’abonnent sans le coupler.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Le bus découple les réactions, mais impose contrats, idempotence et observabilité.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Blackboard — contributions successives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Utile quand plusieurs experts enrichissent un état partagé plutôt qu’un workflow linéaire.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Blackboard convient quand la résolution progresse par connaissances successives.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Comparer les patterns de distribution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Il n’y a pas de gagnant universel : chaque style optimise une qualité au prix d’un coût.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Formule utile : “Nous choisissons X pour soutenir Y, au prix de Z”.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Patterns de systèmes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MVC, couches, plug-in et pipeline organisent l’intérieur du système.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Les styles peuvent coexister si chacun répond à un problème précis.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MVC — séparer interaction, état et présentation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Le contrôleur coordonne l’entrée ; il ne doit pas absorber tout le métier.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Contrôleur = traduire et coordonner ; règles métier = domaine/use case.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en couches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Les couches protègent une direction de dépendance, pas seulement une arborescence.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Le domaine/application dépend de ports ; l’infrastructure implémente ces ports.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Plug-in Style — extension sans modifier le cœur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Le cœur publie une API stable ; les extensions s’enregistrent autour.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Ajouter XML doit ajouter un plug-in, pas modifier le cœur.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— transformer un flux étape par étape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Chaque étape est indépendante, testable et recomposable.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Pipeline est lisible si l’ordre est clair et si les étapes ne partagent pas trop d’état.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Combiner sans mélanger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Une architecture peut utiliser plusieurs styles, chacun avec une responsabilité claire.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La question de revue : quelle force justifie chaque mécanisme ?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Tactiques de qualité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Une tactique est une réponse technique ciblée à un attribut de qualité.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Une tactique doit améliorer une qualité mesurable et annoncer son coût.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Tactiques architecturales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Retry, cache, timeout, audit, métriques : chaque tactique crée aussi une responsabilité.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Retry sans limite ni idempotence peut transformer une panne réseau en double effet métier.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qualités se négocient entre elles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Améliorer une qualité peut en dégrader une autre : il faut l’écrire.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Demander : “qu’avons-nous volontairement rendu plus difficile ?”.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Testabilité et observabilité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Un système doit être vérifiable par tests et lisible en production.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Logs, métriques et traces sont des preuves de fonctionnement, pas des décorations.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Documenter par vues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Une vue répond à une question précise : logique, dynamique, déploiement ou sécurité.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Documenter juste assez = choisir la vue qui réduit un risque de compréhension.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Règles d’architecture automatisables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Une règle dans un wiki s’érode ; une règle en CI donne un feedback immédiat.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La gouvernance devient concrète quand elle est exécutable.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Processus itératif et incrémental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On décide juste assez, on produit une preuve, on observe, puis on ajuste.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L’architecture évolue par apprentissage contrôlé, pas par improvisation.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Concevoir dans un processus itératif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Itératif = améliorer ; incrémental = livrer par morceaux.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Une architecture émergente n’est pas une absence de direction : elle reste guidée par tests, ADR et frontières.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Manifeste Agile : impact sur la conception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Agile ne supprime pas la conception ; il rend la conception continue et révisable.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Agile refuse la prédiction totale, pas la réflexion architecturale.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XP — pratiques d’ingénierie au service du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TDD, refactoring, CI et propriété collective rendent l’évolution plus sûre.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Simple Design ne veut pas dire simpliste : juste assez de structure avec capacité d’évolution.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Scrum — cadence, inspection et adaptation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Le travail d’architecture doit être visible dans le backlog et inspecté régulièrement.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L’architecture doit être inspectable, pas dissimulée hors du backlog.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runway et dette technique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Le runway prépare juste assez de capacité technique pour les prochains incréments.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Une dette acceptable est comprise, limitée, suivie et reliée à un risque concret.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Definition of Done enrichie par l’architecture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La DoD transforme des attentes de qualité en critères répétés à chaque livraison.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La DoD évite que la qualité dépende seulement de la mémoire du développeur.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Spike technique — apprendre avant d’engager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Un spike est une expérience courte pour réduire une incertitude technique.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Le produit principal d’un spike est l’apprentissage, pas forcément du code de production.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TP final de synthèse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Construire une architecture justifiée, testable et livrable par incréments.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Le TP évalue la cohérence du raisonnement, pas la beauté du dessin.</a:t>
            </a:r>
            <a:endParaRPr lang="en-US" sz="13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 fil rouge — plateforme de réservation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Recherche, réservation, paiement, notifications, administration : contraintes et qualités prioritaires.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On choisit les styles après avoir nommé les forces et les risques.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Déroulé du TP final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L’ordre de travail empêche de confondre architecture et choix technologique.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Premier livrable : drivers et scénarios qualité, pas le diagramme.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Correction indicative — architecture cible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Une solution combine clients web/mobile, API, use cases, domaine, ports, adapters et bus.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La correction combine J1–J5 : responsabilités, dépendances, tests, patterns et décisions explicites.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Restitution attendue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Défendre une architecture, c’est expliquer les drivers, les frontières, les compromis et les preuves.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Une bonne restitution dit aussi ce que l’architecture rend plus coûteux.</a:t>
            </a:r>
            <a:endParaRPr lang="en-US" sz="13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de fin J5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Les réponses doivent être concrètes : définition courte + exemple.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Le vocabulaire est utile seulement s’il aide à raisonner sur un vrai système.</a:t>
            </a:r>
            <a:endParaRPr lang="en-US" sz="13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Synthèse J5 — ce qu’il faut retenir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La boucle : drivers → décisions → compromis → preuves.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Le rôle senior : rendre la boucle de décision explicite et vérifiable.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Synthèse des 5 jours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Les cinq jours forment un seul fil : responsabilités, dépendances, tests, patterns, architecture.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Même raisonnement, mais à des échelles différentes.</a:t>
            </a:r>
            <a:endParaRPr lang="en-US" sz="13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Passer à la pratique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99648" y="201168"/>
            <a:ext cx="777240" cy="31089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solidFill>
            <a:srgbClr val="E8F2FA"/>
          </a:solidFill>
          <a:ln>
            <a:solidFill>
              <a:srgbClr val="CCE0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033"/>
                </a:solidFill>
              </a:rPr>
              <a:t>Action immédiate : écrire un ADR court pour une décision actuelle et chercher la preuve associée.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40680" cy="292608"/>
          </a:xfrm>
          <a:prstGeom prst="rect">
            <a:avLst/>
          </a:prstGeom>
          <a:solidFill>
            <a:srgbClr val="B3261E"/>
          </a:solidFill>
          <a:ln>
            <a:solidFill>
              <a:srgbClr val="B3261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MAUVAIS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40680" cy="256032"/>
          </a:xfrm>
          <a:prstGeom prst="rect">
            <a:avLst/>
          </a:prstGeom>
          <a:solidFill>
            <a:srgbClr val="FCECEA"/>
          </a:solidFill>
          <a:ln>
            <a:solidFill>
              <a:srgbClr val="FCECE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B3261E"/>
                </a:solidFill>
              </a:rPr>
              <a:t>Ce qui pose problème</a:t>
            </a:r>
            <a:endParaRPr lang="en-US" sz="94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103120"/>
            <a:ext cx="544068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81328"/>
            <a:ext cx="5440680" cy="292608"/>
          </a:xfrm>
          <a:prstGeom prst="rect">
            <a:avLst/>
          </a:prstGeom>
          <a:solidFill>
            <a:srgbClr val="27824A"/>
          </a:solidFill>
          <a:ln>
            <a:solidFill>
              <a:srgbClr val="2782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MIEUX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4496" y="1810512"/>
            <a:ext cx="5440680" cy="256032"/>
          </a:xfrm>
          <a:prstGeom prst="rect">
            <a:avLst/>
          </a:prstGeom>
          <a:solidFill>
            <a:srgbClr val="E9F6ED"/>
          </a:solidFill>
          <a:ln>
            <a:solidFill>
              <a:srgbClr val="E9F6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i="1" dirty="0">
                <a:solidFill>
                  <a:srgbClr val="27824A"/>
                </a:solidFill>
              </a:rPr>
              <a:t>Version plus saine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2103120"/>
            <a:ext cx="544068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Décider consciemment, expliquer les choix, changer le système avec moins de peur.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J5 Architecture logicielle et processus</dc:title>
  <dc:subject>J5 Architecture logicielle et processus - slides simplifiées avant/après</dc:subject>
  <dc:creator>OpenAI</dc:creator>
  <cp:lastModifiedBy>OpenAI</cp:lastModifiedBy>
  <cp:revision>1</cp:revision>
  <dcterms:created xsi:type="dcterms:W3CDTF">2026-09-08T04:51:14Z</dcterms:created>
  <dcterms:modified xsi:type="dcterms:W3CDTF">2026-09-08T04:51:14Z</dcterms:modified>
</cp:coreProperties>
</file>