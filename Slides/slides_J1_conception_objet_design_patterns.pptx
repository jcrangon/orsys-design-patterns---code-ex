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— support projeté du Jour 1. Insister sur les décisions de conception, les scénarios de changement et la justification des responsabilités.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— support projeté du Jour 1. Insister sur les décisions de conception, les scénarios de changement et la justification des responsabilités.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— support projeté du Jour 1. Insister sur les décisions de conception, les scénarios de changement et la justification des responsabilités.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— support projeté du Jour 1. Insister sur les décisions de conception, les scénarios de changement et la justification des responsabilités.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— support projeté du Jour 1. Insister sur les décisions de conception, les scénarios de changement et la justification des responsabilités.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— support projeté du Jour 1. Insister sur les décisions de conception, les scénarios de changement et la justification des responsabilités.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— support projeté du Jour 1. Insister sur les décisions de conception, les scénarios de changement et la justification des responsabilités.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— support projeté du Jour 1. Insister sur les décisions de conception, les scénarios de changement et la justification des responsabilités.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 — support projeté du Jour 1. Insister sur les décisions de conception, les scénarios de changement et la justification des responsabilités.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10 — support projeté du Jour 1. Insister sur les décisions de conception, les scénarios de changement et la justification des responsabilités.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11 — support projeté du Jour 1. Insister sur les décisions de conception, les scénarios de changement et la justification des responsabilités.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12 — support projeté du Jour 1. Insister sur les décisions de conception, les scénarios de changement et la justification des responsabilités.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13 — support projeté du Jour 1. Insister sur les décisions de conception, les scénarios de changement et la justification des responsabilités.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14 — support projeté du Jour 1. Insister sur les décisions de conception, les scénarios de changement et la justification des responsabilités.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15 — support projeté du Jour 1. Insister sur les décisions de conception, les scénarios de changement et la justification des responsabilités.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16 — support projeté du Jour 1. Insister sur les décisions de conception, les scénarios de changement et la justification des responsabilités.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17 — support projeté du Jour 1. Insister sur les décisions de conception, les scénarios de changement et la justification des responsabilités.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18 — support projeté du Jour 1. Insister sur les décisions de conception, les scénarios de changement et la justification des responsabilités.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19 — support projeté du Jour 1. Insister sur les décisions de conception, les scénarios de changement et la justification des responsabilités.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20 — support projeté du Jour 1. Insister sur les décisions de conception, les scénarios de changement et la justification des responsabilités.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21 — support projeté du Jour 1. Insister sur les décisions de conception, les scénarios de changement et la justification des responsabilités.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22 — support projeté du Jour 1. Insister sur les décisions de conception, les scénarios de changement et la justification des responsabilités.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23 — support projeté du Jour 1. Insister sur les décisions de conception, les scénarios de changement et la justification des responsabilités.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24 — support projeté du Jour 1. Insister sur les décisions de conception, les scénarios de changement et la justification des responsabilités.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25 — support projeté du Jour 1. Insister sur les décisions de conception, les scénarios de changement et la justification des responsabilités.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26 — support projeté du Jour 1. Insister sur les décisions de conception, les scénarios de changement et la justification des responsabilités.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27 — support projeté du Jour 1. Insister sur les décisions de conception, les scénarios de changement et la justification des responsabilités.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28 — support projeté du Jour 1. Insister sur les décisions de conception, les scénarios de changement et la justification des responsabilités.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29 — support projeté du Jour 1. Insister sur les décisions de conception, les scénarios de changement et la justification des responsabilités.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30 — support projeté du Jour 1. Insister sur les décisions de conception, les scénarios de changement et la justification des responsabilités.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31 — support projeté du Jour 1. Insister sur les décisions de conception, les scénarios de changement et la justification des responsabilités.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32 — support projeté du Jour 1. Insister sur les décisions de conception, les scénarios de changement et la justification des responsabilités.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33 — support projeté du Jour 1. Insister sur les décisions de conception, les scénarios de changement et la justification des responsabilités.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34 — support projeté du Jour 1. Insister sur les décisions de conception, les scénarios de changement et la justification des responsabilités.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35 — support projeté du Jour 1. Insister sur les décisions de conception, les scénarios de changement et la justification des responsabilités.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36 — support projeté du Jour 1. Insister sur les décisions de conception, les scénarios de changement et la justification des responsabilités.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37 — support projeté du Jour 1. Insister sur les décisions de conception, les scénarios de changement et la justification des responsabilités.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38 — support projeté du Jour 1. Insister sur les décisions de conception, les scénarios de changement et la justification des responsabilités.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39 — support projeté du Jour 1. Insister sur les décisions de conception, les scénarios de changement et la justification des responsabilités.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40 — support projeté du Jour 1. Insister sur les décisions de conception, les scénarios de changement et la justification des responsabilités.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41 — support projeté du Jour 1. Insister sur les décisions de conception, les scénarios de changement et la justification des responsabilités.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42 — support projeté du Jour 1. Insister sur les décisions de conception, les scénarios de changement et la justification des responsabilités.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43 — support projeté du Jour 1. Insister sur les décisions de conception, les scénarios de changement et la justification des responsabilités.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44 — support projeté du Jour 1. Insister sur les décisions de conception, les scénarios de changement et la justification des responsabilités.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E5EFF"/>
          </a:solidFill>
          <a:ln w="12700">
            <a:solidFill>
              <a:srgbClr val="1E5E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6858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Jour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" y="1097280"/>
            <a:ext cx="6858000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Fondamentaux de la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conception objet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21792" y="2514600"/>
            <a:ext cx="7269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POO • UML • héritage • composition • OCP • LSP • couplage • cohésion • responsabilités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0" y="868680"/>
            <a:ext cx="3063240" cy="4480560"/>
          </a:xfrm>
          <a:prstGeom prst="roundRect">
            <a:avLst>
              <a:gd name="adj" fmla="val 4478"/>
            </a:avLst>
          </a:prstGeom>
          <a:solidFill>
            <a:srgbClr val="FFFFFF"/>
          </a:solidFill>
          <a:ln w="10160">
            <a:solidFill>
              <a:srgbClr val="D6DEE8"/>
            </a:solidFill>
            <a:prstDash val="solid"/>
          </a:ln>
        </p:spPr>
      </p:sp>
      <p:pic>
        <p:nvPicPr>
          <p:cNvPr id="7" name="Image 0" descr="/mnt/data/j1_enriched_assets/10_synthe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4192" y="2317433"/>
            <a:ext cx="2697480" cy="153733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21792" y="62362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projeté — J1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29768" y="65105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J1 — Fondamentaux de la conception objet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5EFF"/>
          </a:solidFill>
          <a:ln w="12700">
            <a:solidFill>
              <a:srgbClr val="1E5E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256032"/>
            <a:ext cx="1088136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Objectifs pédagogiques du J1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38912" y="713232"/>
            <a:ext cx="10332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 que les apprenants doivent savoir expliquer, décider et justifier à la fin de la journée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20624" y="987552"/>
            <a:ext cx="11201400" cy="0"/>
          </a:xfrm>
          <a:prstGeom prst="line">
            <a:avLst/>
          </a:prstGeom>
          <a:noFill/>
          <a:ln w="10160">
            <a:solidFill>
              <a:srgbClr val="D6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7899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09:00–17:00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1783080" y="1078992"/>
            <a:ext cx="9418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Compétences visées</a:t>
            </a:r>
            <a:endParaRPr lang="en-US" sz="940" dirty="0"/>
          </a:p>
        </p:txBody>
      </p:sp>
      <p:sp>
        <p:nvSpPr>
          <p:cNvPr id="8" name="Text 6"/>
          <p:cNvSpPr/>
          <p:nvPr/>
        </p:nvSpPr>
        <p:spPr>
          <a:xfrm>
            <a:off x="594360" y="1508760"/>
            <a:ext cx="5303520" cy="43891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8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Relier les fondamentaux POO à des décisions de conception concrètes.</a:t>
            </a:r>
            <a:endParaRPr lang="en-US" sz="1800" dirty="0"/>
          </a:p>
          <a:p>
            <a:r>
              <a:rPr lang="en-US" sz="18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Utiliser UML comme outil de réflexion, pas comme simple documentation.</a:t>
            </a:r>
            <a:endParaRPr lang="en-US" sz="1800" dirty="0"/>
          </a:p>
          <a:p>
            <a:r>
              <a:rPr lang="en-US" sz="18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Arbitrer entre héritage et composition selon la variabilité du domaine.</a:t>
            </a:r>
            <a:endParaRPr lang="en-US" sz="1800" dirty="0"/>
          </a:p>
          <a:p>
            <a:r>
              <a:rPr lang="en-US" sz="18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Appliquer OCP et LSP à des cas de changement réalistes.</a:t>
            </a:r>
            <a:endParaRPr lang="en-US" sz="1800" dirty="0"/>
          </a:p>
          <a:p>
            <a:r>
              <a:rPr lang="en-US" sz="18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Diagnostiquer couplage, cohésion et responsabilités dans un modèle objet.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92240" y="1600200"/>
            <a:ext cx="4526280" cy="1280160"/>
          </a:xfrm>
          <a:prstGeom prst="roundRect">
            <a:avLst>
              <a:gd name="adj" fmla="val 5714"/>
            </a:avLst>
          </a:prstGeom>
          <a:solidFill>
            <a:srgbClr val="EAF1FF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37960" y="1673352"/>
            <a:ext cx="73152" cy="1133856"/>
          </a:xfrm>
          <a:prstGeom prst="rect">
            <a:avLst/>
          </a:prstGeom>
          <a:solidFill>
            <a:srgbClr val="1E5EFF"/>
          </a:solidFill>
          <a:ln w="12700">
            <a:solidFill>
              <a:srgbClr val="1E5E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11696" y="1746504"/>
            <a:ext cx="421538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Résultat attendu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711696" y="2075688"/>
            <a:ext cx="421538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modèle objet lisible, testable et prêt à évoluer sans propager chaque changement dans tout le code.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6492240" y="3090672"/>
            <a:ext cx="4526280" cy="1298448"/>
          </a:xfrm>
          <a:prstGeom prst="roundRect">
            <a:avLst>
              <a:gd name="adj" fmla="val 5634"/>
            </a:avLst>
          </a:prstGeom>
          <a:solidFill>
            <a:srgbClr val="EAF8F1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37960" y="3163824"/>
            <a:ext cx="73152" cy="1152144"/>
          </a:xfrm>
          <a:prstGeom prst="rect">
            <a:avLst/>
          </a:prstGeom>
          <a:solidFill>
            <a:srgbClr val="20A76F"/>
          </a:solidFill>
          <a:ln w="12700">
            <a:solidFill>
              <a:srgbClr val="20A76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11696" y="3236976"/>
            <a:ext cx="421538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 rouge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711696" y="3566160"/>
            <a:ext cx="4215384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Commande, paiement, remise, livraison et état métier : un terrain simple pour observer les responsabilités.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6492240" y="4572000"/>
            <a:ext cx="4526280" cy="932688"/>
          </a:xfrm>
          <a:prstGeom prst="roundRect">
            <a:avLst>
              <a:gd name="adj" fmla="val 7843"/>
            </a:avLst>
          </a:prstGeom>
          <a:solidFill>
            <a:srgbClr val="FFF4E7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37960" y="4645152"/>
            <a:ext cx="73152" cy="786384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11696" y="4718304"/>
            <a:ext cx="421538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Méthode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711696" y="5047488"/>
            <a:ext cx="4215384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Questionner → modéliser → coder petit → relire → refactorer.</a:t>
            </a:r>
            <a:endParaRPr lang="en-US" sz="1180" dirty="0"/>
          </a:p>
        </p:txBody>
      </p:sp>
      <p:sp>
        <p:nvSpPr>
          <p:cNvPr id="21" name="Text 19"/>
          <p:cNvSpPr/>
          <p:nvPr/>
        </p:nvSpPr>
        <p:spPr>
          <a:xfrm>
            <a:off x="429768" y="65105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J1 — Fondamentaux de la conception objet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5EFF"/>
          </a:solidFill>
          <a:ln w="12700">
            <a:solidFill>
              <a:srgbClr val="1E5E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256032"/>
            <a:ext cx="1088136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Déroulé pédagogique de la journée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38912" y="713232"/>
            <a:ext cx="10332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progression du langage objet vers la conception maintenable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20624" y="987552"/>
            <a:ext cx="11201400" cy="0"/>
          </a:xfrm>
          <a:prstGeom prst="line">
            <a:avLst/>
          </a:prstGeom>
          <a:noFill/>
          <a:ln w="10160">
            <a:solidFill>
              <a:srgbClr val="D6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7899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VUE D’ENSEMBLE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1783080" y="1078992"/>
            <a:ext cx="9418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Séquences</a:t>
            </a:r>
            <a:endParaRPr lang="en-US" sz="94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1234440" cy="960120"/>
          </a:xfrm>
          <a:prstGeom prst="roundRect">
            <a:avLst>
              <a:gd name="adj" fmla="val 7619"/>
            </a:avLst>
          </a:prstGeom>
          <a:solidFill>
            <a:srgbClr val="EAF1FF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30552"/>
            <a:ext cx="105156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Diagnostic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POO / UML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1810512" y="233172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2121408" y="2011680"/>
            <a:ext cx="1234440" cy="960120"/>
          </a:xfrm>
          <a:prstGeom prst="roundRect">
            <a:avLst>
              <a:gd name="adj" fmla="val 7619"/>
            </a:avLst>
          </a:prstGeom>
          <a:solidFill>
            <a:srgbClr val="EAF8F1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12848" y="2130552"/>
            <a:ext cx="105156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Fondations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Classe, objet, invariant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3383280" y="233172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3694176" y="2011680"/>
            <a:ext cx="1234440" cy="960120"/>
          </a:xfrm>
          <a:prstGeom prst="roundRect">
            <a:avLst>
              <a:gd name="adj" fmla="val 7619"/>
            </a:avLst>
          </a:prstGeom>
          <a:solidFill>
            <a:srgbClr val="EAF1FF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85616" y="2130552"/>
            <a:ext cx="105156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UML utile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Classes + séquences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4956048" y="233172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266944" y="2011680"/>
            <a:ext cx="1234440" cy="960120"/>
          </a:xfrm>
          <a:prstGeom prst="roundRect">
            <a:avLst>
              <a:gd name="adj" fmla="val 7619"/>
            </a:avLst>
          </a:prstGeom>
          <a:solidFill>
            <a:srgbClr val="EAF8F1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58384" y="2130552"/>
            <a:ext cx="105156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Héritage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forces et fragilités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6528816" y="233172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839712" y="2011680"/>
            <a:ext cx="1234440" cy="960120"/>
          </a:xfrm>
          <a:prstGeom prst="roundRect">
            <a:avLst>
              <a:gd name="adj" fmla="val 7619"/>
            </a:avLst>
          </a:prstGeom>
          <a:solidFill>
            <a:srgbClr val="EAF1FF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31152" y="2130552"/>
            <a:ext cx="105156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SOLID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OCP puis LSP</a:t>
            </a:r>
            <a:endParaRPr lang="en-US" sz="1220" dirty="0"/>
          </a:p>
        </p:txBody>
      </p:sp>
      <p:sp>
        <p:nvSpPr>
          <p:cNvPr id="22" name="Text 20"/>
          <p:cNvSpPr/>
          <p:nvPr/>
        </p:nvSpPr>
        <p:spPr>
          <a:xfrm>
            <a:off x="8101584" y="233172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8412480" y="2011680"/>
            <a:ext cx="1234440" cy="960120"/>
          </a:xfrm>
          <a:prstGeom prst="roundRect">
            <a:avLst>
              <a:gd name="adj" fmla="val 7619"/>
            </a:avLst>
          </a:prstGeom>
          <a:solidFill>
            <a:srgbClr val="EAF8F1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0" y="2130552"/>
            <a:ext cx="105156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Qualité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couplage / cohésion</a:t>
            </a:r>
            <a:endParaRPr lang="en-US" sz="1220" dirty="0"/>
          </a:p>
        </p:txBody>
      </p:sp>
      <p:sp>
        <p:nvSpPr>
          <p:cNvPr id="25" name="Text 23"/>
          <p:cNvSpPr/>
          <p:nvPr/>
        </p:nvSpPr>
        <p:spPr>
          <a:xfrm>
            <a:off x="9674352" y="233172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9985248" y="2011680"/>
            <a:ext cx="1234440" cy="960120"/>
          </a:xfrm>
          <a:prstGeom prst="roundRect">
            <a:avLst>
              <a:gd name="adj" fmla="val 7619"/>
            </a:avLst>
          </a:prstGeom>
          <a:solidFill>
            <a:srgbClr val="EAF1FF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76688" y="2130552"/>
            <a:ext cx="1051560" cy="7589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TP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responsabilités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777240" y="3977640"/>
            <a:ext cx="10424160" cy="82296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Chaque séquence doit produire un réflexe de conception : nommer les responsabilités, limiter les dépendances, préserver les invariants et choisir les bonnes variations.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920240" y="502920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F3EFFF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65960" y="5102352"/>
            <a:ext cx="73152" cy="6766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39696" y="5175504"/>
            <a:ext cx="791870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Repère formateur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2139696" y="5504688"/>
            <a:ext cx="791870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but n’est pas de réciter SOLID, mais de faire justifier une décision de modèle devant un changement probable.</a:t>
            </a:r>
            <a:endParaRPr lang="en-US" sz="1180" dirty="0"/>
          </a:p>
        </p:txBody>
      </p:sp>
      <p:sp>
        <p:nvSpPr>
          <p:cNvPr id="33" name="Text 31"/>
          <p:cNvSpPr/>
          <p:nvPr/>
        </p:nvSpPr>
        <p:spPr>
          <a:xfrm>
            <a:off x="429768" y="65105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J1 — Fondamentaux de la conception objet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5EFF"/>
          </a:solidFill>
          <a:ln w="12700">
            <a:solidFill>
              <a:srgbClr val="1E5E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256032"/>
            <a:ext cx="1088136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Diagnostic initial POO / UML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38912" y="713232"/>
            <a:ext cx="10332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Faire émerger les représentations des participants avant les définitions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20624" y="987552"/>
            <a:ext cx="11201400" cy="0"/>
          </a:xfrm>
          <a:prstGeom prst="line">
            <a:avLst/>
          </a:prstGeom>
          <a:noFill/>
          <a:ln w="10160">
            <a:solidFill>
              <a:srgbClr val="D6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7899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09:00–09:30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1783080" y="1078992"/>
            <a:ext cx="9418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 d’ouverture</a:t>
            </a:r>
            <a:endParaRPr lang="en-US" sz="940" dirty="0"/>
          </a:p>
        </p:txBody>
      </p:sp>
      <p:sp>
        <p:nvSpPr>
          <p:cNvPr id="8" name="Shape 6"/>
          <p:cNvSpPr/>
          <p:nvPr/>
        </p:nvSpPr>
        <p:spPr>
          <a:xfrm>
            <a:off x="594360" y="1417320"/>
            <a:ext cx="3383280" cy="1133856"/>
          </a:xfrm>
          <a:prstGeom prst="roundRect">
            <a:avLst>
              <a:gd name="adj" fmla="val 6452"/>
            </a:avLst>
          </a:prstGeom>
          <a:solidFill>
            <a:srgbClr val="EAF1FF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490472"/>
            <a:ext cx="73152" cy="987552"/>
          </a:xfrm>
          <a:prstGeom prst="rect">
            <a:avLst/>
          </a:prstGeom>
          <a:solidFill>
            <a:srgbClr val="1E5EFF"/>
          </a:solidFill>
          <a:ln w="12700">
            <a:solidFill>
              <a:srgbClr val="1E5E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" y="1563624"/>
            <a:ext cx="307238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Classe vs objet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13816" y="1892808"/>
            <a:ext cx="3072384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classe décrit une forme possible ; un objet est une instance vivante avec un état observable.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4370832" y="1417320"/>
            <a:ext cx="3383280" cy="1133856"/>
          </a:xfrm>
          <a:prstGeom prst="roundRect">
            <a:avLst>
              <a:gd name="adj" fmla="val 6452"/>
            </a:avLst>
          </a:prstGeom>
          <a:solidFill>
            <a:srgbClr val="EAF8F1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16552" y="1490472"/>
            <a:ext cx="73152" cy="987552"/>
          </a:xfrm>
          <a:prstGeom prst="rect">
            <a:avLst/>
          </a:prstGeom>
          <a:solidFill>
            <a:srgbClr val="20A76F"/>
          </a:solidFill>
          <a:ln w="12700">
            <a:solidFill>
              <a:srgbClr val="20A76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0288" y="1563624"/>
            <a:ext cx="307238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Interface utile ?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90288" y="1892808"/>
            <a:ext cx="3072384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Quand plusieurs variantes doivent respecter un même contrat utilisé par un client stable.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8138160" y="1417320"/>
            <a:ext cx="3383280" cy="1133856"/>
          </a:xfrm>
          <a:prstGeom prst="roundRect">
            <a:avLst>
              <a:gd name="adj" fmla="val 6452"/>
            </a:avLst>
          </a:prstGeom>
          <a:solidFill>
            <a:srgbClr val="FFF4E7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83880" y="1490472"/>
            <a:ext cx="73152" cy="987552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57616" y="1563624"/>
            <a:ext cx="307238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Faible couplage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357616" y="1892808"/>
            <a:ext cx="3072384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objets collaborent, mais les changements doivent rester localisés.</a:t>
            </a:r>
            <a:endParaRPr lang="en-US" sz="1180" dirty="0"/>
          </a:p>
        </p:txBody>
      </p:sp>
      <p:sp>
        <p:nvSpPr>
          <p:cNvPr id="20" name="Text 18"/>
          <p:cNvSpPr/>
          <p:nvPr/>
        </p:nvSpPr>
        <p:spPr>
          <a:xfrm>
            <a:off x="914400" y="3063240"/>
            <a:ext cx="9966960" cy="2468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20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Différence entre association et dépendance ponctuelle</a:t>
            </a:r>
            <a:endParaRPr lang="en-US" sz="2000" dirty="0"/>
          </a:p>
          <a:p>
            <a:r>
              <a:rPr lang="en-US" sz="20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Pourquoi un switch sur un type peut devenir une dette</a:t>
            </a:r>
            <a:endParaRPr lang="en-US" sz="2000" dirty="0"/>
          </a:p>
          <a:p>
            <a:r>
              <a:rPr lang="en-US" sz="20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Pourquoi un diagramme de séquence reste utile même quand le code existe</a:t>
            </a:r>
            <a:endParaRPr lang="en-US" sz="2000" dirty="0"/>
          </a:p>
          <a:p>
            <a:r>
              <a:rPr lang="en-US" sz="20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 qui rend un sous-type réellement substituable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29768" y="65105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J1 — Fondamentaux de la conception objet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5EFF"/>
          </a:solidFill>
          <a:ln w="12700">
            <a:solidFill>
              <a:srgbClr val="1E5E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256032"/>
            <a:ext cx="1088136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Classe, objet et responsabilité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38912" y="713232"/>
            <a:ext cx="10332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classe devrait raconter une petite histoire cohérente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20624" y="987552"/>
            <a:ext cx="11201400" cy="0"/>
          </a:xfrm>
          <a:prstGeom prst="line">
            <a:avLst/>
          </a:prstGeom>
          <a:noFill/>
          <a:ln w="10160">
            <a:solidFill>
              <a:srgbClr val="D6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7899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09:30–10:30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1783080" y="1078992"/>
            <a:ext cx="9418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Fondations POO</a:t>
            </a:r>
            <a:endParaRPr lang="en-US" sz="940" dirty="0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4663440" cy="40233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9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responsabilité exprime une raison d’exister.</a:t>
            </a:r>
            <a:endParaRPr lang="en-US" sz="1900" dirty="0"/>
          </a:p>
          <a:p>
            <a:r>
              <a:rPr lang="en-US" sz="19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L’état interne sert à garantir des comportements métier.</a:t>
            </a:r>
            <a:endParaRPr lang="en-US" sz="1900" dirty="0"/>
          </a:p>
          <a:p>
            <a:r>
              <a:rPr lang="en-US" sz="19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méthodes publiques forment un langage pour les autres objets.</a:t>
            </a:r>
            <a:endParaRPr lang="en-US" sz="1900" dirty="0"/>
          </a:p>
          <a:p>
            <a:r>
              <a:rPr lang="en-US" sz="19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objet qui expose toutes ses données délègue souvent sa responsabilité.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5669280" y="1389888"/>
            <a:ext cx="5852160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10160">
            <a:solidFill>
              <a:srgbClr val="D6DEE8"/>
            </a:solidFill>
            <a:prstDash val="solid"/>
          </a:ln>
        </p:spPr>
      </p:sp>
      <p:pic>
        <p:nvPicPr>
          <p:cNvPr id="10" name="Image 0" descr="/mnt/data/j1_enriched_assets/01_classe_responsabil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886712"/>
            <a:ext cx="5852160" cy="3505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29768" y="65105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J1 — Fondamentaux de la conception objet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5EFF"/>
          </a:solidFill>
          <a:ln w="12700">
            <a:solidFill>
              <a:srgbClr val="1E5E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256032"/>
            <a:ext cx="1088136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Encapsulation : protéger les invariants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38912" y="713232"/>
            <a:ext cx="10332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ne suffit pas si l’API rend les états invalides atteignables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20624" y="987552"/>
            <a:ext cx="11201400" cy="0"/>
          </a:xfrm>
          <a:prstGeom prst="line">
            <a:avLst/>
          </a:prstGeom>
          <a:noFill/>
          <a:ln w="10160">
            <a:solidFill>
              <a:srgbClr val="D6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7899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09:30–10:30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1783080" y="1078992"/>
            <a:ext cx="9418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Invariant métier</a:t>
            </a:r>
            <a:endParaRPr lang="en-US" sz="940" dirty="0"/>
          </a:p>
        </p:txBody>
      </p:sp>
      <p:sp>
        <p:nvSpPr>
          <p:cNvPr id="8" name="Shape 6"/>
          <p:cNvSpPr/>
          <p:nvPr/>
        </p:nvSpPr>
        <p:spPr>
          <a:xfrm>
            <a:off x="594360" y="1353312"/>
            <a:ext cx="530352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0160">
            <a:solidFill>
              <a:srgbClr val="D6DEE8"/>
            </a:solidFill>
            <a:prstDash val="solid"/>
          </a:ln>
        </p:spPr>
      </p:sp>
      <p:pic>
        <p:nvPicPr>
          <p:cNvPr id="9" name="Image 0" descr="/mnt/data/j1_enriched_assets/02_encapsul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102464"/>
            <a:ext cx="5303520" cy="284509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263640" y="1481328"/>
            <a:ext cx="4983480" cy="1234440"/>
          </a:xfrm>
          <a:prstGeom prst="roundRect">
            <a:avLst>
              <a:gd name="adj" fmla="val 5926"/>
            </a:avLst>
          </a:prstGeom>
          <a:solidFill>
            <a:srgbClr val="EAF1FF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309360" y="1554480"/>
            <a:ext cx="73152" cy="1088136"/>
          </a:xfrm>
          <a:prstGeom prst="rect">
            <a:avLst/>
          </a:prstGeom>
          <a:solidFill>
            <a:srgbClr val="1E5EFF"/>
          </a:solidFill>
          <a:ln w="12700">
            <a:solidFill>
              <a:srgbClr val="1E5EF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83096" y="1627632"/>
            <a:ext cx="467258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Invariant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483096" y="1956816"/>
            <a:ext cx="4672584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règle qui doit rester vraie pour que l’objet ait encore du sens : total ≥ 0, commande non vide, état compatible avec les actions.</a:t>
            </a:r>
            <a:endParaRPr lang="en-US" sz="1180" dirty="0"/>
          </a:p>
        </p:txBody>
      </p:sp>
      <p:sp>
        <p:nvSpPr>
          <p:cNvPr id="14" name="Shape 11"/>
          <p:cNvSpPr/>
          <p:nvPr/>
        </p:nvSpPr>
        <p:spPr>
          <a:xfrm>
            <a:off x="6263640" y="2926080"/>
            <a:ext cx="4983480" cy="1078992"/>
          </a:xfrm>
          <a:prstGeom prst="roundRect">
            <a:avLst>
              <a:gd name="adj" fmla="val 6780"/>
            </a:avLst>
          </a:prstGeom>
          <a:solidFill>
            <a:srgbClr val="EAF8F1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309360" y="2999232"/>
            <a:ext cx="73152" cy="932688"/>
          </a:xfrm>
          <a:prstGeom prst="rect">
            <a:avLst/>
          </a:prstGeom>
          <a:solidFill>
            <a:srgbClr val="20A76F"/>
          </a:solidFill>
          <a:ln w="12700">
            <a:solidFill>
              <a:srgbClr val="20A76F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83096" y="3072384"/>
            <a:ext cx="467258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métier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6483096" y="3401568"/>
            <a:ext cx="4672584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Préférer ajouterLigne(), payer(), annuler() plutôt que setEtat(), setTotal(), setLignes().</a:t>
            </a:r>
            <a:endParaRPr lang="en-US" sz="1180" dirty="0"/>
          </a:p>
        </p:txBody>
      </p:sp>
      <p:sp>
        <p:nvSpPr>
          <p:cNvPr id="18" name="Shape 15"/>
          <p:cNvSpPr/>
          <p:nvPr/>
        </p:nvSpPr>
        <p:spPr>
          <a:xfrm>
            <a:off x="6263640" y="4297680"/>
            <a:ext cx="4983480" cy="1115568"/>
          </a:xfrm>
          <a:prstGeom prst="roundRect">
            <a:avLst>
              <a:gd name="adj" fmla="val 6557"/>
            </a:avLst>
          </a:prstGeom>
          <a:solidFill>
            <a:srgbClr val="FFF4E7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309360" y="4370832"/>
            <a:ext cx="73152" cy="969264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83096" y="4443984"/>
            <a:ext cx="467258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Signal d’alerte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6483096" y="4773168"/>
            <a:ext cx="4672584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service qui lit toutes les données d’un objet pour décider à sa place révèle souvent un modèle anémique.</a:t>
            </a:r>
            <a:endParaRPr lang="en-US" sz="1180" dirty="0"/>
          </a:p>
        </p:txBody>
      </p:sp>
      <p:sp>
        <p:nvSpPr>
          <p:cNvPr id="22" name="Text 19"/>
          <p:cNvSpPr/>
          <p:nvPr/>
        </p:nvSpPr>
        <p:spPr>
          <a:xfrm>
            <a:off x="429768" y="65105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J1 — Fondamentaux de la conception objet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5EFF"/>
          </a:solidFill>
          <a:ln w="12700">
            <a:solidFill>
              <a:srgbClr val="1E5E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256032"/>
            <a:ext cx="1088136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Exemple : API métier plutôt que setters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38912" y="713232"/>
            <a:ext cx="10332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code doit rendre l’état invalide difficile à produire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20624" y="987552"/>
            <a:ext cx="11201400" cy="0"/>
          </a:xfrm>
          <a:prstGeom prst="line">
            <a:avLst/>
          </a:prstGeom>
          <a:noFill/>
          <a:ln w="10160">
            <a:solidFill>
              <a:srgbClr val="D6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7899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09:30–10:30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1783080" y="1078992"/>
            <a:ext cx="9418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Java</a:t>
            </a:r>
            <a:endParaRPr lang="en-US" sz="940" dirty="0"/>
          </a:p>
        </p:txBody>
      </p:sp>
      <p:sp>
        <p:nvSpPr>
          <p:cNvPr id="8" name="Shape 6"/>
          <p:cNvSpPr/>
          <p:nvPr/>
        </p:nvSpPr>
        <p:spPr>
          <a:xfrm>
            <a:off x="685800" y="141732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101828"/>
          </a:solidFill>
          <a:ln w="762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527048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BD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Avant — objet exposé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32104" y="1819656"/>
            <a:ext cx="4965192" cy="3794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Commande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public List&lt;Ligne&gt; lignes;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public String statut;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public BigDecimal total;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// Tout service peut créer un état incohérent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6263640" y="1417320"/>
            <a:ext cx="5257800" cy="4297680"/>
          </a:xfrm>
          <a:prstGeom prst="roundRect">
            <a:avLst>
              <a:gd name="adj" fmla="val 1702"/>
            </a:avLst>
          </a:prstGeom>
          <a:solidFill>
            <a:srgbClr val="101828"/>
          </a:solidFill>
          <a:ln w="7620">
            <a:solidFill>
              <a:srgbClr val="0B12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527048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BD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Après — invariant protégé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09944" y="1819656"/>
            <a:ext cx="4965192" cy="3794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Commande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private final List&lt;Ligne&gt; lignes = new ArrayList&lt;&gt;();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private Statut statut = Statut.BROUILLON;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void ajouter(Ligne ligne)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if (statut != Statut.BROUILLON) throw ...;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lignes.add(Objects.requireNonNull(ligne));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}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Money total() { return lignes.stream()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  .map(Ligne::sousTotal).reduce(Money.ZERO, Money::add); }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429768" y="65105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J1 — Fondamentaux de la conception objet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5EFF"/>
          </a:solidFill>
          <a:ln w="12700">
            <a:solidFill>
              <a:srgbClr val="1E5E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256032"/>
            <a:ext cx="1088136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Entité et objet valeur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38912" y="713232"/>
            <a:ext cx="10332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Deux formes d’objets, deux manières de raisonner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20624" y="987552"/>
            <a:ext cx="11201400" cy="0"/>
          </a:xfrm>
          <a:prstGeom prst="line">
            <a:avLst/>
          </a:prstGeom>
          <a:noFill/>
          <a:ln w="10160">
            <a:solidFill>
              <a:srgbClr val="D6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7899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09:30–10:30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1783080" y="1078992"/>
            <a:ext cx="9418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Identité et valeur</a:t>
            </a:r>
            <a:endParaRPr lang="en-US" sz="940" dirty="0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2731770" cy="628650"/>
          </a:xfrm>
          <a:prstGeom prst="rect">
            <a:avLst/>
          </a:prstGeom>
          <a:solidFill>
            <a:srgbClr val="172B4D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371850" y="1417320"/>
            <a:ext cx="2731770" cy="628650"/>
          </a:xfrm>
          <a:prstGeom prst="rect">
            <a:avLst/>
          </a:prstGeom>
          <a:solidFill>
            <a:srgbClr val="172B4D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 qui compte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03620" y="1417320"/>
            <a:ext cx="2731770" cy="628650"/>
          </a:xfrm>
          <a:prstGeom prst="rect">
            <a:avLst/>
          </a:prstGeom>
          <a:solidFill>
            <a:srgbClr val="172B4D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835390" y="1417320"/>
            <a:ext cx="2731770" cy="628650"/>
          </a:xfrm>
          <a:prstGeom prst="rect">
            <a:avLst/>
          </a:prstGeom>
          <a:solidFill>
            <a:srgbClr val="172B4D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Erreur fréquente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045970"/>
            <a:ext cx="2731770" cy="628650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Entité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71850" y="2045970"/>
            <a:ext cx="2731770" cy="628650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Identité durable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03620" y="2045970"/>
            <a:ext cx="2731770" cy="628650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Commande, Client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835390" y="2045970"/>
            <a:ext cx="2731770" cy="628650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Comparer seulement les champs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2674620"/>
            <a:ext cx="2731770" cy="628650"/>
          </a:xfrm>
          <a:prstGeom prst="rect">
            <a:avLst/>
          </a:prstGeom>
          <a:solidFill>
            <a:srgbClr val="F1F5F9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 valeur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71850" y="2674620"/>
            <a:ext cx="2731770" cy="628650"/>
          </a:xfrm>
          <a:prstGeom prst="rect">
            <a:avLst/>
          </a:prstGeom>
          <a:solidFill>
            <a:srgbClr val="F1F5F9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Valeur portée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03620" y="2674620"/>
            <a:ext cx="2731770" cy="628650"/>
          </a:xfrm>
          <a:prstGeom prst="rect">
            <a:avLst/>
          </a:prstGeom>
          <a:solidFill>
            <a:srgbClr val="F1F5F9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Money, Adresse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835390" y="2674620"/>
            <a:ext cx="2731770" cy="628650"/>
          </a:xfrm>
          <a:prstGeom prst="rect">
            <a:avLst/>
          </a:prstGeom>
          <a:solidFill>
            <a:srgbClr val="F1F5F9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rendre mutable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3303270"/>
            <a:ext cx="2731770" cy="628650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métier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71850" y="3303270"/>
            <a:ext cx="2731770" cy="628650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Opération sans identité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03620" y="3303270"/>
            <a:ext cx="2731770" cy="628650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CalculRemise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835390" y="3303270"/>
            <a:ext cx="2731770" cy="628650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Cacher une règle dans un contrôleur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14400" y="4343400"/>
            <a:ext cx="4937760" cy="1143000"/>
          </a:xfrm>
          <a:prstGeom prst="roundRect">
            <a:avLst>
              <a:gd name="adj" fmla="val 6400"/>
            </a:avLst>
          </a:prstGeom>
          <a:solidFill>
            <a:srgbClr val="EAF1FF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60120" y="4416552"/>
            <a:ext cx="73152" cy="996696"/>
          </a:xfrm>
          <a:prstGeom prst="rect">
            <a:avLst/>
          </a:prstGeom>
          <a:solidFill>
            <a:srgbClr val="1E5EFF"/>
          </a:solidFill>
          <a:ln w="12700">
            <a:solidFill>
              <a:srgbClr val="1E5EF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33856" y="4489704"/>
            <a:ext cx="462686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utile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1133856" y="4818888"/>
            <a:ext cx="462686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deux objets ont exactement les mêmes données, sont-ils le même objet métier ou deux occurrences distinctes ?</a:t>
            </a:r>
            <a:endParaRPr lang="en-US" sz="1180" dirty="0"/>
          </a:p>
        </p:txBody>
      </p:sp>
      <p:sp>
        <p:nvSpPr>
          <p:cNvPr id="28" name="Shape 26"/>
          <p:cNvSpPr/>
          <p:nvPr/>
        </p:nvSpPr>
        <p:spPr>
          <a:xfrm>
            <a:off x="6263640" y="4343400"/>
            <a:ext cx="4937760" cy="1143000"/>
          </a:xfrm>
          <a:prstGeom prst="roundRect">
            <a:avLst>
              <a:gd name="adj" fmla="val 6400"/>
            </a:avLst>
          </a:prstGeom>
          <a:solidFill>
            <a:srgbClr val="EAF8F1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09360" y="4416552"/>
            <a:ext cx="73152" cy="996696"/>
          </a:xfrm>
          <a:prstGeom prst="rect">
            <a:avLst/>
          </a:prstGeom>
          <a:solidFill>
            <a:srgbClr val="20A76F"/>
          </a:solidFill>
          <a:ln w="12700">
            <a:solidFill>
              <a:srgbClr val="20A76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83096" y="4489704"/>
            <a:ext cx="462686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Effet sur la conception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483096" y="4818888"/>
            <a:ext cx="462686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objets valeur simplifient les contrats, réduisent les primitives ambiguës et rendent le modèle plus expressif.</a:t>
            </a:r>
            <a:endParaRPr lang="en-US" sz="1180" dirty="0"/>
          </a:p>
        </p:txBody>
      </p:sp>
      <p:sp>
        <p:nvSpPr>
          <p:cNvPr id="32" name="Text 30"/>
          <p:cNvSpPr/>
          <p:nvPr/>
        </p:nvSpPr>
        <p:spPr>
          <a:xfrm>
            <a:off x="429768" y="65105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J1 — Fondamentaux de la conception objet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5EFF"/>
          </a:solidFill>
          <a:ln w="12700">
            <a:solidFill>
              <a:srgbClr val="1E5E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256032"/>
            <a:ext cx="1088136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Abstraction et interface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38912" y="713232"/>
            <a:ext cx="10332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interface est un contrat utile à un client, pas une habitude de framework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20624" y="987552"/>
            <a:ext cx="11201400" cy="0"/>
          </a:xfrm>
          <a:prstGeom prst="line">
            <a:avLst/>
          </a:prstGeom>
          <a:noFill/>
          <a:ln w="10160">
            <a:solidFill>
              <a:srgbClr val="D6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7899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09:30–10:30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1783080" y="1078992"/>
            <a:ext cx="9418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Contrats</a:t>
            </a:r>
            <a:endParaRPr lang="en-US" sz="940" dirty="0"/>
          </a:p>
        </p:txBody>
      </p:sp>
      <p:sp>
        <p:nvSpPr>
          <p:cNvPr id="8" name="Shape 6"/>
          <p:cNvSpPr/>
          <p:nvPr/>
        </p:nvSpPr>
        <p:spPr>
          <a:xfrm>
            <a:off x="868680" y="1965960"/>
            <a:ext cx="2011680" cy="731520"/>
          </a:xfrm>
          <a:prstGeom prst="roundRect">
            <a:avLst>
              <a:gd name="adj" fmla="val 10000"/>
            </a:avLst>
          </a:prstGeom>
          <a:solidFill>
            <a:srgbClr val="EAF1FF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084832"/>
            <a:ext cx="182880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 d’usage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validerCommande()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2971800" y="2176272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429000" y="1965960"/>
            <a:ext cx="2057400" cy="731520"/>
          </a:xfrm>
          <a:prstGeom prst="roundRect">
            <a:avLst>
              <a:gd name="adj" fmla="val 10000"/>
            </a:avLst>
          </a:prstGeom>
          <a:solidFill>
            <a:srgbClr val="EAF8F1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2084832"/>
            <a:ext cx="187452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PaiementPort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payer(Montant)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5577840" y="2176272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080760" y="1965960"/>
            <a:ext cx="2194560" cy="731520"/>
          </a:xfrm>
          <a:prstGeom prst="roundRect">
            <a:avLst>
              <a:gd name="adj" fmla="val 10000"/>
            </a:avLst>
          </a:prstGeom>
          <a:solidFill>
            <a:srgbClr val="FFF4E7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2084832"/>
            <a:ext cx="201168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StripeAdapter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PayPalAdapter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868680" y="3429000"/>
            <a:ext cx="4663440" cy="1143000"/>
          </a:xfrm>
          <a:prstGeom prst="roundRect">
            <a:avLst>
              <a:gd name="adj" fmla="val 6400"/>
            </a:avLst>
          </a:prstGeom>
          <a:solidFill>
            <a:srgbClr val="EAF1FF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3502152"/>
            <a:ext cx="73152" cy="996696"/>
          </a:xfrm>
          <a:prstGeom prst="rect">
            <a:avLst/>
          </a:prstGeom>
          <a:solidFill>
            <a:srgbClr val="1E5EFF"/>
          </a:solidFill>
          <a:ln w="12700">
            <a:solidFill>
              <a:srgbClr val="1E5E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88136" y="3575304"/>
            <a:ext cx="435254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Bonne abstraction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088136" y="3904488"/>
            <a:ext cx="435254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Elle appartient au besoin du client : “payer une commande”, pas “appeler l’API Stripe”.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6035040" y="3429000"/>
            <a:ext cx="4663440" cy="1143000"/>
          </a:xfrm>
          <a:prstGeom prst="roundRect">
            <a:avLst>
              <a:gd name="adj" fmla="val 6400"/>
            </a:avLst>
          </a:prstGeom>
          <a:solidFill>
            <a:srgbClr val="FFF4E7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80760" y="3502152"/>
            <a:ext cx="73152" cy="996696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54496" y="3575304"/>
            <a:ext cx="435254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Mauvaise abstraction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254496" y="3904488"/>
            <a:ext cx="4352544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interface qui copie exactement une seule classe technique ne protège presque rien.</a:t>
            </a:r>
            <a:endParaRPr lang="en-US" sz="1180" dirty="0"/>
          </a:p>
        </p:txBody>
      </p:sp>
      <p:sp>
        <p:nvSpPr>
          <p:cNvPr id="24" name="Text 22"/>
          <p:cNvSpPr/>
          <p:nvPr/>
        </p:nvSpPr>
        <p:spPr>
          <a:xfrm>
            <a:off x="429768" y="65105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J1 — Fondamentaux de la conception objet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5EFF"/>
          </a:solidFill>
          <a:ln w="12700">
            <a:solidFill>
              <a:srgbClr val="1E5E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256032"/>
            <a:ext cx="1088136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Relations UML : dire ce qui compte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38912" y="713232"/>
            <a:ext cx="10332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Association, agrégation et composition ne sont pas des décorations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20624" y="987552"/>
            <a:ext cx="11201400" cy="0"/>
          </a:xfrm>
          <a:prstGeom prst="line">
            <a:avLst/>
          </a:prstGeom>
          <a:noFill/>
          <a:ln w="10160">
            <a:solidFill>
              <a:srgbClr val="D6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7899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09:30–10:30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1783080" y="1078992"/>
            <a:ext cx="9418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Cycle de vie et navigation</a:t>
            </a:r>
            <a:endParaRPr lang="en-US" sz="940" dirty="0"/>
          </a:p>
        </p:txBody>
      </p:sp>
      <p:sp>
        <p:nvSpPr>
          <p:cNvPr id="8" name="Shape 6"/>
          <p:cNvSpPr/>
          <p:nvPr/>
        </p:nvSpPr>
        <p:spPr>
          <a:xfrm>
            <a:off x="594360" y="128016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0160">
            <a:solidFill>
              <a:srgbClr val="D6DEE8"/>
            </a:solidFill>
            <a:prstDash val="solid"/>
          </a:ln>
        </p:spPr>
      </p:sp>
      <p:pic>
        <p:nvPicPr>
          <p:cNvPr id="9" name="Image 0" descr="/mnt/data/j1_enriched_assets/03_relations_um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245459"/>
            <a:ext cx="5394960" cy="254996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309360" y="1417320"/>
            <a:ext cx="1722120" cy="640080"/>
          </a:xfrm>
          <a:prstGeom prst="rect">
            <a:avLst/>
          </a:prstGeom>
          <a:solidFill>
            <a:srgbClr val="172B4D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Relation</a:t>
            </a:r>
            <a:endParaRPr lang="en-US" sz="1080" dirty="0"/>
          </a:p>
        </p:txBody>
      </p:sp>
      <p:sp>
        <p:nvSpPr>
          <p:cNvPr id="11" name="Text 8"/>
          <p:cNvSpPr/>
          <p:nvPr/>
        </p:nvSpPr>
        <p:spPr>
          <a:xfrm>
            <a:off x="8031480" y="1417320"/>
            <a:ext cx="1722120" cy="640080"/>
          </a:xfrm>
          <a:prstGeom prst="rect">
            <a:avLst/>
          </a:prstGeom>
          <a:solidFill>
            <a:srgbClr val="172B4D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À lire comme</a:t>
            </a:r>
            <a:endParaRPr lang="en-US" sz="1080" dirty="0"/>
          </a:p>
        </p:txBody>
      </p:sp>
      <p:sp>
        <p:nvSpPr>
          <p:cNvPr id="12" name="Text 9"/>
          <p:cNvSpPr/>
          <p:nvPr/>
        </p:nvSpPr>
        <p:spPr>
          <a:xfrm>
            <a:off x="9753600" y="1417320"/>
            <a:ext cx="1722120" cy="640080"/>
          </a:xfrm>
          <a:prstGeom prst="rect">
            <a:avLst/>
          </a:prstGeom>
          <a:solidFill>
            <a:srgbClr val="172B4D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de conception</a:t>
            </a:r>
            <a:endParaRPr lang="en-US" sz="1080" dirty="0"/>
          </a:p>
        </p:txBody>
      </p:sp>
      <p:sp>
        <p:nvSpPr>
          <p:cNvPr id="13" name="Text 10"/>
          <p:cNvSpPr/>
          <p:nvPr/>
        </p:nvSpPr>
        <p:spPr>
          <a:xfrm>
            <a:off x="6309360" y="2057400"/>
            <a:ext cx="1722120" cy="640080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Association</a:t>
            </a:r>
            <a:endParaRPr lang="en-US" sz="1080" dirty="0"/>
          </a:p>
        </p:txBody>
      </p:sp>
      <p:sp>
        <p:nvSpPr>
          <p:cNvPr id="14" name="Text 11"/>
          <p:cNvSpPr/>
          <p:nvPr/>
        </p:nvSpPr>
        <p:spPr>
          <a:xfrm>
            <a:off x="8031480" y="2057400"/>
            <a:ext cx="1722120" cy="640080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collaboration durable</a:t>
            </a:r>
            <a:endParaRPr lang="en-US" sz="1080" dirty="0"/>
          </a:p>
        </p:txBody>
      </p:sp>
      <p:sp>
        <p:nvSpPr>
          <p:cNvPr id="15" name="Text 12"/>
          <p:cNvSpPr/>
          <p:nvPr/>
        </p:nvSpPr>
        <p:spPr>
          <a:xfrm>
            <a:off x="9753600" y="2057400"/>
            <a:ext cx="1722120" cy="640080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 connaît qui ?</a:t>
            </a:r>
            <a:endParaRPr lang="en-US" sz="1080" dirty="0"/>
          </a:p>
        </p:txBody>
      </p:sp>
      <p:sp>
        <p:nvSpPr>
          <p:cNvPr id="16" name="Text 13"/>
          <p:cNvSpPr/>
          <p:nvPr/>
        </p:nvSpPr>
        <p:spPr>
          <a:xfrm>
            <a:off x="6309360" y="2697480"/>
            <a:ext cx="1722120" cy="640080"/>
          </a:xfrm>
          <a:prstGeom prst="rect">
            <a:avLst/>
          </a:prstGeom>
          <a:solidFill>
            <a:srgbClr val="F1F5F9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Composition</a:t>
            </a:r>
            <a:endParaRPr lang="en-US" sz="1080" dirty="0"/>
          </a:p>
        </p:txBody>
      </p:sp>
      <p:sp>
        <p:nvSpPr>
          <p:cNvPr id="17" name="Text 14"/>
          <p:cNvSpPr/>
          <p:nvPr/>
        </p:nvSpPr>
        <p:spPr>
          <a:xfrm>
            <a:off x="8031480" y="2697480"/>
            <a:ext cx="1722120" cy="640080"/>
          </a:xfrm>
          <a:prstGeom prst="rect">
            <a:avLst/>
          </a:prstGeom>
          <a:solidFill>
            <a:srgbClr val="F1F5F9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cycle de vie fort</a:t>
            </a:r>
            <a:endParaRPr lang="en-US" sz="1080" dirty="0"/>
          </a:p>
        </p:txBody>
      </p:sp>
      <p:sp>
        <p:nvSpPr>
          <p:cNvPr id="18" name="Text 15"/>
          <p:cNvSpPr/>
          <p:nvPr/>
        </p:nvSpPr>
        <p:spPr>
          <a:xfrm>
            <a:off x="9753600" y="2697480"/>
            <a:ext cx="1722120" cy="640080"/>
          </a:xfrm>
          <a:prstGeom prst="rect">
            <a:avLst/>
          </a:prstGeom>
          <a:solidFill>
            <a:srgbClr val="F1F5F9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 possède et détruit ?</a:t>
            </a:r>
            <a:endParaRPr lang="en-US" sz="1080" dirty="0"/>
          </a:p>
        </p:txBody>
      </p:sp>
      <p:sp>
        <p:nvSpPr>
          <p:cNvPr id="19" name="Text 16"/>
          <p:cNvSpPr/>
          <p:nvPr/>
        </p:nvSpPr>
        <p:spPr>
          <a:xfrm>
            <a:off x="6309360" y="3337560"/>
            <a:ext cx="1722120" cy="640080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Dépendance</a:t>
            </a:r>
            <a:endParaRPr lang="en-US" sz="1080" dirty="0"/>
          </a:p>
        </p:txBody>
      </p:sp>
      <p:sp>
        <p:nvSpPr>
          <p:cNvPr id="20" name="Text 17"/>
          <p:cNvSpPr/>
          <p:nvPr/>
        </p:nvSpPr>
        <p:spPr>
          <a:xfrm>
            <a:off x="8031480" y="3337560"/>
            <a:ext cx="1722120" cy="640080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usage ponctuel</a:t>
            </a:r>
            <a:endParaRPr lang="en-US" sz="1080" dirty="0"/>
          </a:p>
        </p:txBody>
      </p:sp>
      <p:sp>
        <p:nvSpPr>
          <p:cNvPr id="21" name="Text 18"/>
          <p:cNvSpPr/>
          <p:nvPr/>
        </p:nvSpPr>
        <p:spPr>
          <a:xfrm>
            <a:off x="9753600" y="3337560"/>
            <a:ext cx="1722120" cy="640080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 change si l’autre change ?</a:t>
            </a:r>
            <a:endParaRPr lang="en-US" sz="1080" dirty="0"/>
          </a:p>
        </p:txBody>
      </p:sp>
      <p:sp>
        <p:nvSpPr>
          <p:cNvPr id="22" name="Text 19"/>
          <p:cNvSpPr/>
          <p:nvPr/>
        </p:nvSpPr>
        <p:spPr>
          <a:xfrm>
            <a:off x="6309360" y="3977640"/>
            <a:ext cx="1722120" cy="640080"/>
          </a:xfrm>
          <a:prstGeom prst="rect">
            <a:avLst/>
          </a:prstGeom>
          <a:solidFill>
            <a:srgbClr val="F1F5F9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Généralisation</a:t>
            </a:r>
            <a:endParaRPr lang="en-US" sz="1080" dirty="0"/>
          </a:p>
        </p:txBody>
      </p:sp>
      <p:sp>
        <p:nvSpPr>
          <p:cNvPr id="23" name="Text 20"/>
          <p:cNvSpPr/>
          <p:nvPr/>
        </p:nvSpPr>
        <p:spPr>
          <a:xfrm>
            <a:off x="8031480" y="3977640"/>
            <a:ext cx="1722120" cy="640080"/>
          </a:xfrm>
          <a:prstGeom prst="rect">
            <a:avLst/>
          </a:prstGeom>
          <a:solidFill>
            <a:srgbClr val="F1F5F9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substitution</a:t>
            </a:r>
            <a:endParaRPr lang="en-US" sz="1080" dirty="0"/>
          </a:p>
        </p:txBody>
      </p:sp>
      <p:sp>
        <p:nvSpPr>
          <p:cNvPr id="24" name="Text 21"/>
          <p:cNvSpPr/>
          <p:nvPr/>
        </p:nvSpPr>
        <p:spPr>
          <a:xfrm>
            <a:off x="9753600" y="3977640"/>
            <a:ext cx="1722120" cy="640080"/>
          </a:xfrm>
          <a:prstGeom prst="rect">
            <a:avLst/>
          </a:prstGeom>
          <a:solidFill>
            <a:srgbClr val="F1F5F9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sous-type respecte-t-il le contrat ?</a:t>
            </a:r>
            <a:endParaRPr lang="en-US" sz="1080" dirty="0"/>
          </a:p>
        </p:txBody>
      </p:sp>
      <p:sp>
        <p:nvSpPr>
          <p:cNvPr id="25" name="Text 22"/>
          <p:cNvSpPr/>
          <p:nvPr/>
        </p:nvSpPr>
        <p:spPr>
          <a:xfrm>
            <a:off x="6446520" y="4892040"/>
            <a:ext cx="4846320" cy="530352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diagramme de conception doit rendre visibles les décisions : responsabilité, cycle de vie, navigation et variation.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429768" y="65105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J1 — Fondamentaux de la conception objet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5EFF"/>
          </a:solidFill>
          <a:ln w="12700">
            <a:solidFill>
              <a:srgbClr val="1E5E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256032"/>
            <a:ext cx="1088136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Polymorphisme : varier sans multiplier les conditions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38912" y="713232"/>
            <a:ext cx="10332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Remplacer la sélection de type répétée par un contrat commun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20624" y="987552"/>
            <a:ext cx="11201400" cy="0"/>
          </a:xfrm>
          <a:prstGeom prst="line">
            <a:avLst/>
          </a:prstGeom>
          <a:noFill/>
          <a:ln w="10160">
            <a:solidFill>
              <a:srgbClr val="D6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7899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09:30–10:30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1783080" y="1078992"/>
            <a:ext cx="9418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Variation métier</a:t>
            </a:r>
            <a:endParaRPr lang="en-US" sz="940" dirty="0"/>
          </a:p>
        </p:txBody>
      </p:sp>
      <p:sp>
        <p:nvSpPr>
          <p:cNvPr id="8" name="Shape 6"/>
          <p:cNvSpPr/>
          <p:nvPr/>
        </p:nvSpPr>
        <p:spPr>
          <a:xfrm>
            <a:off x="685800" y="1417320"/>
            <a:ext cx="5074920" cy="3383280"/>
          </a:xfrm>
          <a:prstGeom prst="roundRect">
            <a:avLst>
              <a:gd name="adj" fmla="val 2162"/>
            </a:avLst>
          </a:prstGeom>
          <a:solidFill>
            <a:srgbClr val="101828"/>
          </a:solidFill>
          <a:ln w="762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527048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BD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Signal de dette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32104" y="1819656"/>
            <a:ext cx="4782312" cy="2880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switch(typePaiement)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case CB: payerCarte(...); break;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case PAYPAL: payerPaypal(...); break;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case VIREMENT: payerVirement(...); break;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// Si ce switch apparaît partout, le modèle parle mal.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6263640" y="1417320"/>
            <a:ext cx="5074920" cy="3383280"/>
          </a:xfrm>
          <a:prstGeom prst="roundRect">
            <a:avLst>
              <a:gd name="adj" fmla="val 2162"/>
            </a:avLst>
          </a:prstGeom>
          <a:solidFill>
            <a:srgbClr val="101828"/>
          </a:solidFill>
          <a:ln w="7620">
            <a:solidFill>
              <a:srgbClr val="0B12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527048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BD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 polymorphe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09944" y="1819656"/>
            <a:ext cx="4782312" cy="2880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interface MoyenPaiement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ResultatPaiement payer(Money montant);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PaiementCb implements MoyenPaiement { ... }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PaiementPaypal implements MoyenPaiement { ... }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service.reglerAvec(moyenPaiement);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2011680" y="5166360"/>
            <a:ext cx="8138160" cy="749808"/>
          </a:xfrm>
          <a:prstGeom prst="roundRect">
            <a:avLst>
              <a:gd name="adj" fmla="val 9756"/>
            </a:avLst>
          </a:prstGeom>
          <a:solidFill>
            <a:srgbClr val="F3EFFF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57400" y="5239512"/>
            <a:ext cx="73152" cy="6035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31136" y="5312664"/>
            <a:ext cx="782726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Règle de décision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231136" y="5641848"/>
            <a:ext cx="7827264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introduit le polymorphisme lorsque le même axe de variation revient et menace plusieurs endroits du code.</a:t>
            </a:r>
            <a:endParaRPr lang="en-US" sz="1180" dirty="0"/>
          </a:p>
        </p:txBody>
      </p:sp>
      <p:sp>
        <p:nvSpPr>
          <p:cNvPr id="18" name="Text 16"/>
          <p:cNvSpPr/>
          <p:nvPr/>
        </p:nvSpPr>
        <p:spPr>
          <a:xfrm>
            <a:off x="429768" y="65105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J1 — Fondamentaux de la conception objet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5EFF"/>
          </a:solidFill>
          <a:ln w="12700">
            <a:solidFill>
              <a:srgbClr val="1E5E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256032"/>
            <a:ext cx="1088136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Analyse, conception, implémentation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38912" y="713232"/>
            <a:ext cx="10332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Trois niveaux à ne pas confondre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20624" y="987552"/>
            <a:ext cx="11201400" cy="0"/>
          </a:xfrm>
          <a:prstGeom prst="line">
            <a:avLst/>
          </a:prstGeom>
          <a:noFill/>
          <a:ln w="10160">
            <a:solidFill>
              <a:srgbClr val="D6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7899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09:30–10:30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1783080" y="1078992"/>
            <a:ext cx="9418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 besoin au code</a:t>
            </a:r>
            <a:endParaRPr lang="en-US" sz="940" dirty="0"/>
          </a:p>
        </p:txBody>
      </p:sp>
      <p:sp>
        <p:nvSpPr>
          <p:cNvPr id="8" name="Shape 6"/>
          <p:cNvSpPr/>
          <p:nvPr/>
        </p:nvSpPr>
        <p:spPr>
          <a:xfrm>
            <a:off x="914400" y="1828800"/>
            <a:ext cx="2286000" cy="868680"/>
          </a:xfrm>
          <a:prstGeom prst="roundRect">
            <a:avLst>
              <a:gd name="adj" fmla="val 8421"/>
            </a:avLst>
          </a:prstGeom>
          <a:solidFill>
            <a:srgbClr val="EAF1FF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47672"/>
            <a:ext cx="210312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Analyse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veut le métier ?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3429000" y="2121408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023360" y="1828800"/>
            <a:ext cx="2468880" cy="868680"/>
          </a:xfrm>
          <a:prstGeom prst="roundRect">
            <a:avLst>
              <a:gd name="adj" fmla="val 8421"/>
            </a:avLst>
          </a:prstGeom>
          <a:solidFill>
            <a:srgbClr val="EAF8F1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0" y="1947672"/>
            <a:ext cx="228600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Conception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 porte quelles responsabilités ?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6711696" y="2121408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315200" y="1828800"/>
            <a:ext cx="2377440" cy="868680"/>
          </a:xfrm>
          <a:prstGeom prst="roundRect">
            <a:avLst>
              <a:gd name="adj" fmla="val 8421"/>
            </a:avLst>
          </a:prstGeom>
          <a:solidFill>
            <a:srgbClr val="FFF4E7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06640" y="1947672"/>
            <a:ext cx="2194560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Implémentation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Comment l’exécuter ?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868680" y="3703320"/>
            <a:ext cx="4892040" cy="1005840"/>
          </a:xfrm>
          <a:prstGeom prst="roundRect">
            <a:avLst>
              <a:gd name="adj" fmla="val 7273"/>
            </a:avLst>
          </a:prstGeom>
          <a:solidFill>
            <a:srgbClr val="FFF4E7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3776472"/>
            <a:ext cx="73152" cy="859536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88136" y="3849624"/>
            <a:ext cx="458114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Erreur fréquente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088136" y="4178808"/>
            <a:ext cx="458114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Dessiner directement les classes techniques du framework sans avoir identifié les responsabilités du domaine.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6172200" y="3703320"/>
            <a:ext cx="4892040" cy="1005840"/>
          </a:xfrm>
          <a:prstGeom prst="roundRect">
            <a:avLst>
              <a:gd name="adj" fmla="val 7273"/>
            </a:avLst>
          </a:prstGeom>
          <a:solidFill>
            <a:srgbClr val="EAF8F1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3776472"/>
            <a:ext cx="73152" cy="859536"/>
          </a:xfrm>
          <a:prstGeom prst="rect">
            <a:avLst/>
          </a:prstGeom>
          <a:solidFill>
            <a:srgbClr val="20A76F"/>
          </a:solidFill>
          <a:ln w="12700">
            <a:solidFill>
              <a:srgbClr val="20A76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91656" y="3849624"/>
            <a:ext cx="458114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Bon réflexe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391656" y="4178808"/>
            <a:ext cx="458114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Revenir au scénario métier : informations disponibles, décisions à prendre, invariants à garantir, variations probables.</a:t>
            </a:r>
            <a:endParaRPr lang="en-US" sz="1180" dirty="0"/>
          </a:p>
        </p:txBody>
      </p:sp>
      <p:sp>
        <p:nvSpPr>
          <p:cNvPr id="24" name="Text 22"/>
          <p:cNvSpPr/>
          <p:nvPr/>
        </p:nvSpPr>
        <p:spPr>
          <a:xfrm>
            <a:off x="429768" y="65105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J1 — Fondamentaux de la conception objet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5EFF"/>
          </a:solidFill>
          <a:ln w="12700">
            <a:solidFill>
              <a:srgbClr val="1E5E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256032"/>
            <a:ext cx="1088136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Pourquoi UML reste utile en conception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38912" y="713232"/>
            <a:ext cx="10332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UML est un langage de discussion et de décision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20624" y="987552"/>
            <a:ext cx="11201400" cy="0"/>
          </a:xfrm>
          <a:prstGeom prst="line">
            <a:avLst/>
          </a:prstGeom>
          <a:noFill/>
          <a:ln w="10160">
            <a:solidFill>
              <a:srgbClr val="D6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7899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10:45–12:30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1783080" y="1078992"/>
            <a:ext cx="9418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Conception visuelle</a:t>
            </a:r>
            <a:endParaRPr lang="en-US" sz="940" dirty="0"/>
          </a:p>
        </p:txBody>
      </p:sp>
      <p:sp>
        <p:nvSpPr>
          <p:cNvPr id="8" name="Text 6"/>
          <p:cNvSpPr/>
          <p:nvPr/>
        </p:nvSpPr>
        <p:spPr>
          <a:xfrm>
            <a:off x="685800" y="1417320"/>
            <a:ext cx="4983480" cy="3977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9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Rendre les collaborations visibles avant de coder.</a:t>
            </a:r>
            <a:endParaRPr lang="en-US" sz="1900" dirty="0"/>
          </a:p>
          <a:p>
            <a:r>
              <a:rPr lang="en-US" sz="19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Clarifier les responsabilités sans se perdre dans le framework.</a:t>
            </a:r>
            <a:endParaRPr lang="en-US" sz="1900" dirty="0"/>
          </a:p>
          <a:p>
            <a:r>
              <a:rPr lang="en-US" sz="19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Repérer les cycles, les classes omniscientes et les abstractions pauvres.</a:t>
            </a:r>
            <a:endParaRPr lang="en-US" sz="1900" dirty="0"/>
          </a:p>
          <a:p>
            <a:r>
              <a:rPr lang="en-US" sz="19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Aligner les développeurs sur une décision avant l’implémentation.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309360" y="1554480"/>
            <a:ext cx="4846320" cy="1280160"/>
          </a:xfrm>
          <a:prstGeom prst="roundRect">
            <a:avLst>
              <a:gd name="adj" fmla="val 5714"/>
            </a:avLst>
          </a:prstGeom>
          <a:solidFill>
            <a:srgbClr val="EAF1FF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55080" y="1627632"/>
            <a:ext cx="73152" cy="1133856"/>
          </a:xfrm>
          <a:prstGeom prst="rect">
            <a:avLst/>
          </a:prstGeom>
          <a:solidFill>
            <a:srgbClr val="1E5EFF"/>
          </a:solidFill>
          <a:ln w="12700">
            <a:solidFill>
              <a:srgbClr val="1E5E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28816" y="1700784"/>
            <a:ext cx="453542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UML utile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528816" y="2029968"/>
            <a:ext cx="453542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schéma peut être incomplet techniquement mais très juste pédagogiquement s’il montre la décision à discuter.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6309360" y="3154680"/>
            <a:ext cx="4846320" cy="1234440"/>
          </a:xfrm>
          <a:prstGeom prst="roundRect">
            <a:avLst>
              <a:gd name="adj" fmla="val 5926"/>
            </a:avLst>
          </a:prstGeom>
          <a:solidFill>
            <a:srgbClr val="FFF4E7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55080" y="3227832"/>
            <a:ext cx="73152" cy="1088136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28816" y="3300984"/>
            <a:ext cx="453542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UML inutile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528816" y="3630168"/>
            <a:ext cx="4535424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diagramme exhaustif qui reprend tout le code sans intention devient vite une dette documentaire.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6309360" y="4709160"/>
            <a:ext cx="4846320" cy="685800"/>
          </a:xfrm>
          <a:prstGeom prst="roundRect">
            <a:avLst>
              <a:gd name="adj" fmla="val 10667"/>
            </a:avLst>
          </a:prstGeom>
          <a:solidFill>
            <a:srgbClr val="EAF8F1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55080" y="4782312"/>
            <a:ext cx="73152" cy="539496"/>
          </a:xfrm>
          <a:prstGeom prst="rect">
            <a:avLst/>
          </a:prstGeom>
          <a:solidFill>
            <a:srgbClr val="20A76F"/>
          </a:solidFill>
          <a:ln w="12700">
            <a:solidFill>
              <a:srgbClr val="20A76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28816" y="4855464"/>
            <a:ext cx="453542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clé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528816" y="5184648"/>
            <a:ext cx="4535424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 diagramme répond-il à une question de conception ?</a:t>
            </a:r>
            <a:endParaRPr lang="en-US" sz="1180" dirty="0"/>
          </a:p>
        </p:txBody>
      </p:sp>
      <p:sp>
        <p:nvSpPr>
          <p:cNvPr id="21" name="Text 19"/>
          <p:cNvSpPr/>
          <p:nvPr/>
        </p:nvSpPr>
        <p:spPr>
          <a:xfrm>
            <a:off x="429768" y="65105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J1 — Fondamentaux de la conception objet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5EFF"/>
          </a:solidFill>
          <a:ln w="12700">
            <a:solidFill>
              <a:srgbClr val="1E5E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256032"/>
            <a:ext cx="1088136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Lire un diagramme de classes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38912" y="713232"/>
            <a:ext cx="10332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 pas lire seulement des boîtes : lire les décisions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20624" y="987552"/>
            <a:ext cx="11201400" cy="0"/>
          </a:xfrm>
          <a:prstGeom prst="line">
            <a:avLst/>
          </a:prstGeom>
          <a:noFill/>
          <a:ln w="10160">
            <a:solidFill>
              <a:srgbClr val="D6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7899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10:45–12:30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1783080" y="1078992"/>
            <a:ext cx="9418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Diagramme de classes</a:t>
            </a:r>
            <a:endParaRPr lang="en-US" sz="940" dirty="0"/>
          </a:p>
        </p:txBody>
      </p:sp>
      <p:sp>
        <p:nvSpPr>
          <p:cNvPr id="8" name="Text 6"/>
          <p:cNvSpPr/>
          <p:nvPr/>
        </p:nvSpPr>
        <p:spPr>
          <a:xfrm>
            <a:off x="685800" y="1417320"/>
            <a:ext cx="3596640" cy="556260"/>
          </a:xfrm>
          <a:prstGeom prst="rect">
            <a:avLst/>
          </a:prstGeom>
          <a:solidFill>
            <a:srgbClr val="172B4D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Élément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4282440" y="1417320"/>
            <a:ext cx="3596640" cy="556260"/>
          </a:xfrm>
          <a:prstGeom prst="rect">
            <a:avLst/>
          </a:prstGeom>
          <a:solidFill>
            <a:srgbClr val="172B4D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 qu’il révèle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7879080" y="1417320"/>
            <a:ext cx="3596640" cy="556260"/>
          </a:xfrm>
          <a:prstGeom prst="rect">
            <a:avLst/>
          </a:prstGeom>
          <a:solidFill>
            <a:srgbClr val="172B4D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à poser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685800" y="1973580"/>
            <a:ext cx="3596640" cy="556260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Attribut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4282440" y="1973580"/>
            <a:ext cx="3596640" cy="556260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état interne utile</a:t>
            </a:r>
            <a:endParaRPr lang="en-US" sz="1020" dirty="0"/>
          </a:p>
        </p:txBody>
      </p:sp>
      <p:sp>
        <p:nvSpPr>
          <p:cNvPr id="13" name="Text 11"/>
          <p:cNvSpPr/>
          <p:nvPr/>
        </p:nvSpPr>
        <p:spPr>
          <a:xfrm>
            <a:off x="7879080" y="1973580"/>
            <a:ext cx="3596640" cy="556260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 peut le modifier ?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685800" y="2529840"/>
            <a:ext cx="3596640" cy="556260"/>
          </a:xfrm>
          <a:prstGeom prst="rect">
            <a:avLst/>
          </a:prstGeom>
          <a:solidFill>
            <a:srgbClr val="F1F5F9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Méthode</a:t>
            </a:r>
            <a:endParaRPr lang="en-US" sz="1020" dirty="0"/>
          </a:p>
        </p:txBody>
      </p:sp>
      <p:sp>
        <p:nvSpPr>
          <p:cNvPr id="15" name="Text 13"/>
          <p:cNvSpPr/>
          <p:nvPr/>
        </p:nvSpPr>
        <p:spPr>
          <a:xfrm>
            <a:off x="4282440" y="2529840"/>
            <a:ext cx="3596640" cy="556260"/>
          </a:xfrm>
          <a:prstGeom prst="rect">
            <a:avLst/>
          </a:prstGeom>
          <a:solidFill>
            <a:srgbClr val="F1F5F9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offert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7879080" y="2529840"/>
            <a:ext cx="3596640" cy="556260"/>
          </a:xfrm>
          <a:prstGeom prst="rect">
            <a:avLst/>
          </a:prstGeom>
          <a:solidFill>
            <a:srgbClr val="F1F5F9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Protège-t-elle un invariant ?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685800" y="3086100"/>
            <a:ext cx="3596640" cy="556260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Association</a:t>
            </a:r>
            <a:endParaRPr lang="en-US" sz="1020" dirty="0"/>
          </a:p>
        </p:txBody>
      </p:sp>
      <p:sp>
        <p:nvSpPr>
          <p:cNvPr id="18" name="Text 16"/>
          <p:cNvSpPr/>
          <p:nvPr/>
        </p:nvSpPr>
        <p:spPr>
          <a:xfrm>
            <a:off x="4282440" y="3086100"/>
            <a:ext cx="3596640" cy="556260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connaissance durable</a:t>
            </a:r>
            <a:endParaRPr lang="en-US" sz="1020" dirty="0"/>
          </a:p>
        </p:txBody>
      </p:sp>
      <p:sp>
        <p:nvSpPr>
          <p:cNvPr id="19" name="Text 17"/>
          <p:cNvSpPr/>
          <p:nvPr/>
        </p:nvSpPr>
        <p:spPr>
          <a:xfrm>
            <a:off x="7879080" y="3086100"/>
            <a:ext cx="3596640" cy="556260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Est-elle nécessaire dans les deux sens ?</a:t>
            </a:r>
            <a:endParaRPr lang="en-US" sz="1020" dirty="0"/>
          </a:p>
        </p:txBody>
      </p:sp>
      <p:sp>
        <p:nvSpPr>
          <p:cNvPr id="20" name="Text 18"/>
          <p:cNvSpPr/>
          <p:nvPr/>
        </p:nvSpPr>
        <p:spPr>
          <a:xfrm>
            <a:off x="685800" y="3642360"/>
            <a:ext cx="3596640" cy="556260"/>
          </a:xfrm>
          <a:prstGeom prst="rect">
            <a:avLst/>
          </a:prstGeom>
          <a:solidFill>
            <a:srgbClr val="F1F5F9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Interface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4282440" y="3642360"/>
            <a:ext cx="3596640" cy="556260"/>
          </a:xfrm>
          <a:prstGeom prst="rect">
            <a:avLst/>
          </a:prstGeom>
          <a:solidFill>
            <a:srgbClr val="F1F5F9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 stable</a:t>
            </a:r>
            <a:endParaRPr lang="en-US" sz="1020" dirty="0"/>
          </a:p>
        </p:txBody>
      </p:sp>
      <p:sp>
        <p:nvSpPr>
          <p:cNvPr id="22" name="Text 20"/>
          <p:cNvSpPr/>
          <p:nvPr/>
        </p:nvSpPr>
        <p:spPr>
          <a:xfrm>
            <a:off x="7879080" y="3642360"/>
            <a:ext cx="3596640" cy="556260"/>
          </a:xfrm>
          <a:prstGeom prst="rect">
            <a:avLst/>
          </a:prstGeom>
          <a:solidFill>
            <a:srgbClr val="F1F5F9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Quel client en a besoin ?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685800" y="4198620"/>
            <a:ext cx="3596640" cy="556260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Multiplicité</a:t>
            </a:r>
            <a:endParaRPr lang="en-US" sz="1020" dirty="0"/>
          </a:p>
        </p:txBody>
      </p:sp>
      <p:sp>
        <p:nvSpPr>
          <p:cNvPr id="24" name="Text 22"/>
          <p:cNvSpPr/>
          <p:nvPr/>
        </p:nvSpPr>
        <p:spPr>
          <a:xfrm>
            <a:off x="4282440" y="4198620"/>
            <a:ext cx="3596640" cy="556260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règle de structure</a:t>
            </a:r>
            <a:endParaRPr lang="en-US" sz="1020" dirty="0"/>
          </a:p>
        </p:txBody>
      </p:sp>
      <p:sp>
        <p:nvSpPr>
          <p:cNvPr id="25" name="Text 23"/>
          <p:cNvSpPr/>
          <p:nvPr/>
        </p:nvSpPr>
        <p:spPr>
          <a:xfrm>
            <a:off x="7879080" y="4198620"/>
            <a:ext cx="3596640" cy="556260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Est-elle métier ou technique ?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1828800" y="507492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3EFFF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74520" y="5148072"/>
            <a:ext cx="73152" cy="6035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048256" y="5221224"/>
            <a:ext cx="810158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Projection formateur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2048256" y="5550408"/>
            <a:ext cx="8101584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Faire verbaliser par les participants : “si la règle change, quelle boîte bouge ?”.</a:t>
            </a:r>
            <a:endParaRPr lang="en-US" sz="1180" dirty="0"/>
          </a:p>
        </p:txBody>
      </p:sp>
      <p:sp>
        <p:nvSpPr>
          <p:cNvPr id="30" name="Text 28"/>
          <p:cNvSpPr/>
          <p:nvPr/>
        </p:nvSpPr>
        <p:spPr>
          <a:xfrm>
            <a:off x="429768" y="65105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J1 — Fondamentaux de la conception objet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5EFF"/>
          </a:solidFill>
          <a:ln w="12700">
            <a:solidFill>
              <a:srgbClr val="1E5E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256032"/>
            <a:ext cx="1088136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Diagramme de séquence : rendre la collaboration visible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38912" y="713232"/>
            <a:ext cx="10332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comportement révèle souvent les responsabilités mal placées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20624" y="987552"/>
            <a:ext cx="11201400" cy="0"/>
          </a:xfrm>
          <a:prstGeom prst="line">
            <a:avLst/>
          </a:prstGeom>
          <a:noFill/>
          <a:ln w="10160">
            <a:solidFill>
              <a:srgbClr val="D6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7899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10:45–12:30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1783080" y="1078992"/>
            <a:ext cx="9418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Collaboration</a:t>
            </a:r>
            <a:endParaRPr lang="en-US" sz="940" dirty="0"/>
          </a:p>
        </p:txBody>
      </p:sp>
      <p:sp>
        <p:nvSpPr>
          <p:cNvPr id="8" name="Shape 6"/>
          <p:cNvSpPr/>
          <p:nvPr/>
        </p:nvSpPr>
        <p:spPr>
          <a:xfrm>
            <a:off x="685800" y="1325880"/>
            <a:ext cx="5577840" cy="4407408"/>
          </a:xfrm>
          <a:prstGeom prst="roundRect">
            <a:avLst>
              <a:gd name="adj" fmla="val 1660"/>
            </a:avLst>
          </a:prstGeom>
          <a:solidFill>
            <a:srgbClr val="FFFFFF"/>
          </a:solidFill>
          <a:ln w="10160">
            <a:solidFill>
              <a:srgbClr val="D6DEE8"/>
            </a:solidFill>
            <a:prstDash val="solid"/>
          </a:ln>
        </p:spPr>
      </p:sp>
      <p:pic>
        <p:nvPicPr>
          <p:cNvPr id="9" name="Image 0" descr="/mnt/data/j1_enriched_assets/04_sequ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922096"/>
            <a:ext cx="5577840" cy="321497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583680" y="1600200"/>
            <a:ext cx="4572000" cy="23317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8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Observer qui décide réellement.</a:t>
            </a:r>
            <a:endParaRPr lang="en-US" sz="1800" dirty="0"/>
          </a:p>
          <a:p>
            <a:r>
              <a:rPr lang="en-US" sz="18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Détecter un contrôleur qui orchestre trop de règles.</a:t>
            </a:r>
            <a:endParaRPr lang="en-US" sz="1800" dirty="0"/>
          </a:p>
          <a:p>
            <a:r>
              <a:rPr lang="en-US" sz="18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Voir les dépendances externes au bon niveau.</a:t>
            </a:r>
            <a:endParaRPr lang="en-US" sz="1800" dirty="0"/>
          </a:p>
          <a:p>
            <a:r>
              <a:rPr lang="en-US" sz="18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Repérer une transaction métier trop dispersée.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583680" y="4343400"/>
            <a:ext cx="4572000" cy="868680"/>
          </a:xfrm>
          <a:prstGeom prst="roundRect">
            <a:avLst>
              <a:gd name="adj" fmla="val 8421"/>
            </a:avLst>
          </a:prstGeom>
          <a:solidFill>
            <a:srgbClr val="FFF4E7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629400" y="4416552"/>
            <a:ext cx="73152" cy="722376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803136" y="4489704"/>
            <a:ext cx="426110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 critique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803136" y="4818888"/>
            <a:ext cx="426110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un seul objet envoie tous les messages et lit toutes les données, il est probablement trop responsable.</a:t>
            </a:r>
            <a:endParaRPr lang="en-US" sz="1180" dirty="0"/>
          </a:p>
        </p:txBody>
      </p:sp>
      <p:sp>
        <p:nvSpPr>
          <p:cNvPr id="15" name="Text 12"/>
          <p:cNvSpPr/>
          <p:nvPr/>
        </p:nvSpPr>
        <p:spPr>
          <a:xfrm>
            <a:off x="429768" y="65105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J1 — Fondamentaux de la conception objet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5EFF"/>
          </a:solidFill>
          <a:ln w="12700">
            <a:solidFill>
              <a:srgbClr val="1E5E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256032"/>
            <a:ext cx="1088136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Niveau de détail et dette documentaire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38912" y="713232"/>
            <a:ext cx="10332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diagramme doit survivre assez longtemps pour être utile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20624" y="987552"/>
            <a:ext cx="11201400" cy="0"/>
          </a:xfrm>
          <a:prstGeom prst="line">
            <a:avLst/>
          </a:prstGeom>
          <a:noFill/>
          <a:ln w="10160">
            <a:solidFill>
              <a:srgbClr val="D6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7899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10:45–12:30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1783080" y="1078992"/>
            <a:ext cx="9418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Documentation vivante</a:t>
            </a:r>
            <a:endParaRPr lang="en-US" sz="940" dirty="0"/>
          </a:p>
        </p:txBody>
      </p:sp>
      <p:sp>
        <p:nvSpPr>
          <p:cNvPr id="8" name="Text 6"/>
          <p:cNvSpPr/>
          <p:nvPr/>
        </p:nvSpPr>
        <p:spPr>
          <a:xfrm>
            <a:off x="731520" y="1417320"/>
            <a:ext cx="3550920" cy="493776"/>
          </a:xfrm>
          <a:prstGeom prst="rect">
            <a:avLst/>
          </a:prstGeom>
          <a:solidFill>
            <a:srgbClr val="172B4D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Situation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282440" y="1417320"/>
            <a:ext cx="3550920" cy="493776"/>
          </a:xfrm>
          <a:prstGeom prst="rect">
            <a:avLst/>
          </a:prstGeom>
          <a:solidFill>
            <a:srgbClr val="172B4D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Niveau conseillé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833360" y="1417320"/>
            <a:ext cx="3550920" cy="493776"/>
          </a:xfrm>
          <a:prstGeom prst="rect">
            <a:avLst/>
          </a:prstGeom>
          <a:solidFill>
            <a:srgbClr val="172B4D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Pourquoi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31520" y="1911096"/>
            <a:ext cx="3550920" cy="49377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Atelier de conception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282440" y="1911096"/>
            <a:ext cx="3550920" cy="49377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conceptuel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833360" y="1911096"/>
            <a:ext cx="3550920" cy="49377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favoriser la discussion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31520" y="2404872"/>
            <a:ext cx="3550920" cy="493776"/>
          </a:xfrm>
          <a:prstGeom prst="rect">
            <a:avLst/>
          </a:prstGeom>
          <a:solidFill>
            <a:srgbClr val="F1F5F9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Transmission équipe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282440" y="2404872"/>
            <a:ext cx="3550920" cy="493776"/>
          </a:xfrm>
          <a:prstGeom prst="rect">
            <a:avLst/>
          </a:prstGeom>
          <a:solidFill>
            <a:srgbClr val="F1F5F9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logique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833360" y="2404872"/>
            <a:ext cx="3550920" cy="493776"/>
          </a:xfrm>
          <a:prstGeom prst="rect">
            <a:avLst/>
          </a:prstGeom>
          <a:solidFill>
            <a:srgbClr val="F1F5F9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expliquer responsabilités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31520" y="2898648"/>
            <a:ext cx="3550920" cy="49377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 technique délicat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282440" y="2898648"/>
            <a:ext cx="3550920" cy="49377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détaillé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833360" y="2898648"/>
            <a:ext cx="3550920" cy="493776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sécuriser l’implémentation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31520" y="3392424"/>
            <a:ext cx="3550920" cy="493776"/>
          </a:xfrm>
          <a:prstGeom prst="rect">
            <a:avLst/>
          </a:prstGeom>
          <a:solidFill>
            <a:srgbClr val="F1F5F9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instable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282440" y="3392424"/>
            <a:ext cx="3550920" cy="493776"/>
          </a:xfrm>
          <a:prstGeom prst="rect">
            <a:avLst/>
          </a:prstGeom>
          <a:solidFill>
            <a:srgbClr val="F1F5F9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léger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833360" y="3392424"/>
            <a:ext cx="3550920" cy="493776"/>
          </a:xfrm>
          <a:prstGeom prst="rect">
            <a:avLst/>
          </a:prstGeom>
          <a:solidFill>
            <a:srgbClr val="F1F5F9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éviter une dette documentaire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14400" y="4343400"/>
            <a:ext cx="4846320" cy="914400"/>
          </a:xfrm>
          <a:prstGeom prst="roundRect">
            <a:avLst>
              <a:gd name="adj" fmla="val 8000"/>
            </a:avLst>
          </a:prstGeom>
          <a:solidFill>
            <a:srgbClr val="FFF4E7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0120" y="4416552"/>
            <a:ext cx="73152" cy="768096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33856" y="4489704"/>
            <a:ext cx="453542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À éviter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133856" y="4818888"/>
            <a:ext cx="453542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Schémas générés automatiquement trop grands, non lus et jamais mis à jour.</a:t>
            </a:r>
            <a:endParaRPr lang="en-US" sz="1180" dirty="0"/>
          </a:p>
        </p:txBody>
      </p:sp>
      <p:sp>
        <p:nvSpPr>
          <p:cNvPr id="27" name="Shape 25"/>
          <p:cNvSpPr/>
          <p:nvPr/>
        </p:nvSpPr>
        <p:spPr>
          <a:xfrm>
            <a:off x="6263640" y="4343400"/>
            <a:ext cx="4846320" cy="914400"/>
          </a:xfrm>
          <a:prstGeom prst="roundRect">
            <a:avLst>
              <a:gd name="adj" fmla="val 8000"/>
            </a:avLst>
          </a:prstGeom>
          <a:solidFill>
            <a:srgbClr val="EAF8F1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09360" y="4416552"/>
            <a:ext cx="73152" cy="768096"/>
          </a:xfrm>
          <a:prstGeom prst="rect">
            <a:avLst/>
          </a:prstGeom>
          <a:solidFill>
            <a:srgbClr val="20A76F"/>
          </a:solidFill>
          <a:ln w="12700">
            <a:solidFill>
              <a:srgbClr val="20A76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83096" y="4489704"/>
            <a:ext cx="453542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À privilégier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483096" y="4818888"/>
            <a:ext cx="453542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Schémas courts, datés, associés à une décision ou à un scénario de changement.</a:t>
            </a:r>
            <a:endParaRPr lang="en-US" sz="1180" dirty="0"/>
          </a:p>
        </p:txBody>
      </p:sp>
      <p:sp>
        <p:nvSpPr>
          <p:cNvPr id="31" name="Text 29"/>
          <p:cNvSpPr/>
          <p:nvPr/>
        </p:nvSpPr>
        <p:spPr>
          <a:xfrm>
            <a:off x="429768" y="65105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J1 — Fondamentaux de la conception objet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5EFF"/>
          </a:solidFill>
          <a:ln w="12700">
            <a:solidFill>
              <a:srgbClr val="1E5E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256032"/>
            <a:ext cx="1088136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enjeux de la conception objet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38912" y="713232"/>
            <a:ext cx="10332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vrai indicateur : le coût du changement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20624" y="987552"/>
            <a:ext cx="11201400" cy="0"/>
          </a:xfrm>
          <a:prstGeom prst="line">
            <a:avLst/>
          </a:prstGeom>
          <a:noFill/>
          <a:ln w="10160">
            <a:solidFill>
              <a:srgbClr val="D6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7899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10:45–12:30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1783080" y="1078992"/>
            <a:ext cx="9418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Maintenabilité</a:t>
            </a:r>
            <a:endParaRPr lang="en-US" sz="940" dirty="0"/>
          </a:p>
        </p:txBody>
      </p:sp>
      <p:sp>
        <p:nvSpPr>
          <p:cNvPr id="8" name="Shape 6"/>
          <p:cNvSpPr/>
          <p:nvPr/>
        </p:nvSpPr>
        <p:spPr>
          <a:xfrm>
            <a:off x="914400" y="1828800"/>
            <a:ext cx="2057400" cy="731520"/>
          </a:xfrm>
          <a:prstGeom prst="roundRect">
            <a:avLst>
              <a:gd name="adj" fmla="val 10000"/>
            </a:avLst>
          </a:prstGeom>
          <a:solidFill>
            <a:srgbClr val="EAF1FF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947672"/>
            <a:ext cx="187452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Changement métier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3063240" y="2029968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57600" y="1828800"/>
            <a:ext cx="2057400" cy="731520"/>
          </a:xfrm>
          <a:prstGeom prst="roundRect">
            <a:avLst>
              <a:gd name="adj" fmla="val 10000"/>
            </a:avLst>
          </a:prstGeom>
          <a:solidFill>
            <a:srgbClr val="FFF4E7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49040" y="1947672"/>
            <a:ext cx="187452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Classes touchées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5806440" y="2029968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400800" y="1828800"/>
            <a:ext cx="2057400" cy="731520"/>
          </a:xfrm>
          <a:prstGeom prst="roundRect">
            <a:avLst>
              <a:gd name="adj" fmla="val 10000"/>
            </a:avLst>
          </a:prstGeom>
          <a:solidFill>
            <a:srgbClr val="F3EFFF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1947672"/>
            <a:ext cx="187452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 impactés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8549640" y="2029968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144000" y="1828800"/>
            <a:ext cx="2057400" cy="731520"/>
          </a:xfrm>
          <a:prstGeom prst="roundRect">
            <a:avLst>
              <a:gd name="adj" fmla="val 10000"/>
            </a:avLst>
          </a:prstGeom>
          <a:solidFill>
            <a:srgbClr val="EAF8F1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35440" y="1947672"/>
            <a:ext cx="1874520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Risque release</a:t>
            </a:r>
            <a:endParaRPr lang="en-US" sz="1220" dirty="0"/>
          </a:p>
        </p:txBody>
      </p:sp>
      <p:sp>
        <p:nvSpPr>
          <p:cNvPr id="19" name="Text 17"/>
          <p:cNvSpPr/>
          <p:nvPr/>
        </p:nvSpPr>
        <p:spPr>
          <a:xfrm>
            <a:off x="1143000" y="3657600"/>
            <a:ext cx="9875520" cy="1508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8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bonne conception réduit la propagation.</a:t>
            </a:r>
            <a:endParaRPr lang="en-US" sz="1800" dirty="0"/>
          </a:p>
          <a:p>
            <a:r>
              <a:rPr lang="en-US" sz="18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classe bien cohérente change pour une raison identifiable.</a:t>
            </a:r>
            <a:endParaRPr lang="en-US" sz="1800" dirty="0"/>
          </a:p>
          <a:p>
            <a:r>
              <a:rPr lang="en-US" sz="18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abstraction utile protège une coordination existante.</a:t>
            </a:r>
            <a:endParaRPr lang="en-US" sz="1800" dirty="0"/>
          </a:p>
          <a:p>
            <a:r>
              <a:rPr lang="en-US" sz="18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modèle objet doit soutenir les évolutions probables, pas toutes les évolutions imaginables.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29768" y="65105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J1 — Fondamentaux de la conception objet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5EFF"/>
          </a:solidFill>
          <a:ln w="12700">
            <a:solidFill>
              <a:srgbClr val="1E5E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256032"/>
            <a:ext cx="1088136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Héritage : intention et mécanisme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38912" y="713232"/>
            <a:ext cx="10332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relation “est-un” doit aussi être une relation “peut remplacer”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20624" y="987552"/>
            <a:ext cx="11201400" cy="0"/>
          </a:xfrm>
          <a:prstGeom prst="line">
            <a:avLst/>
          </a:prstGeom>
          <a:noFill/>
          <a:ln w="10160">
            <a:solidFill>
              <a:srgbClr val="D6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7899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13:30–14:30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1783080" y="1078992"/>
            <a:ext cx="9418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Héritage</a:t>
            </a:r>
            <a:endParaRPr lang="en-US" sz="940" dirty="0"/>
          </a:p>
        </p:txBody>
      </p:sp>
      <p:sp>
        <p:nvSpPr>
          <p:cNvPr id="8" name="Shape 6"/>
          <p:cNvSpPr/>
          <p:nvPr/>
        </p:nvSpPr>
        <p:spPr>
          <a:xfrm>
            <a:off x="685800" y="1298448"/>
            <a:ext cx="5394960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10160">
            <a:solidFill>
              <a:srgbClr val="D6DEE8"/>
            </a:solidFill>
            <a:prstDash val="solid"/>
          </a:ln>
        </p:spPr>
      </p:sp>
      <p:pic>
        <p:nvPicPr>
          <p:cNvPr id="9" name="Image 0" descr="/mnt/data/j1_enriched_assets/05_heritage_composi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003768"/>
            <a:ext cx="5394960" cy="3088207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446520" y="1600200"/>
            <a:ext cx="4617720" cy="987552"/>
          </a:xfrm>
          <a:prstGeom prst="roundRect">
            <a:avLst>
              <a:gd name="adj" fmla="val 7407"/>
            </a:avLst>
          </a:prstGeom>
          <a:solidFill>
            <a:srgbClr val="EAF1FF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92240" y="1673352"/>
            <a:ext cx="73152" cy="841248"/>
          </a:xfrm>
          <a:prstGeom prst="rect">
            <a:avLst/>
          </a:prstGeom>
          <a:solidFill>
            <a:srgbClr val="1E5EFF"/>
          </a:solidFill>
          <a:ln w="12700">
            <a:solidFill>
              <a:srgbClr val="1E5EF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65976" y="1746504"/>
            <a:ext cx="430682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L’héritage exprime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665976" y="2075688"/>
            <a:ext cx="4306824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contrat commun et une substituabilité comportementale.</a:t>
            </a:r>
            <a:endParaRPr lang="en-US" sz="1180" dirty="0"/>
          </a:p>
        </p:txBody>
      </p:sp>
      <p:sp>
        <p:nvSpPr>
          <p:cNvPr id="14" name="Shape 11"/>
          <p:cNvSpPr/>
          <p:nvPr/>
        </p:nvSpPr>
        <p:spPr>
          <a:xfrm>
            <a:off x="6446520" y="2926080"/>
            <a:ext cx="4617720" cy="987552"/>
          </a:xfrm>
          <a:prstGeom prst="roundRect">
            <a:avLst>
              <a:gd name="adj" fmla="val 7407"/>
            </a:avLst>
          </a:prstGeom>
          <a:solidFill>
            <a:srgbClr val="FFF4E7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92240" y="2999232"/>
            <a:ext cx="73152" cy="841248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65976" y="3072384"/>
            <a:ext cx="430682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L’héritage ne suffit pas pour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6665976" y="3401568"/>
            <a:ext cx="4306824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Factoriser rapidement du code ou éviter un copier-coller ponctuel.</a:t>
            </a:r>
            <a:endParaRPr lang="en-US" sz="1180" dirty="0"/>
          </a:p>
        </p:txBody>
      </p:sp>
      <p:sp>
        <p:nvSpPr>
          <p:cNvPr id="18" name="Shape 15"/>
          <p:cNvSpPr/>
          <p:nvPr/>
        </p:nvSpPr>
        <p:spPr>
          <a:xfrm>
            <a:off x="6446520" y="4251960"/>
            <a:ext cx="4617720" cy="987552"/>
          </a:xfrm>
          <a:prstGeom prst="roundRect">
            <a:avLst>
              <a:gd name="adj" fmla="val 7407"/>
            </a:avLst>
          </a:prstGeom>
          <a:solidFill>
            <a:srgbClr val="EAF8F1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92240" y="4325112"/>
            <a:ext cx="73152" cy="841248"/>
          </a:xfrm>
          <a:prstGeom prst="rect">
            <a:avLst/>
          </a:prstGeom>
          <a:solidFill>
            <a:srgbClr val="20A76F"/>
          </a:solidFill>
          <a:ln w="12700">
            <a:solidFill>
              <a:srgbClr val="20A76F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65976" y="4398264"/>
            <a:ext cx="430682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simple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6665976" y="4727448"/>
            <a:ext cx="4306824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Puis-je utiliser le sous-type partout où le parent est attendu sans surprise ?</a:t>
            </a:r>
            <a:endParaRPr lang="en-US" sz="1180" dirty="0"/>
          </a:p>
        </p:txBody>
      </p:sp>
      <p:sp>
        <p:nvSpPr>
          <p:cNvPr id="22" name="Text 19"/>
          <p:cNvSpPr/>
          <p:nvPr/>
        </p:nvSpPr>
        <p:spPr>
          <a:xfrm>
            <a:off x="429768" y="65105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J1 — Fondamentaux de la conception objet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5EFF"/>
          </a:solidFill>
          <a:ln w="12700">
            <a:solidFill>
              <a:srgbClr val="1E5E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256032"/>
            <a:ext cx="1088136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Avantages réels de l’héritage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38912" y="713232"/>
            <a:ext cx="10332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L’héritage reste pertinent quand la hiérarchie est stable et honnête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20624" y="987552"/>
            <a:ext cx="11201400" cy="0"/>
          </a:xfrm>
          <a:prstGeom prst="line">
            <a:avLst/>
          </a:prstGeom>
          <a:noFill/>
          <a:ln w="10160">
            <a:solidFill>
              <a:srgbClr val="D6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7899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13:30–14:30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1783080" y="1078992"/>
            <a:ext cx="9418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Quand l’utiliser</a:t>
            </a:r>
            <a:endParaRPr lang="en-US" sz="940" dirty="0"/>
          </a:p>
        </p:txBody>
      </p:sp>
      <p:sp>
        <p:nvSpPr>
          <p:cNvPr id="8" name="Shape 6"/>
          <p:cNvSpPr/>
          <p:nvPr/>
        </p:nvSpPr>
        <p:spPr>
          <a:xfrm>
            <a:off x="731520" y="1417320"/>
            <a:ext cx="3383280" cy="1280160"/>
          </a:xfrm>
          <a:prstGeom prst="roundRect">
            <a:avLst>
              <a:gd name="adj" fmla="val 5714"/>
            </a:avLst>
          </a:prstGeom>
          <a:solidFill>
            <a:srgbClr val="EAF1FF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490472"/>
            <a:ext cx="73152" cy="1133856"/>
          </a:xfrm>
          <a:prstGeom prst="rect">
            <a:avLst/>
          </a:prstGeom>
          <a:solidFill>
            <a:srgbClr val="1E5EFF"/>
          </a:solidFill>
          <a:ln w="12700">
            <a:solidFill>
              <a:srgbClr val="1E5E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1563624"/>
            <a:ext cx="307238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Polymorphisme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50976" y="1892808"/>
            <a:ext cx="307238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client manipule un type général sans connaître les variantes concrètes.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4434840" y="1417320"/>
            <a:ext cx="3383280" cy="1280160"/>
          </a:xfrm>
          <a:prstGeom prst="roundRect">
            <a:avLst>
              <a:gd name="adj" fmla="val 5714"/>
            </a:avLst>
          </a:prstGeom>
          <a:solidFill>
            <a:srgbClr val="EAF8F1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0560" y="1490472"/>
            <a:ext cx="73152" cy="1133856"/>
          </a:xfrm>
          <a:prstGeom prst="rect">
            <a:avLst/>
          </a:prstGeom>
          <a:solidFill>
            <a:srgbClr val="20A76F"/>
          </a:solidFill>
          <a:ln w="12700">
            <a:solidFill>
              <a:srgbClr val="20A76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54296" y="1563624"/>
            <a:ext cx="307238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Cadre commun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654296" y="1892808"/>
            <a:ext cx="307238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 opérations communes existent vraiment et conservent le même sens.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8138160" y="1417320"/>
            <a:ext cx="3383280" cy="1280160"/>
          </a:xfrm>
          <a:prstGeom prst="roundRect">
            <a:avLst>
              <a:gd name="adj" fmla="val 5714"/>
            </a:avLst>
          </a:prstGeom>
          <a:solidFill>
            <a:srgbClr val="F3EFFF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83880" y="1490472"/>
            <a:ext cx="73152" cy="11338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57616" y="1563624"/>
            <a:ext cx="307238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Extension contrôlée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357616" y="1892808"/>
            <a:ext cx="3072384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variantes ajoutent du comportement sans casser les promesses.</a:t>
            </a:r>
            <a:endParaRPr lang="en-US" sz="1180" dirty="0"/>
          </a:p>
        </p:txBody>
      </p:sp>
      <p:sp>
        <p:nvSpPr>
          <p:cNvPr id="20" name="Shape 18"/>
          <p:cNvSpPr/>
          <p:nvPr/>
        </p:nvSpPr>
        <p:spPr>
          <a:xfrm>
            <a:off x="2103120" y="3246120"/>
            <a:ext cx="7955280" cy="2194560"/>
          </a:xfrm>
          <a:prstGeom prst="roundRect">
            <a:avLst>
              <a:gd name="adj" fmla="val 3333"/>
            </a:avLst>
          </a:prstGeom>
          <a:solidFill>
            <a:srgbClr val="101828"/>
          </a:solidFill>
          <a:ln w="7620">
            <a:solidFill>
              <a:srgbClr val="0B12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40280" y="3355848"/>
            <a:ext cx="7680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BD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Exemple honnête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249424" y="3648456"/>
            <a:ext cx="7662672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abstract class Notification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abstract void envoyer(Message message);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EmailNotification extends Notification { ... }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SmsNotification extends Notification { ... }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void notifier(Notification canal)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canal.envoyer(message);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429768" y="65105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J1 — Fondamentaux de la conception objet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5EFF"/>
          </a:solidFill>
          <a:ln w="12700">
            <a:solidFill>
              <a:srgbClr val="1E5E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256032"/>
            <a:ext cx="1088136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Fragilité des hiérarchies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38912" y="713232"/>
            <a:ext cx="10332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Plus la hiérarchie grandit, plus les hypothèses implicites coûtent cher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20624" y="987552"/>
            <a:ext cx="11201400" cy="0"/>
          </a:xfrm>
          <a:prstGeom prst="line">
            <a:avLst/>
          </a:prstGeom>
          <a:noFill/>
          <a:ln w="10160">
            <a:solidFill>
              <a:srgbClr val="D6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7899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13:30–14:30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1783080" y="1078992"/>
            <a:ext cx="9418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Risques</a:t>
            </a:r>
            <a:endParaRPr lang="en-US" sz="94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3611880" cy="566928"/>
          </a:xfrm>
          <a:prstGeom prst="rect">
            <a:avLst/>
          </a:prstGeom>
          <a:solidFill>
            <a:srgbClr val="172B4D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Signal</a:t>
            </a:r>
            <a:endParaRPr lang="en-US" sz="1110" dirty="0"/>
          </a:p>
        </p:txBody>
      </p:sp>
      <p:sp>
        <p:nvSpPr>
          <p:cNvPr id="9" name="Text 7"/>
          <p:cNvSpPr/>
          <p:nvPr/>
        </p:nvSpPr>
        <p:spPr>
          <a:xfrm>
            <a:off x="4297680" y="1325880"/>
            <a:ext cx="3611880" cy="566928"/>
          </a:xfrm>
          <a:prstGeom prst="rect">
            <a:avLst/>
          </a:prstGeom>
          <a:solidFill>
            <a:srgbClr val="172B4D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Risque</a:t>
            </a:r>
            <a:endParaRPr lang="en-US" sz="1110" dirty="0"/>
          </a:p>
        </p:txBody>
      </p:sp>
      <p:sp>
        <p:nvSpPr>
          <p:cNvPr id="10" name="Text 8"/>
          <p:cNvSpPr/>
          <p:nvPr/>
        </p:nvSpPr>
        <p:spPr>
          <a:xfrm>
            <a:off x="7909560" y="1325880"/>
            <a:ext cx="3611880" cy="566928"/>
          </a:xfrm>
          <a:prstGeom prst="rect">
            <a:avLst/>
          </a:prstGeom>
          <a:solidFill>
            <a:srgbClr val="172B4D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Réaction</a:t>
            </a:r>
            <a:endParaRPr lang="en-US" sz="1110" dirty="0"/>
          </a:p>
        </p:txBody>
      </p:sp>
      <p:sp>
        <p:nvSpPr>
          <p:cNvPr id="11" name="Text 9"/>
          <p:cNvSpPr/>
          <p:nvPr/>
        </p:nvSpPr>
        <p:spPr>
          <a:xfrm>
            <a:off x="685800" y="1892808"/>
            <a:ext cx="361188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Sous-type vide</a:t>
            </a:r>
            <a:endParaRPr lang="en-US" sz="1110" dirty="0"/>
          </a:p>
        </p:txBody>
      </p:sp>
      <p:sp>
        <p:nvSpPr>
          <p:cNvPr id="12" name="Text 10"/>
          <p:cNvSpPr/>
          <p:nvPr/>
        </p:nvSpPr>
        <p:spPr>
          <a:xfrm>
            <a:off x="4297680" y="1892808"/>
            <a:ext cx="361188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héritage de convenance</a:t>
            </a:r>
            <a:endParaRPr lang="en-US" sz="1110" dirty="0"/>
          </a:p>
        </p:txBody>
      </p:sp>
      <p:sp>
        <p:nvSpPr>
          <p:cNvPr id="13" name="Text 11"/>
          <p:cNvSpPr/>
          <p:nvPr/>
        </p:nvSpPr>
        <p:spPr>
          <a:xfrm>
            <a:off x="7909560" y="1892808"/>
            <a:ext cx="361188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revenir au besoin</a:t>
            </a:r>
            <a:endParaRPr lang="en-US" sz="1110" dirty="0"/>
          </a:p>
        </p:txBody>
      </p:sp>
      <p:sp>
        <p:nvSpPr>
          <p:cNvPr id="14" name="Text 12"/>
          <p:cNvSpPr/>
          <p:nvPr/>
        </p:nvSpPr>
        <p:spPr>
          <a:xfrm>
            <a:off x="685800" y="2459736"/>
            <a:ext cx="3611880" cy="566928"/>
          </a:xfrm>
          <a:prstGeom prst="rect">
            <a:avLst/>
          </a:prstGeom>
          <a:solidFill>
            <a:srgbClr val="F1F5F9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Méthode non supportée</a:t>
            </a:r>
            <a:endParaRPr lang="en-US" sz="1110" dirty="0"/>
          </a:p>
        </p:txBody>
      </p:sp>
      <p:sp>
        <p:nvSpPr>
          <p:cNvPr id="15" name="Text 13"/>
          <p:cNvSpPr/>
          <p:nvPr/>
        </p:nvSpPr>
        <p:spPr>
          <a:xfrm>
            <a:off x="4297680" y="2459736"/>
            <a:ext cx="3611880" cy="566928"/>
          </a:xfrm>
          <a:prstGeom prst="rect">
            <a:avLst/>
          </a:prstGeom>
          <a:solidFill>
            <a:srgbClr val="F1F5F9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 mensonger</a:t>
            </a:r>
            <a:endParaRPr lang="en-US" sz="1110" dirty="0"/>
          </a:p>
        </p:txBody>
      </p:sp>
      <p:sp>
        <p:nvSpPr>
          <p:cNvPr id="16" name="Text 14"/>
          <p:cNvSpPr/>
          <p:nvPr/>
        </p:nvSpPr>
        <p:spPr>
          <a:xfrm>
            <a:off x="7909560" y="2459736"/>
            <a:ext cx="3611880" cy="566928"/>
          </a:xfrm>
          <a:prstGeom prst="rect">
            <a:avLst/>
          </a:prstGeom>
          <a:solidFill>
            <a:srgbClr val="F1F5F9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séparer les capacités</a:t>
            </a:r>
            <a:endParaRPr lang="en-US" sz="1110" dirty="0"/>
          </a:p>
        </p:txBody>
      </p:sp>
      <p:sp>
        <p:nvSpPr>
          <p:cNvPr id="17" name="Text 15"/>
          <p:cNvSpPr/>
          <p:nvPr/>
        </p:nvSpPr>
        <p:spPr>
          <a:xfrm>
            <a:off x="685800" y="3026664"/>
            <a:ext cx="361188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Profondeur élevée</a:t>
            </a:r>
            <a:endParaRPr lang="en-US" sz="1110" dirty="0"/>
          </a:p>
        </p:txBody>
      </p:sp>
      <p:sp>
        <p:nvSpPr>
          <p:cNvPr id="18" name="Text 16"/>
          <p:cNvSpPr/>
          <p:nvPr/>
        </p:nvSpPr>
        <p:spPr>
          <a:xfrm>
            <a:off x="4297680" y="3026664"/>
            <a:ext cx="361188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comportement difficile à prédire</a:t>
            </a:r>
            <a:endParaRPr lang="en-US" sz="1110" dirty="0"/>
          </a:p>
        </p:txBody>
      </p:sp>
      <p:sp>
        <p:nvSpPr>
          <p:cNvPr id="19" name="Text 17"/>
          <p:cNvSpPr/>
          <p:nvPr/>
        </p:nvSpPr>
        <p:spPr>
          <a:xfrm>
            <a:off x="7909560" y="3026664"/>
            <a:ext cx="3611880" cy="566928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préférer composition</a:t>
            </a:r>
            <a:endParaRPr lang="en-US" sz="1110" dirty="0"/>
          </a:p>
        </p:txBody>
      </p:sp>
      <p:sp>
        <p:nvSpPr>
          <p:cNvPr id="20" name="Text 18"/>
          <p:cNvSpPr/>
          <p:nvPr/>
        </p:nvSpPr>
        <p:spPr>
          <a:xfrm>
            <a:off x="685800" y="3593592"/>
            <a:ext cx="3611880" cy="566928"/>
          </a:xfrm>
          <a:prstGeom prst="rect">
            <a:avLst/>
          </a:prstGeom>
          <a:solidFill>
            <a:srgbClr val="F1F5F9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Multiples axes de variation</a:t>
            </a:r>
            <a:endParaRPr lang="en-US" sz="1110" dirty="0"/>
          </a:p>
        </p:txBody>
      </p:sp>
      <p:sp>
        <p:nvSpPr>
          <p:cNvPr id="21" name="Text 19"/>
          <p:cNvSpPr/>
          <p:nvPr/>
        </p:nvSpPr>
        <p:spPr>
          <a:xfrm>
            <a:off x="4297680" y="3593592"/>
            <a:ext cx="3611880" cy="566928"/>
          </a:xfrm>
          <a:prstGeom prst="rect">
            <a:avLst/>
          </a:prstGeom>
          <a:solidFill>
            <a:srgbClr val="F1F5F9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explosion combinatoire</a:t>
            </a:r>
            <a:endParaRPr lang="en-US" sz="1110" dirty="0"/>
          </a:p>
        </p:txBody>
      </p:sp>
      <p:sp>
        <p:nvSpPr>
          <p:cNvPr id="22" name="Text 20"/>
          <p:cNvSpPr/>
          <p:nvPr/>
        </p:nvSpPr>
        <p:spPr>
          <a:xfrm>
            <a:off x="7909560" y="3593592"/>
            <a:ext cx="3611880" cy="566928"/>
          </a:xfrm>
          <a:prstGeom prst="rect">
            <a:avLst/>
          </a:prstGeom>
          <a:solidFill>
            <a:srgbClr val="F1F5F9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stratégies / délégation</a:t>
            </a:r>
            <a:endParaRPr lang="en-US" sz="1110" dirty="0"/>
          </a:p>
        </p:txBody>
      </p:sp>
      <p:sp>
        <p:nvSpPr>
          <p:cNvPr id="23" name="Shape 21"/>
          <p:cNvSpPr/>
          <p:nvPr/>
        </p:nvSpPr>
        <p:spPr>
          <a:xfrm>
            <a:off x="1828800" y="4709160"/>
            <a:ext cx="8412480" cy="868680"/>
          </a:xfrm>
          <a:prstGeom prst="roundRect">
            <a:avLst>
              <a:gd name="adj" fmla="val 8421"/>
            </a:avLst>
          </a:prstGeom>
          <a:solidFill>
            <a:srgbClr val="FFF4E7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74520" y="4782312"/>
            <a:ext cx="73152" cy="722376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48256" y="4855464"/>
            <a:ext cx="810158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de revue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2048256" y="5184648"/>
            <a:ext cx="810158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hiérarchie exprime-t-elle un vocabulaire métier ou seulement une astuce de réutilisation ?</a:t>
            </a:r>
            <a:endParaRPr lang="en-US" sz="1180" dirty="0"/>
          </a:p>
        </p:txBody>
      </p:sp>
      <p:sp>
        <p:nvSpPr>
          <p:cNvPr id="27" name="Text 25"/>
          <p:cNvSpPr/>
          <p:nvPr/>
        </p:nvSpPr>
        <p:spPr>
          <a:xfrm>
            <a:off x="429768" y="65105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J1 — Fondamentaux de la conception objet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5EFF"/>
          </a:solidFill>
          <a:ln w="12700">
            <a:solidFill>
              <a:srgbClr val="1E5E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256032"/>
            <a:ext cx="1088136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Préférer la composition lorsque le comportement varie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38912" y="713232"/>
            <a:ext cx="10332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Composer revient à choisir explicitement les dimensions de variation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20624" y="987552"/>
            <a:ext cx="11201400" cy="0"/>
          </a:xfrm>
          <a:prstGeom prst="line">
            <a:avLst/>
          </a:prstGeom>
          <a:noFill/>
          <a:ln w="10160">
            <a:solidFill>
              <a:srgbClr val="D6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7899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13:30–14:30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1783080" y="1078992"/>
            <a:ext cx="9418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Composition</a:t>
            </a:r>
            <a:endParaRPr lang="en-US" sz="940" dirty="0"/>
          </a:p>
        </p:txBody>
      </p:sp>
      <p:sp>
        <p:nvSpPr>
          <p:cNvPr id="8" name="Shape 6"/>
          <p:cNvSpPr/>
          <p:nvPr/>
        </p:nvSpPr>
        <p:spPr>
          <a:xfrm>
            <a:off x="914400" y="1645920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EAF1FF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1764792"/>
            <a:ext cx="182880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Commande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3017520" y="1847088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566160" y="1645920"/>
            <a:ext cx="2194560" cy="685800"/>
          </a:xfrm>
          <a:prstGeom prst="roundRect">
            <a:avLst>
              <a:gd name="adj" fmla="val 10667"/>
            </a:avLst>
          </a:prstGeom>
          <a:solidFill>
            <a:srgbClr val="EAF8F1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1764792"/>
            <a:ext cx="201168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PolitiqueRemise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5870448" y="1847088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400800" y="164592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FFF4E7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92240" y="1764792"/>
            <a:ext cx="219456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RemiseFidélité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RemiseCoupon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3566160" y="2880360"/>
            <a:ext cx="2194560" cy="685800"/>
          </a:xfrm>
          <a:prstGeom prst="roundRect">
            <a:avLst>
              <a:gd name="adj" fmla="val 10667"/>
            </a:avLst>
          </a:prstGeom>
          <a:solidFill>
            <a:srgbClr val="EAF8F1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0" y="2999232"/>
            <a:ext cx="201168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ModeLivraison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5870448" y="3081528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400800" y="2880360"/>
            <a:ext cx="2377440" cy="685800"/>
          </a:xfrm>
          <a:prstGeom prst="roundRect">
            <a:avLst>
              <a:gd name="adj" fmla="val 10667"/>
            </a:avLst>
          </a:prstGeom>
          <a:solidFill>
            <a:srgbClr val="FFF4E7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2999232"/>
            <a:ext cx="2194560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Express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1188720" y="4617720"/>
            <a:ext cx="9326880" cy="822960"/>
          </a:xfrm>
          <a:prstGeom prst="roundRect">
            <a:avLst>
              <a:gd name="adj" fmla="val 8889"/>
            </a:avLst>
          </a:prstGeom>
          <a:solidFill>
            <a:srgbClr val="F3EFFF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234440" y="4690872"/>
            <a:ext cx="73152" cy="67665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08176" y="4764024"/>
            <a:ext cx="901598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Bénéfice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408176" y="5093208"/>
            <a:ext cx="901598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Deux axes de variation indépendants ne créent pas une hiérarchie de 2 × 2 × 2 sous-classes.</a:t>
            </a:r>
            <a:endParaRPr lang="en-US" sz="1180" dirty="0"/>
          </a:p>
        </p:txBody>
      </p:sp>
      <p:sp>
        <p:nvSpPr>
          <p:cNvPr id="25" name="Text 23"/>
          <p:cNvSpPr/>
          <p:nvPr/>
        </p:nvSpPr>
        <p:spPr>
          <a:xfrm>
            <a:off x="429768" y="65105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J1 — Fondamentaux de la conception objet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5EFF"/>
          </a:solidFill>
          <a:ln w="12700">
            <a:solidFill>
              <a:srgbClr val="1E5E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256032"/>
            <a:ext cx="1088136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Arbitrer héritage versus composition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38912" y="713232"/>
            <a:ext cx="10332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décision de conception se justifie par un scénario de changement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20624" y="987552"/>
            <a:ext cx="11201400" cy="0"/>
          </a:xfrm>
          <a:prstGeom prst="line">
            <a:avLst/>
          </a:prstGeom>
          <a:noFill/>
          <a:ln w="10160">
            <a:solidFill>
              <a:srgbClr val="D6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7899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13:30–14:30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1783080" y="1078992"/>
            <a:ext cx="9418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Matrice de décision</a:t>
            </a:r>
            <a:endParaRPr lang="en-US" sz="940" dirty="0"/>
          </a:p>
        </p:txBody>
      </p:sp>
      <p:sp>
        <p:nvSpPr>
          <p:cNvPr id="8" name="Text 6"/>
          <p:cNvSpPr/>
          <p:nvPr/>
        </p:nvSpPr>
        <p:spPr>
          <a:xfrm>
            <a:off x="685800" y="1353312"/>
            <a:ext cx="3611880" cy="525780"/>
          </a:xfrm>
          <a:prstGeom prst="rect">
            <a:avLst/>
          </a:prstGeom>
          <a:solidFill>
            <a:srgbClr val="172B4D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</a:t>
            </a:r>
            <a:endParaRPr lang="en-US" sz="1110" dirty="0"/>
          </a:p>
        </p:txBody>
      </p:sp>
      <p:sp>
        <p:nvSpPr>
          <p:cNvPr id="9" name="Text 7"/>
          <p:cNvSpPr/>
          <p:nvPr/>
        </p:nvSpPr>
        <p:spPr>
          <a:xfrm>
            <a:off x="4297680" y="1353312"/>
            <a:ext cx="3611880" cy="525780"/>
          </a:xfrm>
          <a:prstGeom prst="rect">
            <a:avLst/>
          </a:prstGeom>
          <a:solidFill>
            <a:srgbClr val="172B4D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Héritage</a:t>
            </a:r>
            <a:endParaRPr lang="en-US" sz="1110" dirty="0"/>
          </a:p>
        </p:txBody>
      </p:sp>
      <p:sp>
        <p:nvSpPr>
          <p:cNvPr id="10" name="Text 8"/>
          <p:cNvSpPr/>
          <p:nvPr/>
        </p:nvSpPr>
        <p:spPr>
          <a:xfrm>
            <a:off x="7909560" y="1353312"/>
            <a:ext cx="3611880" cy="525780"/>
          </a:xfrm>
          <a:prstGeom prst="rect">
            <a:avLst/>
          </a:prstGeom>
          <a:solidFill>
            <a:srgbClr val="172B4D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1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Composition</a:t>
            </a:r>
            <a:endParaRPr lang="en-US" sz="1110" dirty="0"/>
          </a:p>
        </p:txBody>
      </p:sp>
      <p:sp>
        <p:nvSpPr>
          <p:cNvPr id="11" name="Text 9"/>
          <p:cNvSpPr/>
          <p:nvPr/>
        </p:nvSpPr>
        <p:spPr>
          <a:xfrm>
            <a:off x="685800" y="1879092"/>
            <a:ext cx="3611880" cy="525780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sous-type remplace-t-il le parent ?</a:t>
            </a:r>
            <a:endParaRPr lang="en-US" sz="1110" dirty="0"/>
          </a:p>
        </p:txBody>
      </p:sp>
      <p:sp>
        <p:nvSpPr>
          <p:cNvPr id="12" name="Text 10"/>
          <p:cNvSpPr/>
          <p:nvPr/>
        </p:nvSpPr>
        <p:spPr>
          <a:xfrm>
            <a:off x="4297680" y="1879092"/>
            <a:ext cx="3611880" cy="525780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oui</a:t>
            </a:r>
            <a:endParaRPr lang="en-US" sz="1110" dirty="0"/>
          </a:p>
        </p:txBody>
      </p:sp>
      <p:sp>
        <p:nvSpPr>
          <p:cNvPr id="13" name="Text 11"/>
          <p:cNvSpPr/>
          <p:nvPr/>
        </p:nvSpPr>
        <p:spPr>
          <a:xfrm>
            <a:off x="7909560" y="1879092"/>
            <a:ext cx="3611880" cy="525780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 nécessaire</a:t>
            </a:r>
            <a:endParaRPr lang="en-US" sz="1110" dirty="0"/>
          </a:p>
        </p:txBody>
      </p:sp>
      <p:sp>
        <p:nvSpPr>
          <p:cNvPr id="14" name="Text 12"/>
          <p:cNvSpPr/>
          <p:nvPr/>
        </p:nvSpPr>
        <p:spPr>
          <a:xfrm>
            <a:off x="685800" y="2404872"/>
            <a:ext cx="3611880" cy="525780"/>
          </a:xfrm>
          <a:prstGeom prst="rect">
            <a:avLst/>
          </a:prstGeom>
          <a:solidFill>
            <a:srgbClr val="F1F5F9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Plusieurs axes de variation ?</a:t>
            </a:r>
            <a:endParaRPr lang="en-US" sz="1110" dirty="0"/>
          </a:p>
        </p:txBody>
      </p:sp>
      <p:sp>
        <p:nvSpPr>
          <p:cNvPr id="15" name="Text 13"/>
          <p:cNvSpPr/>
          <p:nvPr/>
        </p:nvSpPr>
        <p:spPr>
          <a:xfrm>
            <a:off x="4297680" y="2404872"/>
            <a:ext cx="3611880" cy="525780"/>
          </a:xfrm>
          <a:prstGeom prst="rect">
            <a:avLst/>
          </a:prstGeom>
          <a:solidFill>
            <a:srgbClr val="F1F5F9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fragile</a:t>
            </a:r>
            <a:endParaRPr lang="en-US" sz="1110" dirty="0"/>
          </a:p>
        </p:txBody>
      </p:sp>
      <p:sp>
        <p:nvSpPr>
          <p:cNvPr id="16" name="Text 14"/>
          <p:cNvSpPr/>
          <p:nvPr/>
        </p:nvSpPr>
        <p:spPr>
          <a:xfrm>
            <a:off x="7909560" y="2404872"/>
            <a:ext cx="3611880" cy="525780"/>
          </a:xfrm>
          <a:prstGeom prst="rect">
            <a:avLst/>
          </a:prstGeom>
          <a:solidFill>
            <a:srgbClr val="F1F5F9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favorable</a:t>
            </a:r>
            <a:endParaRPr lang="en-US" sz="1110" dirty="0"/>
          </a:p>
        </p:txBody>
      </p:sp>
      <p:sp>
        <p:nvSpPr>
          <p:cNvPr id="17" name="Text 15"/>
          <p:cNvSpPr/>
          <p:nvPr/>
        </p:nvSpPr>
        <p:spPr>
          <a:xfrm>
            <a:off x="685800" y="2930652"/>
            <a:ext cx="3611880" cy="525780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Comportement choisi à l’exécution ?</a:t>
            </a:r>
            <a:endParaRPr lang="en-US" sz="1110" dirty="0"/>
          </a:p>
        </p:txBody>
      </p:sp>
      <p:sp>
        <p:nvSpPr>
          <p:cNvPr id="18" name="Text 16"/>
          <p:cNvSpPr/>
          <p:nvPr/>
        </p:nvSpPr>
        <p:spPr>
          <a:xfrm>
            <a:off x="4297680" y="2930652"/>
            <a:ext cx="3611880" cy="525780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limité</a:t>
            </a:r>
            <a:endParaRPr lang="en-US" sz="1110" dirty="0"/>
          </a:p>
        </p:txBody>
      </p:sp>
      <p:sp>
        <p:nvSpPr>
          <p:cNvPr id="19" name="Text 17"/>
          <p:cNvSpPr/>
          <p:nvPr/>
        </p:nvSpPr>
        <p:spPr>
          <a:xfrm>
            <a:off x="7909560" y="2930652"/>
            <a:ext cx="3611880" cy="525780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naturel</a:t>
            </a:r>
            <a:endParaRPr lang="en-US" sz="1110" dirty="0"/>
          </a:p>
        </p:txBody>
      </p:sp>
      <p:sp>
        <p:nvSpPr>
          <p:cNvPr id="20" name="Text 18"/>
          <p:cNvSpPr/>
          <p:nvPr/>
        </p:nvSpPr>
        <p:spPr>
          <a:xfrm>
            <a:off x="685800" y="3456432"/>
            <a:ext cx="3611880" cy="525780"/>
          </a:xfrm>
          <a:prstGeom prst="rect">
            <a:avLst/>
          </a:prstGeom>
          <a:solidFill>
            <a:srgbClr val="F1F5F9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Réutilisation de code seule ?</a:t>
            </a:r>
            <a:endParaRPr lang="en-US" sz="1110" dirty="0"/>
          </a:p>
        </p:txBody>
      </p:sp>
      <p:sp>
        <p:nvSpPr>
          <p:cNvPr id="21" name="Text 19"/>
          <p:cNvSpPr/>
          <p:nvPr/>
        </p:nvSpPr>
        <p:spPr>
          <a:xfrm>
            <a:off x="4297680" y="3456432"/>
            <a:ext cx="3611880" cy="525780"/>
          </a:xfrm>
          <a:prstGeom prst="rect">
            <a:avLst/>
          </a:prstGeom>
          <a:solidFill>
            <a:srgbClr val="F1F5F9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suspect</a:t>
            </a:r>
            <a:endParaRPr lang="en-US" sz="1110" dirty="0"/>
          </a:p>
        </p:txBody>
      </p:sp>
      <p:sp>
        <p:nvSpPr>
          <p:cNvPr id="22" name="Text 20"/>
          <p:cNvSpPr/>
          <p:nvPr/>
        </p:nvSpPr>
        <p:spPr>
          <a:xfrm>
            <a:off x="7909560" y="3456432"/>
            <a:ext cx="3611880" cy="525780"/>
          </a:xfrm>
          <a:prstGeom prst="rect">
            <a:avLst/>
          </a:prstGeom>
          <a:solidFill>
            <a:srgbClr val="F1F5F9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souvent préférable</a:t>
            </a:r>
            <a:endParaRPr lang="en-US" sz="1110" dirty="0"/>
          </a:p>
        </p:txBody>
      </p:sp>
      <p:sp>
        <p:nvSpPr>
          <p:cNvPr id="23" name="Text 21"/>
          <p:cNvSpPr/>
          <p:nvPr/>
        </p:nvSpPr>
        <p:spPr>
          <a:xfrm>
            <a:off x="685800" y="3982212"/>
            <a:ext cx="3611880" cy="525780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 stable et public ?</a:t>
            </a:r>
            <a:endParaRPr lang="en-US" sz="1110" dirty="0"/>
          </a:p>
        </p:txBody>
      </p:sp>
      <p:sp>
        <p:nvSpPr>
          <p:cNvPr id="24" name="Text 22"/>
          <p:cNvSpPr/>
          <p:nvPr/>
        </p:nvSpPr>
        <p:spPr>
          <a:xfrm>
            <a:off x="4297680" y="3982212"/>
            <a:ext cx="3611880" cy="525780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possible</a:t>
            </a:r>
            <a:endParaRPr lang="en-US" sz="1110" dirty="0"/>
          </a:p>
        </p:txBody>
      </p:sp>
      <p:sp>
        <p:nvSpPr>
          <p:cNvPr id="25" name="Text 23"/>
          <p:cNvSpPr/>
          <p:nvPr/>
        </p:nvSpPr>
        <p:spPr>
          <a:xfrm>
            <a:off x="7909560" y="3982212"/>
            <a:ext cx="3611880" cy="525780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possible</a:t>
            </a:r>
            <a:endParaRPr lang="en-US" sz="1110" dirty="0"/>
          </a:p>
        </p:txBody>
      </p:sp>
      <p:sp>
        <p:nvSpPr>
          <p:cNvPr id="26" name="Text 24"/>
          <p:cNvSpPr/>
          <p:nvPr/>
        </p:nvSpPr>
        <p:spPr>
          <a:xfrm>
            <a:off x="1005840" y="4983480"/>
            <a:ext cx="10058400" cy="658368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Règle pratique : hériter pour exprimer une substituabilité, composer pour assembler des comportements variables.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29768" y="65105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J1 — Fondamentaux de la conception objet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5EFF"/>
          </a:solidFill>
          <a:ln w="12700">
            <a:solidFill>
              <a:srgbClr val="1E5E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256032"/>
            <a:ext cx="1088136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OCP — Open/Closed Principle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38912" y="713232"/>
            <a:ext cx="10332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Ouvert à l’extension, fermé à la modification du cœur stable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20624" y="987552"/>
            <a:ext cx="11201400" cy="0"/>
          </a:xfrm>
          <a:prstGeom prst="line">
            <a:avLst/>
          </a:prstGeom>
          <a:noFill/>
          <a:ln w="10160">
            <a:solidFill>
              <a:srgbClr val="D6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7899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14:30–15:30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1783080" y="1078992"/>
            <a:ext cx="9418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SOLID</a:t>
            </a:r>
            <a:endParaRPr lang="en-US" sz="940" dirty="0"/>
          </a:p>
        </p:txBody>
      </p:sp>
      <p:sp>
        <p:nvSpPr>
          <p:cNvPr id="8" name="Shape 6"/>
          <p:cNvSpPr/>
          <p:nvPr/>
        </p:nvSpPr>
        <p:spPr>
          <a:xfrm>
            <a:off x="685800" y="1298448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0160">
            <a:solidFill>
              <a:srgbClr val="D6DEE8"/>
            </a:solidFill>
            <a:prstDash val="solid"/>
          </a:ln>
        </p:spPr>
      </p:sp>
      <p:pic>
        <p:nvPicPr>
          <p:cNvPr id="9" name="Image 0" descr="/mnt/data/j1_enriched_assets/06_oc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978706"/>
            <a:ext cx="5349240" cy="312004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400800" y="1600200"/>
            <a:ext cx="4754880" cy="1005840"/>
          </a:xfrm>
          <a:prstGeom prst="roundRect">
            <a:avLst>
              <a:gd name="adj" fmla="val 7273"/>
            </a:avLst>
          </a:prstGeom>
          <a:solidFill>
            <a:srgbClr val="EAF1FF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46520" y="1673352"/>
            <a:ext cx="73152" cy="859536"/>
          </a:xfrm>
          <a:prstGeom prst="rect">
            <a:avLst/>
          </a:prstGeom>
          <a:solidFill>
            <a:srgbClr val="1E5EFF"/>
          </a:solidFill>
          <a:ln w="12700">
            <a:solidFill>
              <a:srgbClr val="1E5EF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20256" y="1746504"/>
            <a:ext cx="444398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 que protège OCP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620256" y="2075688"/>
            <a:ext cx="444398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coordination existante : orchestration, invariants, workflow métier.</a:t>
            </a:r>
            <a:endParaRPr lang="en-US" sz="1180" dirty="0"/>
          </a:p>
        </p:txBody>
      </p:sp>
      <p:sp>
        <p:nvSpPr>
          <p:cNvPr id="14" name="Shape 11"/>
          <p:cNvSpPr/>
          <p:nvPr/>
        </p:nvSpPr>
        <p:spPr>
          <a:xfrm>
            <a:off x="6400800" y="2926080"/>
            <a:ext cx="4754880" cy="1005840"/>
          </a:xfrm>
          <a:prstGeom prst="roundRect">
            <a:avLst>
              <a:gd name="adj" fmla="val 7273"/>
            </a:avLst>
          </a:prstGeom>
          <a:solidFill>
            <a:srgbClr val="EAF8F1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46520" y="2999232"/>
            <a:ext cx="73152" cy="859536"/>
          </a:xfrm>
          <a:prstGeom prst="rect">
            <a:avLst/>
          </a:prstGeom>
          <a:solidFill>
            <a:srgbClr val="20A76F"/>
          </a:solidFill>
          <a:ln w="12700">
            <a:solidFill>
              <a:srgbClr val="20A76F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20256" y="3072384"/>
            <a:ext cx="444398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 qu’OCP n’interdit pas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6620256" y="3401568"/>
            <a:ext cx="444398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Modifier le code pendant l’apprentissage ou refactorer une mauvaise abstraction.</a:t>
            </a:r>
            <a:endParaRPr lang="en-US" sz="1180" dirty="0"/>
          </a:p>
        </p:txBody>
      </p:sp>
      <p:sp>
        <p:nvSpPr>
          <p:cNvPr id="18" name="Shape 15"/>
          <p:cNvSpPr/>
          <p:nvPr/>
        </p:nvSpPr>
        <p:spPr>
          <a:xfrm>
            <a:off x="6400800" y="4251960"/>
            <a:ext cx="4754880" cy="1005840"/>
          </a:xfrm>
          <a:prstGeom prst="roundRect">
            <a:avLst>
              <a:gd name="adj" fmla="val 7273"/>
            </a:avLst>
          </a:prstGeom>
          <a:solidFill>
            <a:srgbClr val="FFF4E7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46520" y="4325112"/>
            <a:ext cx="73152" cy="859536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20256" y="4398264"/>
            <a:ext cx="444398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Déclencheur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6620256" y="4727448"/>
            <a:ext cx="444398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axe de variation répété menace plusieurs endroits du code.</a:t>
            </a:r>
            <a:endParaRPr lang="en-US" sz="1180" dirty="0"/>
          </a:p>
        </p:txBody>
      </p:sp>
      <p:sp>
        <p:nvSpPr>
          <p:cNvPr id="22" name="Text 19"/>
          <p:cNvSpPr/>
          <p:nvPr/>
        </p:nvSpPr>
        <p:spPr>
          <a:xfrm>
            <a:off x="429768" y="65105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J1 — Fondamentaux de la conception objet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5EFF"/>
          </a:solidFill>
          <a:ln w="12700">
            <a:solidFill>
              <a:srgbClr val="1E5E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256032"/>
            <a:ext cx="1088136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OCP : du switch à un point d’extension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38912" y="713232"/>
            <a:ext cx="10332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polymorphisme protège la règle de coordination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20624" y="987552"/>
            <a:ext cx="11201400" cy="0"/>
          </a:xfrm>
          <a:prstGeom prst="line">
            <a:avLst/>
          </a:prstGeom>
          <a:noFill/>
          <a:ln w="10160">
            <a:solidFill>
              <a:srgbClr val="D6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7899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14:30–15:30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1783080" y="1078992"/>
            <a:ext cx="9418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Refactoring</a:t>
            </a:r>
            <a:endParaRPr lang="en-US" sz="940" dirty="0"/>
          </a:p>
        </p:txBody>
      </p:sp>
      <p:sp>
        <p:nvSpPr>
          <p:cNvPr id="8" name="Shape 6"/>
          <p:cNvSpPr/>
          <p:nvPr/>
        </p:nvSpPr>
        <p:spPr>
          <a:xfrm>
            <a:off x="685800" y="1417320"/>
            <a:ext cx="5166360" cy="3383280"/>
          </a:xfrm>
          <a:prstGeom prst="roundRect">
            <a:avLst>
              <a:gd name="adj" fmla="val 2162"/>
            </a:avLst>
          </a:prstGeom>
          <a:solidFill>
            <a:srgbClr val="101828"/>
          </a:solidFill>
          <a:ln w="762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527048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BD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Avant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32104" y="1819656"/>
            <a:ext cx="4873752" cy="2880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Money frais(TypeLivraison type, Commande c)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return switch(type)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case STANDARD -&gt; Money.of(5);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case EXPRESS  -&gt; Money.of(12);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case RELAIS   -&gt; Money.of(3);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};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6263640" y="1417320"/>
            <a:ext cx="5166360" cy="3383280"/>
          </a:xfrm>
          <a:prstGeom prst="roundRect">
            <a:avLst>
              <a:gd name="adj" fmla="val 2162"/>
            </a:avLst>
          </a:prstGeom>
          <a:solidFill>
            <a:srgbClr val="101828"/>
          </a:solidFill>
          <a:ln w="7620">
            <a:solidFill>
              <a:srgbClr val="0B12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527048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BD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Après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09944" y="1819656"/>
            <a:ext cx="4873752" cy="2880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interface CalculFraisLivraison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Money calculer(Commande commande);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LivraisonExpress implements CalculFraisLivraison { ... }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LivraisonRelais implements CalculFraisLivraison { ... }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commande.calculerFraisAvec(strategie);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1965960" y="5166360"/>
            <a:ext cx="8183880" cy="749808"/>
          </a:xfrm>
          <a:prstGeom prst="roundRect">
            <a:avLst>
              <a:gd name="adj" fmla="val 9756"/>
            </a:avLst>
          </a:prstGeom>
          <a:solidFill>
            <a:srgbClr val="FFF4E7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0" y="5239512"/>
            <a:ext cx="73152" cy="603504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85416" y="5312664"/>
            <a:ext cx="787298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 d’attention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185416" y="5641848"/>
            <a:ext cx="7872984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seul switch local peut être clair. Le problème apparaît quand la même décision se répète dans plusieurs modules.</a:t>
            </a:r>
            <a:endParaRPr lang="en-US" sz="1180" dirty="0"/>
          </a:p>
        </p:txBody>
      </p:sp>
      <p:sp>
        <p:nvSpPr>
          <p:cNvPr id="18" name="Text 16"/>
          <p:cNvSpPr/>
          <p:nvPr/>
        </p:nvSpPr>
        <p:spPr>
          <a:xfrm>
            <a:off x="429768" y="65105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J1 — Fondamentaux de la conception objet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5EFF"/>
          </a:solidFill>
          <a:ln w="12700">
            <a:solidFill>
              <a:srgbClr val="1E5E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256032"/>
            <a:ext cx="1088136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OCP : erreurs d’interprétation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38912" y="713232"/>
            <a:ext cx="10332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Trop abstraire trop tôt peut coûter plus cher que modifier simplement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20624" y="987552"/>
            <a:ext cx="11201400" cy="0"/>
          </a:xfrm>
          <a:prstGeom prst="line">
            <a:avLst/>
          </a:prstGeom>
          <a:noFill/>
          <a:ln w="10160">
            <a:solidFill>
              <a:srgbClr val="D6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7899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14:30–15:30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1783080" y="1078992"/>
            <a:ext cx="9418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Anti-patterns</a:t>
            </a:r>
            <a:endParaRPr lang="en-US" sz="940" dirty="0"/>
          </a:p>
        </p:txBody>
      </p:sp>
      <p:sp>
        <p:nvSpPr>
          <p:cNvPr id="8" name="Text 6"/>
          <p:cNvSpPr/>
          <p:nvPr/>
        </p:nvSpPr>
        <p:spPr>
          <a:xfrm>
            <a:off x="685800" y="1417320"/>
            <a:ext cx="3611880" cy="594360"/>
          </a:xfrm>
          <a:prstGeom prst="rect">
            <a:avLst/>
          </a:prstGeom>
          <a:solidFill>
            <a:srgbClr val="172B4D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Mauvaise lecture</a:t>
            </a:r>
            <a:endParaRPr lang="en-US" sz="1070" dirty="0"/>
          </a:p>
        </p:txBody>
      </p:sp>
      <p:sp>
        <p:nvSpPr>
          <p:cNvPr id="9" name="Text 7"/>
          <p:cNvSpPr/>
          <p:nvPr/>
        </p:nvSpPr>
        <p:spPr>
          <a:xfrm>
            <a:off x="4297680" y="1417320"/>
            <a:ext cx="3611880" cy="594360"/>
          </a:xfrm>
          <a:prstGeom prst="rect">
            <a:avLst/>
          </a:prstGeom>
          <a:solidFill>
            <a:srgbClr val="172B4D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Conséquence</a:t>
            </a:r>
            <a:endParaRPr lang="en-US" sz="1070" dirty="0"/>
          </a:p>
        </p:txBody>
      </p:sp>
      <p:sp>
        <p:nvSpPr>
          <p:cNvPr id="10" name="Text 8"/>
          <p:cNvSpPr/>
          <p:nvPr/>
        </p:nvSpPr>
        <p:spPr>
          <a:xfrm>
            <a:off x="7909560" y="1417320"/>
            <a:ext cx="3611880" cy="594360"/>
          </a:xfrm>
          <a:prstGeom prst="rect">
            <a:avLst/>
          </a:prstGeom>
          <a:solidFill>
            <a:srgbClr val="172B4D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Alternative</a:t>
            </a:r>
            <a:endParaRPr lang="en-US" sz="1070" dirty="0"/>
          </a:p>
        </p:txBody>
      </p:sp>
      <p:sp>
        <p:nvSpPr>
          <p:cNvPr id="11" name="Text 9"/>
          <p:cNvSpPr/>
          <p:nvPr/>
        </p:nvSpPr>
        <p:spPr>
          <a:xfrm>
            <a:off x="685800" y="2011680"/>
            <a:ext cx="3611880" cy="594360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Créer une interface pour chaque classe</a:t>
            </a:r>
            <a:endParaRPr lang="en-US" sz="1070" dirty="0"/>
          </a:p>
        </p:txBody>
      </p:sp>
      <p:sp>
        <p:nvSpPr>
          <p:cNvPr id="12" name="Text 10"/>
          <p:cNvSpPr/>
          <p:nvPr/>
        </p:nvSpPr>
        <p:spPr>
          <a:xfrm>
            <a:off x="4297680" y="2011680"/>
            <a:ext cx="3611880" cy="594360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bruit architectural</a:t>
            </a:r>
            <a:endParaRPr lang="en-US" sz="1070" dirty="0"/>
          </a:p>
        </p:txBody>
      </p:sp>
      <p:sp>
        <p:nvSpPr>
          <p:cNvPr id="13" name="Text 11"/>
          <p:cNvSpPr/>
          <p:nvPr/>
        </p:nvSpPr>
        <p:spPr>
          <a:xfrm>
            <a:off x="7909560" y="2011680"/>
            <a:ext cx="3611880" cy="594360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attendre un client/variation</a:t>
            </a:r>
            <a:endParaRPr lang="en-US" sz="1070" dirty="0"/>
          </a:p>
        </p:txBody>
      </p:sp>
      <p:sp>
        <p:nvSpPr>
          <p:cNvPr id="14" name="Text 12"/>
          <p:cNvSpPr/>
          <p:nvPr/>
        </p:nvSpPr>
        <p:spPr>
          <a:xfrm>
            <a:off x="685800" y="2606040"/>
            <a:ext cx="3611880" cy="594360"/>
          </a:xfrm>
          <a:prstGeom prst="rect">
            <a:avLst/>
          </a:prstGeom>
          <a:solidFill>
            <a:srgbClr val="F1F5F9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Tout prévoir</a:t>
            </a:r>
            <a:endParaRPr lang="en-US" sz="1070" dirty="0"/>
          </a:p>
        </p:txBody>
      </p:sp>
      <p:sp>
        <p:nvSpPr>
          <p:cNvPr id="15" name="Text 13"/>
          <p:cNvSpPr/>
          <p:nvPr/>
        </p:nvSpPr>
        <p:spPr>
          <a:xfrm>
            <a:off x="4297680" y="2606040"/>
            <a:ext cx="3611880" cy="594360"/>
          </a:xfrm>
          <a:prstGeom prst="rect">
            <a:avLst/>
          </a:prstGeom>
          <a:solidFill>
            <a:srgbClr val="F1F5F9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complexité spéculative</a:t>
            </a:r>
            <a:endParaRPr lang="en-US" sz="1070" dirty="0"/>
          </a:p>
        </p:txBody>
      </p:sp>
      <p:sp>
        <p:nvSpPr>
          <p:cNvPr id="16" name="Text 14"/>
          <p:cNvSpPr/>
          <p:nvPr/>
        </p:nvSpPr>
        <p:spPr>
          <a:xfrm>
            <a:off x="7909560" y="2606040"/>
            <a:ext cx="3611880" cy="594360"/>
          </a:xfrm>
          <a:prstGeom prst="rect">
            <a:avLst/>
          </a:prstGeom>
          <a:solidFill>
            <a:srgbClr val="F1F5F9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protéger les variations probables</a:t>
            </a:r>
            <a:endParaRPr lang="en-US" sz="1070" dirty="0"/>
          </a:p>
        </p:txBody>
      </p:sp>
      <p:sp>
        <p:nvSpPr>
          <p:cNvPr id="17" name="Text 15"/>
          <p:cNvSpPr/>
          <p:nvPr/>
        </p:nvSpPr>
        <p:spPr>
          <a:xfrm>
            <a:off x="685800" y="3200400"/>
            <a:ext cx="3611880" cy="594360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Interdire toute modification</a:t>
            </a:r>
            <a:endParaRPr lang="en-US" sz="1070" dirty="0"/>
          </a:p>
        </p:txBody>
      </p:sp>
      <p:sp>
        <p:nvSpPr>
          <p:cNvPr id="18" name="Text 16"/>
          <p:cNvSpPr/>
          <p:nvPr/>
        </p:nvSpPr>
        <p:spPr>
          <a:xfrm>
            <a:off x="4297680" y="3200400"/>
            <a:ext cx="3611880" cy="594360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blocage du refactoring</a:t>
            </a:r>
            <a:endParaRPr lang="en-US" sz="1070" dirty="0"/>
          </a:p>
        </p:txBody>
      </p:sp>
      <p:sp>
        <p:nvSpPr>
          <p:cNvPr id="19" name="Text 17"/>
          <p:cNvSpPr/>
          <p:nvPr/>
        </p:nvSpPr>
        <p:spPr>
          <a:xfrm>
            <a:off x="7909560" y="3200400"/>
            <a:ext cx="3611880" cy="594360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refactorer pour clarifier</a:t>
            </a:r>
            <a:endParaRPr lang="en-US" sz="1070" dirty="0"/>
          </a:p>
        </p:txBody>
      </p:sp>
      <p:sp>
        <p:nvSpPr>
          <p:cNvPr id="20" name="Text 18"/>
          <p:cNvSpPr/>
          <p:nvPr/>
        </p:nvSpPr>
        <p:spPr>
          <a:xfrm>
            <a:off x="685800" y="3794760"/>
            <a:ext cx="3611880" cy="594360"/>
          </a:xfrm>
          <a:prstGeom prst="rect">
            <a:avLst/>
          </a:prstGeom>
          <a:solidFill>
            <a:srgbClr val="F1F5F9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Multiplier les factories</a:t>
            </a:r>
            <a:endParaRPr lang="en-US" sz="1070" dirty="0"/>
          </a:p>
        </p:txBody>
      </p:sp>
      <p:sp>
        <p:nvSpPr>
          <p:cNvPr id="21" name="Text 19"/>
          <p:cNvSpPr/>
          <p:nvPr/>
        </p:nvSpPr>
        <p:spPr>
          <a:xfrm>
            <a:off x="4297680" y="3794760"/>
            <a:ext cx="3611880" cy="594360"/>
          </a:xfrm>
          <a:prstGeom prst="rect">
            <a:avLst/>
          </a:prstGeom>
          <a:solidFill>
            <a:srgbClr val="F1F5F9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sur-ingénierie</a:t>
            </a:r>
            <a:endParaRPr lang="en-US" sz="1070" dirty="0"/>
          </a:p>
        </p:txBody>
      </p:sp>
      <p:sp>
        <p:nvSpPr>
          <p:cNvPr id="22" name="Text 20"/>
          <p:cNvSpPr/>
          <p:nvPr/>
        </p:nvSpPr>
        <p:spPr>
          <a:xfrm>
            <a:off x="7909560" y="3794760"/>
            <a:ext cx="3611880" cy="594360"/>
          </a:xfrm>
          <a:prstGeom prst="rect">
            <a:avLst/>
          </a:prstGeom>
          <a:solidFill>
            <a:srgbClr val="F1F5F9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nommer le vrai point d’extension</a:t>
            </a:r>
            <a:endParaRPr lang="en-US" sz="1070" dirty="0"/>
          </a:p>
        </p:txBody>
      </p:sp>
      <p:sp>
        <p:nvSpPr>
          <p:cNvPr id="23" name="Shape 21"/>
          <p:cNvSpPr/>
          <p:nvPr/>
        </p:nvSpPr>
        <p:spPr>
          <a:xfrm>
            <a:off x="1143000" y="4892040"/>
            <a:ext cx="9875520" cy="868680"/>
          </a:xfrm>
          <a:prstGeom prst="roundRect">
            <a:avLst>
              <a:gd name="adj" fmla="val 8421"/>
            </a:avLst>
          </a:prstGeom>
          <a:solidFill>
            <a:srgbClr val="EAF1FF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88720" y="4965192"/>
            <a:ext cx="73152" cy="722376"/>
          </a:xfrm>
          <a:prstGeom prst="rect">
            <a:avLst/>
          </a:prstGeom>
          <a:solidFill>
            <a:srgbClr val="1E5EFF"/>
          </a:solidFill>
          <a:ln w="12700">
            <a:solidFill>
              <a:srgbClr val="1E5E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62456" y="5038344"/>
            <a:ext cx="956462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Phrase utile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362456" y="5367528"/>
            <a:ext cx="9564624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OCP n’est pas une interdiction de changer : c’est une stratégie pour éviter de modifier les zones stables quand une variation connue arrive.</a:t>
            </a:r>
            <a:endParaRPr lang="en-US" sz="1180" dirty="0"/>
          </a:p>
        </p:txBody>
      </p:sp>
      <p:sp>
        <p:nvSpPr>
          <p:cNvPr id="27" name="Text 25"/>
          <p:cNvSpPr/>
          <p:nvPr/>
        </p:nvSpPr>
        <p:spPr>
          <a:xfrm>
            <a:off x="429768" y="65105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J1 — Fondamentaux de la conception objet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5EFF"/>
          </a:solidFill>
          <a:ln w="12700">
            <a:solidFill>
              <a:srgbClr val="1E5E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256032"/>
            <a:ext cx="1088136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LSP — Liskov Substitution Principle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38912" y="713232"/>
            <a:ext cx="10332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sous-type doit préserver les promesses observables du parent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20624" y="987552"/>
            <a:ext cx="11201400" cy="0"/>
          </a:xfrm>
          <a:prstGeom prst="line">
            <a:avLst/>
          </a:prstGeom>
          <a:noFill/>
          <a:ln w="10160">
            <a:solidFill>
              <a:srgbClr val="D6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7899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14:30–15:30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1783080" y="1078992"/>
            <a:ext cx="9418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SOLID</a:t>
            </a:r>
            <a:endParaRPr lang="en-US" sz="940" dirty="0"/>
          </a:p>
        </p:txBody>
      </p:sp>
      <p:sp>
        <p:nvSpPr>
          <p:cNvPr id="8" name="Shape 6"/>
          <p:cNvSpPr/>
          <p:nvPr/>
        </p:nvSpPr>
        <p:spPr>
          <a:xfrm>
            <a:off x="685800" y="1298448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0160">
            <a:solidFill>
              <a:srgbClr val="D6DEE8"/>
            </a:solidFill>
            <a:prstDash val="solid"/>
          </a:ln>
        </p:spPr>
      </p:sp>
      <p:pic>
        <p:nvPicPr>
          <p:cNvPr id="9" name="Image 0" descr="/mnt/data/j1_enriched_assets/07_ls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978706"/>
            <a:ext cx="5349240" cy="312004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400800" y="1600200"/>
            <a:ext cx="4754880" cy="960120"/>
          </a:xfrm>
          <a:prstGeom prst="roundRect">
            <a:avLst>
              <a:gd name="adj" fmla="val 7619"/>
            </a:avLst>
          </a:prstGeom>
          <a:solidFill>
            <a:srgbClr val="EAF1FF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46520" y="1673352"/>
            <a:ext cx="73152" cy="813816"/>
          </a:xfrm>
          <a:prstGeom prst="rect">
            <a:avLst/>
          </a:prstGeom>
          <a:solidFill>
            <a:srgbClr val="1E5EFF"/>
          </a:solidFill>
          <a:ln w="12700">
            <a:solidFill>
              <a:srgbClr val="1E5EF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20256" y="1746504"/>
            <a:ext cx="444398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Substituabilité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620256" y="2075688"/>
            <a:ext cx="444398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client ne doit pas être surpris en remplaçant le parent par le sous-type.</a:t>
            </a:r>
            <a:endParaRPr lang="en-US" sz="1180" dirty="0"/>
          </a:p>
        </p:txBody>
      </p:sp>
      <p:sp>
        <p:nvSpPr>
          <p:cNvPr id="14" name="Shape 11"/>
          <p:cNvSpPr/>
          <p:nvPr/>
        </p:nvSpPr>
        <p:spPr>
          <a:xfrm>
            <a:off x="6400800" y="2880360"/>
            <a:ext cx="4754880" cy="960120"/>
          </a:xfrm>
          <a:prstGeom prst="roundRect">
            <a:avLst>
              <a:gd name="adj" fmla="val 7619"/>
            </a:avLst>
          </a:prstGeom>
          <a:solidFill>
            <a:srgbClr val="FFF4E7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46520" y="2953512"/>
            <a:ext cx="73152" cy="813816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20256" y="3026664"/>
            <a:ext cx="444398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Préconditions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6620256" y="3355848"/>
            <a:ext cx="444398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sous-type ne doit pas demander plus que le parent.</a:t>
            </a:r>
            <a:endParaRPr lang="en-US" sz="1180" dirty="0"/>
          </a:p>
        </p:txBody>
      </p:sp>
      <p:sp>
        <p:nvSpPr>
          <p:cNvPr id="18" name="Shape 15"/>
          <p:cNvSpPr/>
          <p:nvPr/>
        </p:nvSpPr>
        <p:spPr>
          <a:xfrm>
            <a:off x="6400800" y="4160520"/>
            <a:ext cx="4754880" cy="960120"/>
          </a:xfrm>
          <a:prstGeom prst="roundRect">
            <a:avLst>
              <a:gd name="adj" fmla="val 7619"/>
            </a:avLst>
          </a:prstGeom>
          <a:solidFill>
            <a:srgbClr val="EAF8F1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446520" y="4233672"/>
            <a:ext cx="73152" cy="813816"/>
          </a:xfrm>
          <a:prstGeom prst="rect">
            <a:avLst/>
          </a:prstGeom>
          <a:solidFill>
            <a:srgbClr val="20A76F"/>
          </a:solidFill>
          <a:ln w="12700">
            <a:solidFill>
              <a:srgbClr val="20A76F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20256" y="4306824"/>
            <a:ext cx="444398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Postconditions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6620256" y="4636008"/>
            <a:ext cx="4443984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sous-type ne doit pas promettre moins que le parent.</a:t>
            </a:r>
            <a:endParaRPr lang="en-US" sz="1180" dirty="0"/>
          </a:p>
        </p:txBody>
      </p:sp>
      <p:sp>
        <p:nvSpPr>
          <p:cNvPr id="22" name="Text 19"/>
          <p:cNvSpPr/>
          <p:nvPr/>
        </p:nvSpPr>
        <p:spPr>
          <a:xfrm>
            <a:off x="429768" y="65105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J1 — Fondamentaux de la conception objet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5EFF"/>
          </a:solidFill>
          <a:ln w="12700">
            <a:solidFill>
              <a:srgbClr val="1E5E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256032"/>
            <a:ext cx="1088136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LSP et contrats comportementaux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38912" y="713232"/>
            <a:ext cx="10332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compatibilité de signature ne suffit pas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20624" y="987552"/>
            <a:ext cx="11201400" cy="0"/>
          </a:xfrm>
          <a:prstGeom prst="line">
            <a:avLst/>
          </a:prstGeom>
          <a:noFill/>
          <a:ln w="10160">
            <a:solidFill>
              <a:srgbClr val="D6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7899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14:30–15:30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1783080" y="1078992"/>
            <a:ext cx="9418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Contrats</a:t>
            </a:r>
            <a:endParaRPr lang="en-US" sz="940" dirty="0"/>
          </a:p>
        </p:txBody>
      </p:sp>
      <p:sp>
        <p:nvSpPr>
          <p:cNvPr id="8" name="Shape 6"/>
          <p:cNvSpPr/>
          <p:nvPr/>
        </p:nvSpPr>
        <p:spPr>
          <a:xfrm>
            <a:off x="1143000" y="1600200"/>
            <a:ext cx="2194560" cy="822960"/>
          </a:xfrm>
          <a:prstGeom prst="roundRect">
            <a:avLst>
              <a:gd name="adj" fmla="val 8889"/>
            </a:avLst>
          </a:prstGeom>
          <a:solidFill>
            <a:srgbClr val="EAF1FF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1719072"/>
            <a:ext cx="201168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Parent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 attendu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3566160" y="187452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160520" y="1600200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EAF8F1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51960" y="1719072"/>
            <a:ext cx="219456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Sous-type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comportement réel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6766560" y="187452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360920" y="1600200"/>
            <a:ext cx="2423160" cy="822960"/>
          </a:xfrm>
          <a:prstGeom prst="roundRect">
            <a:avLst>
              <a:gd name="adj" fmla="val 8889"/>
            </a:avLst>
          </a:prstGeom>
          <a:solidFill>
            <a:srgbClr val="FFF4E7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52360" y="1719072"/>
            <a:ext cx="224028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 de test spécial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1051560" y="3429000"/>
            <a:ext cx="5006340" cy="393192"/>
          </a:xfrm>
          <a:prstGeom prst="rect">
            <a:avLst/>
          </a:prstGeom>
          <a:solidFill>
            <a:srgbClr val="172B4D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</a:t>
            </a:r>
            <a:endParaRPr lang="en-US" sz="1140" dirty="0"/>
          </a:p>
        </p:txBody>
      </p:sp>
      <p:sp>
        <p:nvSpPr>
          <p:cNvPr id="17" name="Text 15"/>
          <p:cNvSpPr/>
          <p:nvPr/>
        </p:nvSpPr>
        <p:spPr>
          <a:xfrm>
            <a:off x="6057900" y="3429000"/>
            <a:ext cx="5006340" cy="393192"/>
          </a:xfrm>
          <a:prstGeom prst="rect">
            <a:avLst/>
          </a:prstGeom>
          <a:solidFill>
            <a:srgbClr val="172B4D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Violation typique</a:t>
            </a:r>
            <a:endParaRPr lang="en-US" sz="1140" dirty="0"/>
          </a:p>
        </p:txBody>
      </p:sp>
      <p:sp>
        <p:nvSpPr>
          <p:cNvPr id="18" name="Text 16"/>
          <p:cNvSpPr/>
          <p:nvPr/>
        </p:nvSpPr>
        <p:spPr>
          <a:xfrm>
            <a:off x="1051560" y="3822192"/>
            <a:ext cx="500634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Précondition renforcée</a:t>
            </a:r>
            <a:endParaRPr lang="en-US" sz="1140" dirty="0"/>
          </a:p>
        </p:txBody>
      </p:sp>
      <p:sp>
        <p:nvSpPr>
          <p:cNvPr id="19" name="Text 17"/>
          <p:cNvSpPr/>
          <p:nvPr/>
        </p:nvSpPr>
        <p:spPr>
          <a:xfrm>
            <a:off x="6057900" y="3822192"/>
            <a:ext cx="500634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sous-type exige plus d’informations</a:t>
            </a:r>
            <a:endParaRPr lang="en-US" sz="1140" dirty="0"/>
          </a:p>
        </p:txBody>
      </p:sp>
      <p:sp>
        <p:nvSpPr>
          <p:cNvPr id="20" name="Text 18"/>
          <p:cNvSpPr/>
          <p:nvPr/>
        </p:nvSpPr>
        <p:spPr>
          <a:xfrm>
            <a:off x="1051560" y="4215384"/>
            <a:ext cx="5006340" cy="393192"/>
          </a:xfrm>
          <a:prstGeom prst="rect">
            <a:avLst/>
          </a:prstGeom>
          <a:solidFill>
            <a:srgbClr val="F1F5F9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Postcondition affaiblie</a:t>
            </a:r>
            <a:endParaRPr lang="en-US" sz="1140" dirty="0"/>
          </a:p>
        </p:txBody>
      </p:sp>
      <p:sp>
        <p:nvSpPr>
          <p:cNvPr id="21" name="Text 19"/>
          <p:cNvSpPr/>
          <p:nvPr/>
        </p:nvSpPr>
        <p:spPr>
          <a:xfrm>
            <a:off x="6057900" y="4215384"/>
            <a:ext cx="5006340" cy="393192"/>
          </a:xfrm>
          <a:prstGeom prst="rect">
            <a:avLst/>
          </a:prstGeom>
          <a:solidFill>
            <a:srgbClr val="F1F5F9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résultat est moins garanti</a:t>
            </a:r>
            <a:endParaRPr lang="en-US" sz="1140" dirty="0"/>
          </a:p>
        </p:txBody>
      </p:sp>
      <p:sp>
        <p:nvSpPr>
          <p:cNvPr id="22" name="Text 20"/>
          <p:cNvSpPr/>
          <p:nvPr/>
        </p:nvSpPr>
        <p:spPr>
          <a:xfrm>
            <a:off x="1051560" y="4608576"/>
            <a:ext cx="500634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Invariant cassé</a:t>
            </a:r>
            <a:endParaRPr lang="en-US" sz="1140" dirty="0"/>
          </a:p>
        </p:txBody>
      </p:sp>
      <p:sp>
        <p:nvSpPr>
          <p:cNvPr id="23" name="Text 21"/>
          <p:cNvSpPr/>
          <p:nvPr/>
        </p:nvSpPr>
        <p:spPr>
          <a:xfrm>
            <a:off x="6057900" y="4608576"/>
            <a:ext cx="5006340" cy="393192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l’objet accepte un état impossible</a:t>
            </a:r>
            <a:endParaRPr lang="en-US" sz="1140" dirty="0"/>
          </a:p>
        </p:txBody>
      </p:sp>
      <p:sp>
        <p:nvSpPr>
          <p:cNvPr id="24" name="Text 22"/>
          <p:cNvSpPr/>
          <p:nvPr/>
        </p:nvSpPr>
        <p:spPr>
          <a:xfrm>
            <a:off x="1051560" y="5001768"/>
            <a:ext cx="5006340" cy="393192"/>
          </a:xfrm>
          <a:prstGeom prst="rect">
            <a:avLst/>
          </a:prstGeom>
          <a:solidFill>
            <a:srgbClr val="F1F5F9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Exception nouvelle</a:t>
            </a:r>
            <a:endParaRPr lang="en-US" sz="1140" dirty="0"/>
          </a:p>
        </p:txBody>
      </p:sp>
      <p:sp>
        <p:nvSpPr>
          <p:cNvPr id="25" name="Text 23"/>
          <p:cNvSpPr/>
          <p:nvPr/>
        </p:nvSpPr>
        <p:spPr>
          <a:xfrm>
            <a:off x="6057900" y="5001768"/>
            <a:ext cx="5006340" cy="393192"/>
          </a:xfrm>
          <a:prstGeom prst="rect">
            <a:avLst/>
          </a:prstGeom>
          <a:solidFill>
            <a:srgbClr val="F1F5F9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client doit connaître le sous-type</a:t>
            </a:r>
            <a:endParaRPr lang="en-US" sz="1140" dirty="0"/>
          </a:p>
        </p:txBody>
      </p:sp>
      <p:sp>
        <p:nvSpPr>
          <p:cNvPr id="26" name="Text 24"/>
          <p:cNvSpPr/>
          <p:nvPr/>
        </p:nvSpPr>
        <p:spPr>
          <a:xfrm>
            <a:off x="429768" y="65105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J1 — Fondamentaux de la conception objet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5EFF"/>
          </a:solidFill>
          <a:ln w="12700">
            <a:solidFill>
              <a:srgbClr val="1E5E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256032"/>
            <a:ext cx="1088136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Exemple LSP : Rectangle / Carré mutable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38912" y="713232"/>
            <a:ext cx="10332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modèle mathématique juste peut devenir faux en objet mutable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20624" y="987552"/>
            <a:ext cx="11201400" cy="0"/>
          </a:xfrm>
          <a:prstGeom prst="line">
            <a:avLst/>
          </a:prstGeom>
          <a:noFill/>
          <a:ln w="10160">
            <a:solidFill>
              <a:srgbClr val="D6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7899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14:30–15:30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1783080" y="1078992"/>
            <a:ext cx="9418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 classique</a:t>
            </a:r>
            <a:endParaRPr lang="en-US" sz="940" dirty="0"/>
          </a:p>
        </p:txBody>
      </p:sp>
      <p:sp>
        <p:nvSpPr>
          <p:cNvPr id="8" name="Shape 6"/>
          <p:cNvSpPr/>
          <p:nvPr/>
        </p:nvSpPr>
        <p:spPr>
          <a:xfrm>
            <a:off x="685800" y="1417320"/>
            <a:ext cx="5257800" cy="3794760"/>
          </a:xfrm>
          <a:prstGeom prst="roundRect">
            <a:avLst>
              <a:gd name="adj" fmla="val 1928"/>
            </a:avLst>
          </a:prstGeom>
          <a:solidFill>
            <a:srgbClr val="101828"/>
          </a:solidFill>
          <a:ln w="762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527048"/>
            <a:ext cx="4983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BD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 du Rectangle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32104" y="1819656"/>
            <a:ext cx="4965192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void agrandir(Rectangle r)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r.setLargeur(10);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r.setHauteur(5);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assert r.aire() == 50;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// Avec un Carré mutable, la promesse du client peut casser.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6355080" y="1600200"/>
            <a:ext cx="4800600" cy="1234440"/>
          </a:xfrm>
          <a:prstGeom prst="roundRect">
            <a:avLst>
              <a:gd name="adj" fmla="val 5926"/>
            </a:avLst>
          </a:prstGeom>
          <a:solidFill>
            <a:srgbClr val="FFF4E7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1673352"/>
            <a:ext cx="73152" cy="1088136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74536" y="1746504"/>
            <a:ext cx="448970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Pourquoi ça casse ?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574536" y="2075688"/>
            <a:ext cx="4489704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client suppose que largeur et hauteur sont indépendantes. Le carré ne peut pas préserver cette promesse avec les mêmes setters.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6355080" y="3246120"/>
            <a:ext cx="4800600" cy="1234440"/>
          </a:xfrm>
          <a:prstGeom prst="roundRect">
            <a:avLst>
              <a:gd name="adj" fmla="val 5926"/>
            </a:avLst>
          </a:prstGeom>
          <a:solidFill>
            <a:srgbClr val="EAF8F1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3319272"/>
            <a:ext cx="73152" cy="1088136"/>
          </a:xfrm>
          <a:prstGeom prst="rect">
            <a:avLst/>
          </a:prstGeom>
          <a:solidFill>
            <a:srgbClr val="20A76F"/>
          </a:solidFill>
          <a:ln w="12700">
            <a:solidFill>
              <a:srgbClr val="20A76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74536" y="3392424"/>
            <a:ext cx="448970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Solutions possibles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574536" y="3721608"/>
            <a:ext cx="4489704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Rendre les formes immutables, supprimer les setters, ou modéliser une interface plus honnête : Shape.area().</a:t>
            </a:r>
            <a:endParaRPr lang="en-US" sz="1180" dirty="0"/>
          </a:p>
        </p:txBody>
      </p:sp>
      <p:sp>
        <p:nvSpPr>
          <p:cNvPr id="19" name="Text 17"/>
          <p:cNvSpPr/>
          <p:nvPr/>
        </p:nvSpPr>
        <p:spPr>
          <a:xfrm>
            <a:off x="429768" y="65105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J1 — Fondamentaux de la conception objet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5EFF"/>
          </a:solidFill>
          <a:ln w="12700">
            <a:solidFill>
              <a:srgbClr val="1E5E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256032"/>
            <a:ext cx="1088136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Exemple LSP : opérations non supportées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38912" y="713232"/>
            <a:ext cx="10332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exception UnsupportedOperationException révèle souvent un contrat trop large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20624" y="987552"/>
            <a:ext cx="11201400" cy="0"/>
          </a:xfrm>
          <a:prstGeom prst="line">
            <a:avLst/>
          </a:prstGeom>
          <a:noFill/>
          <a:ln w="10160">
            <a:solidFill>
              <a:srgbClr val="D6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7899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14:30–15:30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1783080" y="1078992"/>
            <a:ext cx="9418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Capacités honnêtes</a:t>
            </a:r>
            <a:endParaRPr lang="en-US" sz="940" dirty="0"/>
          </a:p>
        </p:txBody>
      </p:sp>
      <p:sp>
        <p:nvSpPr>
          <p:cNvPr id="8" name="Shape 6"/>
          <p:cNvSpPr/>
          <p:nvPr/>
        </p:nvSpPr>
        <p:spPr>
          <a:xfrm>
            <a:off x="685800" y="1417320"/>
            <a:ext cx="5394960" cy="3840480"/>
          </a:xfrm>
          <a:prstGeom prst="roundRect">
            <a:avLst>
              <a:gd name="adj" fmla="val 1905"/>
            </a:avLst>
          </a:prstGeom>
          <a:solidFill>
            <a:srgbClr val="101828"/>
          </a:solidFill>
          <a:ln w="762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527048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BD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 mensonger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32104" y="1819656"/>
            <a:ext cx="5102352" cy="3337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interface Repository&lt;T&gt;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T findById(Id id);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void save(T entity);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void delete(Id id);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ReadOnlyRepository implements Repository&lt;T&gt;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void save(T e) { throw new UnsupportedOperationException(); }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6446520" y="1664208"/>
            <a:ext cx="4663440" cy="1097280"/>
          </a:xfrm>
          <a:prstGeom prst="roundRect">
            <a:avLst>
              <a:gd name="adj" fmla="val 6667"/>
            </a:avLst>
          </a:prstGeom>
          <a:solidFill>
            <a:srgbClr val="FFF4E7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1737360"/>
            <a:ext cx="73152" cy="950976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65976" y="1810512"/>
            <a:ext cx="435254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Diagnostic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665976" y="2139696"/>
            <a:ext cx="435254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client croit manipuler un repository complet, mais certaines implémentations n’ont pas les capacités promises.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6446520" y="3154680"/>
            <a:ext cx="4663440" cy="1097280"/>
          </a:xfrm>
          <a:prstGeom prst="roundRect">
            <a:avLst>
              <a:gd name="adj" fmla="val 6667"/>
            </a:avLst>
          </a:prstGeom>
          <a:solidFill>
            <a:srgbClr val="EAF8F1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92240" y="3227832"/>
            <a:ext cx="73152" cy="950976"/>
          </a:xfrm>
          <a:prstGeom prst="rect">
            <a:avLst/>
          </a:prstGeom>
          <a:solidFill>
            <a:srgbClr val="20A76F"/>
          </a:solidFill>
          <a:ln w="12700">
            <a:solidFill>
              <a:srgbClr val="20A76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65976" y="3300984"/>
            <a:ext cx="435254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Correction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665976" y="3630168"/>
            <a:ext cx="435254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Séparer les contrats : LectureRepository, EcritureRepository, SuppressionRepository ou un cas d’usage plus précis.</a:t>
            </a:r>
            <a:endParaRPr lang="en-US" sz="1180" dirty="0"/>
          </a:p>
        </p:txBody>
      </p:sp>
      <p:sp>
        <p:nvSpPr>
          <p:cNvPr id="19" name="Text 17"/>
          <p:cNvSpPr/>
          <p:nvPr/>
        </p:nvSpPr>
        <p:spPr>
          <a:xfrm>
            <a:off x="429768" y="65105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J1 — Fondamentaux de la conception objet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5EFF"/>
          </a:solidFill>
          <a:ln w="12700">
            <a:solidFill>
              <a:srgbClr val="1E5E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256032"/>
            <a:ext cx="1088136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OCP et LSP ensemble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38912" y="713232"/>
            <a:ext cx="10332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point d’extension n’est utile que si les variantes respectent le contrat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20624" y="987552"/>
            <a:ext cx="11201400" cy="0"/>
          </a:xfrm>
          <a:prstGeom prst="line">
            <a:avLst/>
          </a:prstGeom>
          <a:noFill/>
          <a:ln w="10160">
            <a:solidFill>
              <a:srgbClr val="D6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7899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14:30–15:30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1783080" y="1078992"/>
            <a:ext cx="9418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Combinaison</a:t>
            </a:r>
            <a:endParaRPr lang="en-US" sz="940" dirty="0"/>
          </a:p>
        </p:txBody>
      </p:sp>
      <p:sp>
        <p:nvSpPr>
          <p:cNvPr id="8" name="Shape 6"/>
          <p:cNvSpPr/>
          <p:nvPr/>
        </p:nvSpPr>
        <p:spPr>
          <a:xfrm>
            <a:off x="1005840" y="187452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EAF1FF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993392"/>
            <a:ext cx="256032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OCP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prévoit le point d’extension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3886200" y="2176272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617720" y="1874520"/>
            <a:ext cx="2697480" cy="914400"/>
          </a:xfrm>
          <a:prstGeom prst="roundRect">
            <a:avLst>
              <a:gd name="adj" fmla="val 8000"/>
            </a:avLst>
          </a:prstGeom>
          <a:solidFill>
            <a:srgbClr val="EAF8F1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993392"/>
            <a:ext cx="251460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définit les promesses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7452360" y="2176272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0A7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8183880" y="187452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FFF4E7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1993392"/>
            <a:ext cx="2560320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LSP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valide les variantes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1143000" y="3886200"/>
            <a:ext cx="9921240" cy="914400"/>
          </a:xfrm>
          <a:prstGeom prst="roundRect">
            <a:avLst>
              <a:gd name="adj" fmla="val 8000"/>
            </a:avLst>
          </a:prstGeom>
          <a:solidFill>
            <a:srgbClr val="F3EFFF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88720" y="3959352"/>
            <a:ext cx="73152" cy="7680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62456" y="4032504"/>
            <a:ext cx="961034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À retenir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362456" y="4361688"/>
            <a:ext cx="961034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OCP sans LSP crée un système extensible mais dangereux : on peut ajouter des variantes qui cassent les clients.</a:t>
            </a:r>
            <a:endParaRPr lang="en-US" sz="1180" dirty="0"/>
          </a:p>
        </p:txBody>
      </p:sp>
      <p:sp>
        <p:nvSpPr>
          <p:cNvPr id="20" name="Text 18"/>
          <p:cNvSpPr/>
          <p:nvPr/>
        </p:nvSpPr>
        <p:spPr>
          <a:xfrm>
            <a:off x="429768" y="65105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J1 — Fondamentaux de la conception objet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5EFF"/>
          </a:solidFill>
          <a:ln w="12700">
            <a:solidFill>
              <a:srgbClr val="1E5E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256032"/>
            <a:ext cx="1088136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Couplage : mesurer la dépendance réelle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38912" y="713232"/>
            <a:ext cx="10332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imports ne disent pas tout : ce qui compte est la propagation du changement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20624" y="987552"/>
            <a:ext cx="11201400" cy="0"/>
          </a:xfrm>
          <a:prstGeom prst="line">
            <a:avLst/>
          </a:prstGeom>
          <a:noFill/>
          <a:ln w="10160">
            <a:solidFill>
              <a:srgbClr val="D6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7899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15:45–16:20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1783080" y="1078992"/>
            <a:ext cx="9418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Qualité de conception</a:t>
            </a:r>
            <a:endParaRPr lang="en-US" sz="940" dirty="0"/>
          </a:p>
        </p:txBody>
      </p:sp>
      <p:sp>
        <p:nvSpPr>
          <p:cNvPr id="8" name="Shape 6"/>
          <p:cNvSpPr/>
          <p:nvPr/>
        </p:nvSpPr>
        <p:spPr>
          <a:xfrm>
            <a:off x="685800" y="1298448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0160">
            <a:solidFill>
              <a:srgbClr val="D6DEE8"/>
            </a:solidFill>
            <a:prstDash val="solid"/>
          </a:ln>
        </p:spPr>
      </p:sp>
      <p:pic>
        <p:nvPicPr>
          <p:cNvPr id="9" name="Image 0" descr="/mnt/data/j1_enriched_assets/08_couplage_cohe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941190"/>
            <a:ext cx="5349240" cy="319507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0" y="1508760"/>
            <a:ext cx="1554480" cy="557784"/>
          </a:xfrm>
          <a:prstGeom prst="rect">
            <a:avLst/>
          </a:prstGeom>
          <a:solidFill>
            <a:srgbClr val="172B4D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</a:t>
            </a:r>
            <a:endParaRPr lang="en-US" sz="1070" dirty="0"/>
          </a:p>
        </p:txBody>
      </p:sp>
      <p:sp>
        <p:nvSpPr>
          <p:cNvPr id="11" name="Text 8"/>
          <p:cNvSpPr/>
          <p:nvPr/>
        </p:nvSpPr>
        <p:spPr>
          <a:xfrm>
            <a:off x="7955280" y="1508760"/>
            <a:ext cx="1554480" cy="557784"/>
          </a:xfrm>
          <a:prstGeom prst="rect">
            <a:avLst/>
          </a:prstGeom>
          <a:solidFill>
            <a:srgbClr val="172B4D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Exemple</a:t>
            </a:r>
            <a:endParaRPr lang="en-US" sz="1070" dirty="0"/>
          </a:p>
        </p:txBody>
      </p:sp>
      <p:sp>
        <p:nvSpPr>
          <p:cNvPr id="12" name="Text 9"/>
          <p:cNvSpPr/>
          <p:nvPr/>
        </p:nvSpPr>
        <p:spPr>
          <a:xfrm>
            <a:off x="9509760" y="1508760"/>
            <a:ext cx="1554480" cy="557784"/>
          </a:xfrm>
          <a:prstGeom prst="rect">
            <a:avLst/>
          </a:prstGeom>
          <a:solidFill>
            <a:srgbClr val="172B4D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Risque</a:t>
            </a:r>
            <a:endParaRPr lang="en-US" sz="1070" dirty="0"/>
          </a:p>
        </p:txBody>
      </p:sp>
      <p:sp>
        <p:nvSpPr>
          <p:cNvPr id="13" name="Text 10"/>
          <p:cNvSpPr/>
          <p:nvPr/>
        </p:nvSpPr>
        <p:spPr>
          <a:xfrm>
            <a:off x="6400800" y="2066544"/>
            <a:ext cx="1554480" cy="557784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Technique</a:t>
            </a:r>
            <a:endParaRPr lang="en-US" sz="1070" dirty="0"/>
          </a:p>
        </p:txBody>
      </p:sp>
      <p:sp>
        <p:nvSpPr>
          <p:cNvPr id="14" name="Text 11"/>
          <p:cNvSpPr/>
          <p:nvPr/>
        </p:nvSpPr>
        <p:spPr>
          <a:xfrm>
            <a:off x="7955280" y="2066544"/>
            <a:ext cx="1554480" cy="557784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Stripe directe</a:t>
            </a:r>
            <a:endParaRPr lang="en-US" sz="1070" dirty="0"/>
          </a:p>
        </p:txBody>
      </p:sp>
      <p:sp>
        <p:nvSpPr>
          <p:cNvPr id="15" name="Text 12"/>
          <p:cNvSpPr/>
          <p:nvPr/>
        </p:nvSpPr>
        <p:spPr>
          <a:xfrm>
            <a:off x="9509760" y="2066544"/>
            <a:ext cx="1554480" cy="557784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verrou fournisseur</a:t>
            </a:r>
            <a:endParaRPr lang="en-US" sz="1070" dirty="0"/>
          </a:p>
        </p:txBody>
      </p:sp>
      <p:sp>
        <p:nvSpPr>
          <p:cNvPr id="16" name="Text 13"/>
          <p:cNvSpPr/>
          <p:nvPr/>
        </p:nvSpPr>
        <p:spPr>
          <a:xfrm>
            <a:off x="6400800" y="2624328"/>
            <a:ext cx="1554480" cy="557784"/>
          </a:xfrm>
          <a:prstGeom prst="rect">
            <a:avLst/>
          </a:prstGeom>
          <a:solidFill>
            <a:srgbClr val="F1F5F9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Structurel</a:t>
            </a:r>
            <a:endParaRPr lang="en-US" sz="1070" dirty="0"/>
          </a:p>
        </p:txBody>
      </p:sp>
      <p:sp>
        <p:nvSpPr>
          <p:cNvPr id="17" name="Text 14"/>
          <p:cNvSpPr/>
          <p:nvPr/>
        </p:nvSpPr>
        <p:spPr>
          <a:xfrm>
            <a:off x="7955280" y="2624328"/>
            <a:ext cx="1554480" cy="557784"/>
          </a:xfrm>
          <a:prstGeom prst="rect">
            <a:avLst/>
          </a:prstGeom>
          <a:solidFill>
            <a:srgbClr val="F1F5F9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classe trop connue</a:t>
            </a:r>
            <a:endParaRPr lang="en-US" sz="1070" dirty="0"/>
          </a:p>
        </p:txBody>
      </p:sp>
      <p:sp>
        <p:nvSpPr>
          <p:cNvPr id="18" name="Text 15"/>
          <p:cNvSpPr/>
          <p:nvPr/>
        </p:nvSpPr>
        <p:spPr>
          <a:xfrm>
            <a:off x="9509760" y="2624328"/>
            <a:ext cx="1554480" cy="557784"/>
          </a:xfrm>
          <a:prstGeom prst="rect">
            <a:avLst/>
          </a:prstGeom>
          <a:solidFill>
            <a:srgbClr val="F1F5F9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propagation forte</a:t>
            </a:r>
            <a:endParaRPr lang="en-US" sz="1070" dirty="0"/>
          </a:p>
        </p:txBody>
      </p:sp>
      <p:sp>
        <p:nvSpPr>
          <p:cNvPr id="19" name="Text 16"/>
          <p:cNvSpPr/>
          <p:nvPr/>
        </p:nvSpPr>
        <p:spPr>
          <a:xfrm>
            <a:off x="6400800" y="3182112"/>
            <a:ext cx="1554480" cy="557784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Comportemental</a:t>
            </a:r>
            <a:endParaRPr lang="en-US" sz="1070" dirty="0"/>
          </a:p>
        </p:txBody>
      </p:sp>
      <p:sp>
        <p:nvSpPr>
          <p:cNvPr id="20" name="Text 17"/>
          <p:cNvSpPr/>
          <p:nvPr/>
        </p:nvSpPr>
        <p:spPr>
          <a:xfrm>
            <a:off x="7955280" y="3182112"/>
            <a:ext cx="1554480" cy="557784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ordre d’appels implicite</a:t>
            </a:r>
            <a:endParaRPr lang="en-US" sz="1070" dirty="0"/>
          </a:p>
        </p:txBody>
      </p:sp>
      <p:sp>
        <p:nvSpPr>
          <p:cNvPr id="21" name="Text 18"/>
          <p:cNvSpPr/>
          <p:nvPr/>
        </p:nvSpPr>
        <p:spPr>
          <a:xfrm>
            <a:off x="9509760" y="3182112"/>
            <a:ext cx="1554480" cy="557784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bugs difficiles</a:t>
            </a:r>
            <a:endParaRPr lang="en-US" sz="1070" dirty="0"/>
          </a:p>
        </p:txBody>
      </p:sp>
      <p:sp>
        <p:nvSpPr>
          <p:cNvPr id="22" name="Text 19"/>
          <p:cNvSpPr/>
          <p:nvPr/>
        </p:nvSpPr>
        <p:spPr>
          <a:xfrm>
            <a:off x="6400800" y="3739896"/>
            <a:ext cx="1554480" cy="557784"/>
          </a:xfrm>
          <a:prstGeom prst="rect">
            <a:avLst/>
          </a:prstGeom>
          <a:solidFill>
            <a:srgbClr val="F1F5F9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Sémantique</a:t>
            </a:r>
            <a:endParaRPr lang="en-US" sz="1070" dirty="0"/>
          </a:p>
        </p:txBody>
      </p:sp>
      <p:sp>
        <p:nvSpPr>
          <p:cNvPr id="23" name="Text 20"/>
          <p:cNvSpPr/>
          <p:nvPr/>
        </p:nvSpPr>
        <p:spPr>
          <a:xfrm>
            <a:off x="7955280" y="3739896"/>
            <a:ext cx="1554480" cy="557784"/>
          </a:xfrm>
          <a:prstGeom prst="rect">
            <a:avLst/>
          </a:prstGeom>
          <a:solidFill>
            <a:srgbClr val="F1F5F9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règles partagées partout</a:t>
            </a:r>
            <a:endParaRPr lang="en-US" sz="1070" dirty="0"/>
          </a:p>
        </p:txBody>
      </p:sp>
      <p:sp>
        <p:nvSpPr>
          <p:cNvPr id="24" name="Text 21"/>
          <p:cNvSpPr/>
          <p:nvPr/>
        </p:nvSpPr>
        <p:spPr>
          <a:xfrm>
            <a:off x="9509760" y="3739896"/>
            <a:ext cx="1554480" cy="557784"/>
          </a:xfrm>
          <a:prstGeom prst="rect">
            <a:avLst/>
          </a:prstGeom>
          <a:solidFill>
            <a:srgbClr val="F1F5F9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incohérences métier</a:t>
            </a:r>
            <a:endParaRPr lang="en-US" sz="1070" dirty="0"/>
          </a:p>
        </p:txBody>
      </p:sp>
      <p:sp>
        <p:nvSpPr>
          <p:cNvPr id="25" name="Shape 22"/>
          <p:cNvSpPr/>
          <p:nvPr/>
        </p:nvSpPr>
        <p:spPr>
          <a:xfrm>
            <a:off x="6400800" y="4617720"/>
            <a:ext cx="4663440" cy="731520"/>
          </a:xfrm>
          <a:prstGeom prst="roundRect">
            <a:avLst>
              <a:gd name="adj" fmla="val 10000"/>
            </a:avLst>
          </a:prstGeom>
          <a:solidFill>
            <a:srgbClr val="EAF1FF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46520" y="4690872"/>
            <a:ext cx="73152" cy="585216"/>
          </a:xfrm>
          <a:prstGeom prst="rect">
            <a:avLst/>
          </a:prstGeom>
          <a:solidFill>
            <a:srgbClr val="1E5EFF"/>
          </a:solidFill>
          <a:ln w="12700">
            <a:solidFill>
              <a:srgbClr val="1E5EFF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620256" y="4764024"/>
            <a:ext cx="435254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Objectif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6620256" y="5093208"/>
            <a:ext cx="435254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Dépendre d’un contrat stable au bon niveau d’abstraction.</a:t>
            </a:r>
            <a:endParaRPr lang="en-US" sz="1180" dirty="0"/>
          </a:p>
        </p:txBody>
      </p:sp>
      <p:sp>
        <p:nvSpPr>
          <p:cNvPr id="29" name="Text 26"/>
          <p:cNvSpPr/>
          <p:nvPr/>
        </p:nvSpPr>
        <p:spPr>
          <a:xfrm>
            <a:off x="429768" y="65105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J1 — Fondamentaux de la conception objet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5EFF"/>
          </a:solidFill>
          <a:ln w="12700">
            <a:solidFill>
              <a:srgbClr val="1E5E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256032"/>
            <a:ext cx="1088136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Cohésion : une classe doit raconter une histoire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38912" y="713232"/>
            <a:ext cx="10332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Forte cohésion = mêmes données, mêmes règles, même raison de changer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20624" y="987552"/>
            <a:ext cx="11201400" cy="0"/>
          </a:xfrm>
          <a:prstGeom prst="line">
            <a:avLst/>
          </a:prstGeom>
          <a:noFill/>
          <a:ln w="10160">
            <a:solidFill>
              <a:srgbClr val="D6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7899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15:45–16:20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1783080" y="1078992"/>
            <a:ext cx="9418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Cohésion</a:t>
            </a:r>
            <a:endParaRPr lang="en-US" sz="940" dirty="0"/>
          </a:p>
        </p:txBody>
      </p:sp>
      <p:sp>
        <p:nvSpPr>
          <p:cNvPr id="8" name="Text 6"/>
          <p:cNvSpPr/>
          <p:nvPr/>
        </p:nvSpPr>
        <p:spPr>
          <a:xfrm>
            <a:off x="685800" y="1417320"/>
            <a:ext cx="3611880" cy="548640"/>
          </a:xfrm>
          <a:prstGeom prst="rect">
            <a:avLst/>
          </a:prstGeom>
          <a:solidFill>
            <a:srgbClr val="172B4D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Classe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4297680" y="1417320"/>
            <a:ext cx="3611880" cy="548640"/>
          </a:xfrm>
          <a:prstGeom prst="rect">
            <a:avLst/>
          </a:prstGeom>
          <a:solidFill>
            <a:srgbClr val="172B4D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Responsabilité probable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7909560" y="1417320"/>
            <a:ext cx="3611880" cy="548640"/>
          </a:xfrm>
          <a:prstGeom prst="rect">
            <a:avLst/>
          </a:prstGeom>
          <a:solidFill>
            <a:srgbClr val="172B4D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Symptôme si faible cohésion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685800" y="1965960"/>
            <a:ext cx="3611880" cy="548640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Commande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4297680" y="1965960"/>
            <a:ext cx="3611880" cy="548640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cycle de vie commande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7909560" y="1965960"/>
            <a:ext cx="3611880" cy="548640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règles dispersées</a:t>
            </a:r>
            <a:endParaRPr lang="en-US" sz="1120" dirty="0"/>
          </a:p>
        </p:txBody>
      </p:sp>
      <p:sp>
        <p:nvSpPr>
          <p:cNvPr id="14" name="Text 12"/>
          <p:cNvSpPr/>
          <p:nvPr/>
        </p:nvSpPr>
        <p:spPr>
          <a:xfrm>
            <a:off x="685800" y="2514600"/>
            <a:ext cx="3611880" cy="548640"/>
          </a:xfrm>
          <a:prstGeom prst="rect">
            <a:avLst/>
          </a:prstGeom>
          <a:solidFill>
            <a:srgbClr val="F1F5F9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Money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4297680" y="2514600"/>
            <a:ext cx="3611880" cy="548640"/>
          </a:xfrm>
          <a:prstGeom prst="rect">
            <a:avLst/>
          </a:prstGeom>
          <a:solidFill>
            <a:srgbClr val="F1F5F9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 monétaire</a:t>
            </a:r>
            <a:endParaRPr lang="en-US" sz="1120" dirty="0"/>
          </a:p>
        </p:txBody>
      </p:sp>
      <p:sp>
        <p:nvSpPr>
          <p:cNvPr id="16" name="Text 14"/>
          <p:cNvSpPr/>
          <p:nvPr/>
        </p:nvSpPr>
        <p:spPr>
          <a:xfrm>
            <a:off x="7909560" y="2514600"/>
            <a:ext cx="3611880" cy="548640"/>
          </a:xfrm>
          <a:prstGeom prst="rect">
            <a:avLst/>
          </a:prstGeom>
          <a:solidFill>
            <a:srgbClr val="F1F5F9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BigDecimal partout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685800" y="3063240"/>
            <a:ext cx="3611880" cy="548640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RemisePolicy</a:t>
            </a:r>
            <a:endParaRPr lang="en-US" sz="1120" dirty="0"/>
          </a:p>
        </p:txBody>
      </p:sp>
      <p:sp>
        <p:nvSpPr>
          <p:cNvPr id="18" name="Text 16"/>
          <p:cNvSpPr/>
          <p:nvPr/>
        </p:nvSpPr>
        <p:spPr>
          <a:xfrm>
            <a:off x="4297680" y="3063240"/>
            <a:ext cx="3611880" cy="548640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variation de remise</a:t>
            </a:r>
            <a:endParaRPr lang="en-US" sz="1120" dirty="0"/>
          </a:p>
        </p:txBody>
      </p:sp>
      <p:sp>
        <p:nvSpPr>
          <p:cNvPr id="19" name="Text 17"/>
          <p:cNvSpPr/>
          <p:nvPr/>
        </p:nvSpPr>
        <p:spPr>
          <a:xfrm>
            <a:off x="7909560" y="3063240"/>
            <a:ext cx="3611880" cy="548640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switch répétés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685800" y="3611880"/>
            <a:ext cx="3611880" cy="548640"/>
          </a:xfrm>
          <a:prstGeom prst="rect">
            <a:avLst/>
          </a:prstGeom>
          <a:solidFill>
            <a:srgbClr val="F1F5F9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OrderController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4297680" y="3611880"/>
            <a:ext cx="3611880" cy="548640"/>
          </a:xfrm>
          <a:prstGeom prst="rect">
            <a:avLst/>
          </a:prstGeom>
          <a:solidFill>
            <a:srgbClr val="F1F5F9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entrée HTTP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7909560" y="3611880"/>
            <a:ext cx="3611880" cy="548640"/>
          </a:xfrm>
          <a:prstGeom prst="rect">
            <a:avLst/>
          </a:prstGeom>
          <a:solidFill>
            <a:srgbClr val="F1F5F9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règles métier dedans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914400" y="4572000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FFF4E7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0120" y="4645152"/>
            <a:ext cx="73152" cy="768096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33856" y="4718304"/>
            <a:ext cx="476402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mental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133856" y="5047488"/>
            <a:ext cx="476402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Peut-on résumer la classe en une phrase sans utiliser “et”, “puis”, “aussi”, “manager” ou “helper” ?</a:t>
            </a:r>
            <a:endParaRPr lang="en-US" sz="1180" dirty="0"/>
          </a:p>
        </p:txBody>
      </p:sp>
      <p:sp>
        <p:nvSpPr>
          <p:cNvPr id="27" name="Shape 25"/>
          <p:cNvSpPr/>
          <p:nvPr/>
        </p:nvSpPr>
        <p:spPr>
          <a:xfrm>
            <a:off x="6263640" y="4572000"/>
            <a:ext cx="5074920" cy="914400"/>
          </a:xfrm>
          <a:prstGeom prst="roundRect">
            <a:avLst>
              <a:gd name="adj" fmla="val 8000"/>
            </a:avLst>
          </a:prstGeom>
          <a:solidFill>
            <a:srgbClr val="EAF8F1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09360" y="4645152"/>
            <a:ext cx="73152" cy="768096"/>
          </a:xfrm>
          <a:prstGeom prst="rect">
            <a:avLst/>
          </a:prstGeom>
          <a:solidFill>
            <a:srgbClr val="20A76F"/>
          </a:solidFill>
          <a:ln w="12700">
            <a:solidFill>
              <a:srgbClr val="20A76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83096" y="4718304"/>
            <a:ext cx="476402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Indice positif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483096" y="5047488"/>
            <a:ext cx="476402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méthodes utilisent les mêmes attributs et protègent les mêmes invariants.</a:t>
            </a:r>
            <a:endParaRPr lang="en-US" sz="1180" dirty="0"/>
          </a:p>
        </p:txBody>
      </p:sp>
      <p:sp>
        <p:nvSpPr>
          <p:cNvPr id="31" name="Text 29"/>
          <p:cNvSpPr/>
          <p:nvPr/>
        </p:nvSpPr>
        <p:spPr>
          <a:xfrm>
            <a:off x="429768" y="65105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J1 — Fondamentaux de la conception objet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5EFF"/>
          </a:solidFill>
          <a:ln w="12700">
            <a:solidFill>
              <a:srgbClr val="1E5E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256032"/>
            <a:ext cx="1088136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Découper les responsabilités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38912" y="713232"/>
            <a:ext cx="10332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la phrase métier aux objets qui collaborent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20624" y="987552"/>
            <a:ext cx="11201400" cy="0"/>
          </a:xfrm>
          <a:prstGeom prst="line">
            <a:avLst/>
          </a:prstGeom>
          <a:noFill/>
          <a:ln w="10160">
            <a:solidFill>
              <a:srgbClr val="D6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7899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15:45–16:20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1783080" y="1078992"/>
            <a:ext cx="9418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Responsabilités</a:t>
            </a:r>
            <a:endParaRPr lang="en-US" sz="940" dirty="0"/>
          </a:p>
        </p:txBody>
      </p:sp>
      <p:sp>
        <p:nvSpPr>
          <p:cNvPr id="8" name="Shape 6"/>
          <p:cNvSpPr/>
          <p:nvPr/>
        </p:nvSpPr>
        <p:spPr>
          <a:xfrm>
            <a:off x="685800" y="1298448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0160">
            <a:solidFill>
              <a:srgbClr val="D6DEE8"/>
            </a:solidFill>
            <a:prstDash val="solid"/>
          </a:ln>
        </p:spPr>
      </p:sp>
      <p:pic>
        <p:nvPicPr>
          <p:cNvPr id="9" name="Image 0" descr="/mnt/data/j1_enriched_assets/09_responsabili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978706"/>
            <a:ext cx="5349240" cy="312004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46520" y="1600200"/>
            <a:ext cx="4572000" cy="26517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8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Identifier les informations nécessaires à chaque décision.</a:t>
            </a:r>
            <a:endParaRPr lang="en-US" sz="1800" dirty="0"/>
          </a:p>
          <a:p>
            <a:r>
              <a:rPr lang="en-US" sz="18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Placer la règle près des données qu’elle utilise.</a:t>
            </a:r>
            <a:endParaRPr lang="en-US" sz="1800" dirty="0"/>
          </a:p>
          <a:p>
            <a:r>
              <a:rPr lang="en-US" sz="18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Séparer coordination applicative et règle métier.</a:t>
            </a:r>
            <a:endParaRPr lang="en-US" sz="1800" dirty="0"/>
          </a:p>
          <a:p>
            <a:r>
              <a:rPr lang="en-US" sz="18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Extraire une responsabilité à la fois, avec un scénario de test.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6446520" y="4617720"/>
            <a:ext cx="4572000" cy="777240"/>
          </a:xfrm>
          <a:prstGeom prst="roundRect">
            <a:avLst>
              <a:gd name="adj" fmla="val 9412"/>
            </a:avLst>
          </a:prstGeom>
          <a:solidFill>
            <a:srgbClr val="EAF1FF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92240" y="4690872"/>
            <a:ext cx="73152" cy="630936"/>
          </a:xfrm>
          <a:prstGeom prst="rect">
            <a:avLst/>
          </a:prstGeom>
          <a:solidFill>
            <a:srgbClr val="1E5EFF"/>
          </a:solidFill>
          <a:ln w="12700">
            <a:solidFill>
              <a:srgbClr val="1E5EFF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665976" y="4764024"/>
            <a:ext cx="426110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Méthode courte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665976" y="5093208"/>
            <a:ext cx="4261104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Verbe métier + données utilisées + invariant protégé = candidat responsabilité.</a:t>
            </a:r>
            <a:endParaRPr lang="en-US" sz="1180" dirty="0"/>
          </a:p>
        </p:txBody>
      </p:sp>
      <p:sp>
        <p:nvSpPr>
          <p:cNvPr id="15" name="Text 12"/>
          <p:cNvSpPr/>
          <p:nvPr/>
        </p:nvSpPr>
        <p:spPr>
          <a:xfrm>
            <a:off x="429768" y="65105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J1 — Fondamentaux de la conception objet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5EFF"/>
          </a:solidFill>
          <a:ln w="12700">
            <a:solidFill>
              <a:srgbClr val="1E5E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256032"/>
            <a:ext cx="1088136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Checklist de revue de conception J1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38912" y="713232"/>
            <a:ext cx="10332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questions pour challenger un modèle objet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20624" y="987552"/>
            <a:ext cx="11201400" cy="0"/>
          </a:xfrm>
          <a:prstGeom prst="line">
            <a:avLst/>
          </a:prstGeom>
          <a:noFill/>
          <a:ln w="10160">
            <a:solidFill>
              <a:srgbClr val="D6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7899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15:45–16:20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1783080" y="1078992"/>
            <a:ext cx="9418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Revue</a:t>
            </a:r>
            <a:endParaRPr lang="en-US" sz="940" dirty="0"/>
          </a:p>
        </p:txBody>
      </p:sp>
      <p:sp>
        <p:nvSpPr>
          <p:cNvPr id="8" name="Text 6"/>
          <p:cNvSpPr/>
          <p:nvPr/>
        </p:nvSpPr>
        <p:spPr>
          <a:xfrm>
            <a:off x="822960" y="1417320"/>
            <a:ext cx="10287000" cy="43891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9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Chaque classe importante a-t-elle une responsabilité formulable en une phrase ?</a:t>
            </a:r>
            <a:endParaRPr lang="en-US" sz="1900" dirty="0"/>
          </a:p>
          <a:p>
            <a:r>
              <a:rPr lang="en-US" sz="19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associations sont-elles nécessaires dans les deux sens ?</a:t>
            </a:r>
            <a:endParaRPr lang="en-US" sz="1900" dirty="0"/>
          </a:p>
          <a:p>
            <a:r>
              <a:rPr lang="en-US" sz="19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L’héritage exprime-t-il une substituabilité réelle ?</a:t>
            </a:r>
            <a:endParaRPr lang="en-US" sz="1900" dirty="0"/>
          </a:p>
          <a:p>
            <a:r>
              <a:rPr lang="en-US" sz="19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sous-type neutralise-t-il une méthode du parent ?</a:t>
            </a:r>
            <a:endParaRPr lang="en-US" sz="1900" dirty="0"/>
          </a:p>
          <a:p>
            <a:r>
              <a:rPr lang="en-US" sz="19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switch répété révèle-t-il un axe de variation ?</a:t>
            </a:r>
            <a:endParaRPr lang="en-US" sz="1900" dirty="0"/>
          </a:p>
          <a:p>
            <a:r>
              <a:rPr lang="en-US" sz="19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scénario de changement le plus probable reste-t-il localisé ?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29768" y="65105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J1 — Fondamentaux de la conception objet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5EFF"/>
          </a:solidFill>
          <a:ln w="12700">
            <a:solidFill>
              <a:srgbClr val="1E5E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256032"/>
            <a:ext cx="1088136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TP 1 — Découpage des responsabilités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38912" y="713232"/>
            <a:ext cx="10332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Transformer un besoin e-commerce en modèle objet justifiable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20624" y="987552"/>
            <a:ext cx="11201400" cy="0"/>
          </a:xfrm>
          <a:prstGeom prst="line">
            <a:avLst/>
          </a:prstGeom>
          <a:noFill/>
          <a:ln w="10160">
            <a:solidFill>
              <a:srgbClr val="D6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7899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16:20–17:00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1783080" y="1078992"/>
            <a:ext cx="9418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Travaux pratiques</a:t>
            </a:r>
            <a:endParaRPr lang="en-US" sz="940" dirty="0"/>
          </a:p>
        </p:txBody>
      </p:sp>
      <p:sp>
        <p:nvSpPr>
          <p:cNvPr id="8" name="Shape 6"/>
          <p:cNvSpPr/>
          <p:nvPr/>
        </p:nvSpPr>
        <p:spPr>
          <a:xfrm>
            <a:off x="685800" y="1417320"/>
            <a:ext cx="3291840" cy="1097280"/>
          </a:xfrm>
          <a:prstGeom prst="roundRect">
            <a:avLst>
              <a:gd name="adj" fmla="val 6667"/>
            </a:avLst>
          </a:prstGeom>
          <a:solidFill>
            <a:srgbClr val="EAF1FF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490472"/>
            <a:ext cx="73152" cy="950976"/>
          </a:xfrm>
          <a:prstGeom prst="rect">
            <a:avLst/>
          </a:prstGeom>
          <a:solidFill>
            <a:srgbClr val="1E5EFF"/>
          </a:solidFill>
          <a:ln w="12700">
            <a:solidFill>
              <a:srgbClr val="1E5E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" y="1563624"/>
            <a:ext cx="298094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05256" y="1892808"/>
            <a:ext cx="298094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Commande, lignes, paiement, remise, livraison et statut métier.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4434840" y="1417320"/>
            <a:ext cx="3291840" cy="1097280"/>
          </a:xfrm>
          <a:prstGeom prst="roundRect">
            <a:avLst>
              <a:gd name="adj" fmla="val 6667"/>
            </a:avLst>
          </a:prstGeom>
          <a:solidFill>
            <a:srgbClr val="EAF8F1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0560" y="1490472"/>
            <a:ext cx="73152" cy="950976"/>
          </a:xfrm>
          <a:prstGeom prst="rect">
            <a:avLst/>
          </a:prstGeom>
          <a:solidFill>
            <a:srgbClr val="20A76F"/>
          </a:solidFill>
          <a:ln w="12700">
            <a:solidFill>
              <a:srgbClr val="20A76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54296" y="1563624"/>
            <a:ext cx="298094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Travail demandé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654296" y="1892808"/>
            <a:ext cx="298094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Identifier classes, invariants, collaborations, variations et choix héritage/composition.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8183880" y="1417320"/>
            <a:ext cx="3291840" cy="1097280"/>
          </a:xfrm>
          <a:prstGeom prst="roundRect">
            <a:avLst>
              <a:gd name="adj" fmla="val 6667"/>
            </a:avLst>
          </a:prstGeom>
          <a:solidFill>
            <a:srgbClr val="FFF4E7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1490472"/>
            <a:ext cx="73152" cy="950976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03336" y="1563624"/>
            <a:ext cx="298094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Livrables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403336" y="1892808"/>
            <a:ext cx="2980944" cy="5303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diagramme de classes + une séquence + justification OCP/LSP.</a:t>
            </a:r>
            <a:endParaRPr lang="en-US" sz="1180" dirty="0"/>
          </a:p>
        </p:txBody>
      </p:sp>
      <p:sp>
        <p:nvSpPr>
          <p:cNvPr id="20" name="Text 18"/>
          <p:cNvSpPr/>
          <p:nvPr/>
        </p:nvSpPr>
        <p:spPr>
          <a:xfrm>
            <a:off x="1097280" y="3246120"/>
            <a:ext cx="9875520" cy="1828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20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Écrire au moins quatre invariants métier.</a:t>
            </a:r>
            <a:endParaRPr lang="en-US" sz="2000" dirty="0"/>
          </a:p>
          <a:p>
            <a:r>
              <a:rPr lang="en-US" sz="20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Choisir un axe de variation qui justifie OCP.</a:t>
            </a:r>
            <a:endParaRPr lang="en-US" sz="2000" dirty="0"/>
          </a:p>
          <a:p>
            <a:r>
              <a:rPr lang="en-US" sz="20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Détecter un choix d’héritage tentant et proposer une composition.</a:t>
            </a:r>
            <a:endParaRPr lang="en-US" sz="2000" dirty="0"/>
          </a:p>
          <a:p>
            <a:r>
              <a:rPr lang="en-US" sz="20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Préparer une revue croisée entre groupes.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29768" y="65105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J1 — Fondamentaux de la conception objet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5EFF"/>
          </a:solidFill>
          <a:ln w="12700">
            <a:solidFill>
              <a:srgbClr val="1E5E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256032"/>
            <a:ext cx="1088136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TP 1 — Modèle cible possible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38912" y="713232"/>
            <a:ext cx="10332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exemple de découpage à discuter, pas une vérité unique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20624" y="987552"/>
            <a:ext cx="11201400" cy="0"/>
          </a:xfrm>
          <a:prstGeom prst="line">
            <a:avLst/>
          </a:prstGeom>
          <a:noFill/>
          <a:ln w="10160">
            <a:solidFill>
              <a:srgbClr val="D6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7899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16:20–17:00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1783080" y="1078992"/>
            <a:ext cx="9418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Modélisation</a:t>
            </a:r>
            <a:endParaRPr lang="en-US" sz="940" dirty="0"/>
          </a:p>
        </p:txBody>
      </p:sp>
      <p:sp>
        <p:nvSpPr>
          <p:cNvPr id="8" name="Shape 6"/>
          <p:cNvSpPr/>
          <p:nvPr/>
        </p:nvSpPr>
        <p:spPr>
          <a:xfrm>
            <a:off x="777240" y="160020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EAF1FF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719072"/>
            <a:ext cx="192024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Commande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état + invariants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2926080" y="187452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429000" y="160020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EAF8F1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1719072"/>
            <a:ext cx="192024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LigneCommande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sous-total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6080760" y="160020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F3EFFF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72200" y="1719072"/>
            <a:ext cx="192024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Money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 valeur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777240" y="297180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FFF4E7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090672"/>
            <a:ext cx="192024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PaiementPort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2926080" y="324612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3429000" y="297180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EAF8F1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20440" y="3090672"/>
            <a:ext cx="192024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PolitiqueRemise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variation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5577840" y="324612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080760" y="297180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EAF1FF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3090672"/>
            <a:ext cx="192024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ModeLivraison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variation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1280160" y="4892040"/>
            <a:ext cx="9326880" cy="777240"/>
          </a:xfrm>
          <a:prstGeom prst="roundRect">
            <a:avLst>
              <a:gd name="adj" fmla="val 9412"/>
            </a:avLst>
          </a:prstGeom>
          <a:solidFill>
            <a:srgbClr val="F3EFFF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25880" y="4965192"/>
            <a:ext cx="73152" cy="6309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9616" y="5038344"/>
            <a:ext cx="901598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À défendre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499616" y="5367528"/>
            <a:ext cx="9015984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Pourquoi cette classe porte-t-elle cette règle ? Quel changement cette décision rend-elle local ?</a:t>
            </a:r>
            <a:endParaRPr lang="en-US" sz="1180" dirty="0"/>
          </a:p>
        </p:txBody>
      </p:sp>
      <p:sp>
        <p:nvSpPr>
          <p:cNvPr id="27" name="Text 25"/>
          <p:cNvSpPr/>
          <p:nvPr/>
        </p:nvSpPr>
        <p:spPr>
          <a:xfrm>
            <a:off x="429768" y="65105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J1 — Fondamentaux de la conception objet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</a:t>
            </a:r>
            <a:endParaRPr lang="en-US" sz="8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5EFF"/>
          </a:solidFill>
          <a:ln w="12700">
            <a:solidFill>
              <a:srgbClr val="1E5E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256032"/>
            <a:ext cx="1088136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TP 1 — Questions de challenge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38912" y="713232"/>
            <a:ext cx="10332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Faire argumenter les choix, pas seulement dessiner un diagramme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20624" y="987552"/>
            <a:ext cx="11201400" cy="0"/>
          </a:xfrm>
          <a:prstGeom prst="line">
            <a:avLst/>
          </a:prstGeom>
          <a:noFill/>
          <a:ln w="10160">
            <a:solidFill>
              <a:srgbClr val="D6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7899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16:20–17:00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1783080" y="1078992"/>
            <a:ext cx="9418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Revue croisée</a:t>
            </a:r>
            <a:endParaRPr lang="en-US" sz="940" dirty="0"/>
          </a:p>
        </p:txBody>
      </p:sp>
      <p:sp>
        <p:nvSpPr>
          <p:cNvPr id="8" name="Text 6"/>
          <p:cNvSpPr/>
          <p:nvPr/>
        </p:nvSpPr>
        <p:spPr>
          <a:xfrm>
            <a:off x="822960" y="1417320"/>
            <a:ext cx="10149840" cy="43891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20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Commande sait-elle calculer son total ou un service lit-il toutes ses lignes ?</a:t>
            </a:r>
            <a:endParaRPr lang="en-US" sz="2000" dirty="0"/>
          </a:p>
          <a:p>
            <a:r>
              <a:rPr lang="en-US" sz="20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 se passe-t-il si un nouveau moyen de paiement devient asynchrone ?</a:t>
            </a:r>
            <a:endParaRPr lang="en-US" sz="2000" dirty="0"/>
          </a:p>
          <a:p>
            <a:r>
              <a:rPr lang="en-US" sz="20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contrat de paiement expose-t-il des types techniques du fournisseur ?</a:t>
            </a:r>
            <a:endParaRPr lang="en-US" sz="2000" dirty="0"/>
          </a:p>
          <a:p>
            <a:r>
              <a:rPr lang="en-US" sz="20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commande vide est-elle représentable ? À quel moment devient-elle invalide ?</a:t>
            </a:r>
            <a:endParaRPr lang="en-US" sz="2000" dirty="0"/>
          </a:p>
          <a:p>
            <a:r>
              <a:rPr lang="en-US" sz="20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Quelles classes seraient touchées si la règle de remise change demain ?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29768" y="65105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J1 — Fondamentaux de la conception objet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</a:t>
            </a:r>
            <a:endParaRPr lang="en-US" sz="8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5EFF"/>
          </a:solidFill>
          <a:ln w="12700">
            <a:solidFill>
              <a:srgbClr val="1E5E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256032"/>
            <a:ext cx="1088136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TP 1 — Corrigé indicatif : responsabilités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38912" y="713232"/>
            <a:ext cx="10332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Exemple de répartition cohérente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20624" y="987552"/>
            <a:ext cx="11201400" cy="0"/>
          </a:xfrm>
          <a:prstGeom prst="line">
            <a:avLst/>
          </a:prstGeom>
          <a:noFill/>
          <a:ln w="10160">
            <a:solidFill>
              <a:srgbClr val="D6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7899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CORRIGÉ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1783080" y="1078992"/>
            <a:ext cx="9418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Responsabilités</a:t>
            </a:r>
            <a:endParaRPr lang="en-US" sz="940" dirty="0"/>
          </a:p>
        </p:txBody>
      </p:sp>
      <p:sp>
        <p:nvSpPr>
          <p:cNvPr id="8" name="Text 6"/>
          <p:cNvSpPr/>
          <p:nvPr/>
        </p:nvSpPr>
        <p:spPr>
          <a:xfrm>
            <a:off x="685800" y="1325880"/>
            <a:ext cx="3611880" cy="541020"/>
          </a:xfrm>
          <a:prstGeom prst="rect">
            <a:avLst/>
          </a:prstGeom>
          <a:solidFill>
            <a:srgbClr val="172B4D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Classe</a:t>
            </a:r>
            <a:endParaRPr lang="en-US" sz="1090" dirty="0"/>
          </a:p>
        </p:txBody>
      </p:sp>
      <p:sp>
        <p:nvSpPr>
          <p:cNvPr id="9" name="Text 7"/>
          <p:cNvSpPr/>
          <p:nvPr/>
        </p:nvSpPr>
        <p:spPr>
          <a:xfrm>
            <a:off x="4297680" y="1325880"/>
            <a:ext cx="3611880" cy="541020"/>
          </a:xfrm>
          <a:prstGeom prst="rect">
            <a:avLst/>
          </a:prstGeom>
          <a:solidFill>
            <a:srgbClr val="172B4D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Responsabilité</a:t>
            </a:r>
            <a:endParaRPr lang="en-US" sz="1090" dirty="0"/>
          </a:p>
        </p:txBody>
      </p:sp>
      <p:sp>
        <p:nvSpPr>
          <p:cNvPr id="10" name="Text 8"/>
          <p:cNvSpPr/>
          <p:nvPr/>
        </p:nvSpPr>
        <p:spPr>
          <a:xfrm>
            <a:off x="7909560" y="1325880"/>
            <a:ext cx="3611880" cy="541020"/>
          </a:xfrm>
          <a:prstGeom prst="rect">
            <a:avLst/>
          </a:prstGeom>
          <a:solidFill>
            <a:srgbClr val="172B4D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9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Invariant / décision</a:t>
            </a:r>
            <a:endParaRPr lang="en-US" sz="1090" dirty="0"/>
          </a:p>
        </p:txBody>
      </p:sp>
      <p:sp>
        <p:nvSpPr>
          <p:cNvPr id="11" name="Text 9"/>
          <p:cNvSpPr/>
          <p:nvPr/>
        </p:nvSpPr>
        <p:spPr>
          <a:xfrm>
            <a:off x="685800" y="1866900"/>
            <a:ext cx="3611880" cy="541020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Commande</a:t>
            </a:r>
            <a:endParaRPr lang="en-US" sz="1090" dirty="0"/>
          </a:p>
        </p:txBody>
      </p:sp>
      <p:sp>
        <p:nvSpPr>
          <p:cNvPr id="12" name="Text 10"/>
          <p:cNvSpPr/>
          <p:nvPr/>
        </p:nvSpPr>
        <p:spPr>
          <a:xfrm>
            <a:off x="4297680" y="1866900"/>
            <a:ext cx="3611880" cy="541020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cycle de vie et total</a:t>
            </a:r>
            <a:endParaRPr lang="en-US" sz="1090" dirty="0"/>
          </a:p>
        </p:txBody>
      </p:sp>
      <p:sp>
        <p:nvSpPr>
          <p:cNvPr id="13" name="Text 11"/>
          <p:cNvSpPr/>
          <p:nvPr/>
        </p:nvSpPr>
        <p:spPr>
          <a:xfrm>
            <a:off x="7909560" y="1866900"/>
            <a:ext cx="3611880" cy="541020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 d’expédition avant paiement</a:t>
            </a:r>
            <a:endParaRPr lang="en-US" sz="1090" dirty="0"/>
          </a:p>
        </p:txBody>
      </p:sp>
      <p:sp>
        <p:nvSpPr>
          <p:cNvPr id="14" name="Text 12"/>
          <p:cNvSpPr/>
          <p:nvPr/>
        </p:nvSpPr>
        <p:spPr>
          <a:xfrm>
            <a:off x="685800" y="2407920"/>
            <a:ext cx="3611880" cy="541020"/>
          </a:xfrm>
          <a:prstGeom prst="rect">
            <a:avLst/>
          </a:prstGeom>
          <a:solidFill>
            <a:srgbClr val="F1F5F9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LigneCommande</a:t>
            </a:r>
            <a:endParaRPr lang="en-US" sz="1090" dirty="0"/>
          </a:p>
        </p:txBody>
      </p:sp>
      <p:sp>
        <p:nvSpPr>
          <p:cNvPr id="15" name="Text 13"/>
          <p:cNvSpPr/>
          <p:nvPr/>
        </p:nvSpPr>
        <p:spPr>
          <a:xfrm>
            <a:off x="4297680" y="2407920"/>
            <a:ext cx="3611880" cy="541020"/>
          </a:xfrm>
          <a:prstGeom prst="rect">
            <a:avLst/>
          </a:prstGeom>
          <a:solidFill>
            <a:srgbClr val="F1F5F9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quantité × prix</a:t>
            </a:r>
            <a:endParaRPr lang="en-US" sz="1090" dirty="0"/>
          </a:p>
        </p:txBody>
      </p:sp>
      <p:sp>
        <p:nvSpPr>
          <p:cNvPr id="16" name="Text 14"/>
          <p:cNvSpPr/>
          <p:nvPr/>
        </p:nvSpPr>
        <p:spPr>
          <a:xfrm>
            <a:off x="7909560" y="2407920"/>
            <a:ext cx="3611880" cy="541020"/>
          </a:xfrm>
          <a:prstGeom prst="rect">
            <a:avLst/>
          </a:prstGeom>
          <a:solidFill>
            <a:srgbClr val="F1F5F9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quantité positive</a:t>
            </a:r>
            <a:endParaRPr lang="en-US" sz="1090" dirty="0"/>
          </a:p>
        </p:txBody>
      </p:sp>
      <p:sp>
        <p:nvSpPr>
          <p:cNvPr id="17" name="Text 15"/>
          <p:cNvSpPr/>
          <p:nvPr/>
        </p:nvSpPr>
        <p:spPr>
          <a:xfrm>
            <a:off x="685800" y="2948940"/>
            <a:ext cx="3611880" cy="541020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Money</a:t>
            </a:r>
            <a:endParaRPr lang="en-US" sz="1090" dirty="0"/>
          </a:p>
        </p:txBody>
      </p:sp>
      <p:sp>
        <p:nvSpPr>
          <p:cNvPr id="18" name="Text 16"/>
          <p:cNvSpPr/>
          <p:nvPr/>
        </p:nvSpPr>
        <p:spPr>
          <a:xfrm>
            <a:off x="4297680" y="2948940"/>
            <a:ext cx="3611880" cy="541020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calcul monétaire</a:t>
            </a:r>
            <a:endParaRPr lang="en-US" sz="1090" dirty="0"/>
          </a:p>
        </p:txBody>
      </p:sp>
      <p:sp>
        <p:nvSpPr>
          <p:cNvPr id="19" name="Text 17"/>
          <p:cNvSpPr/>
          <p:nvPr/>
        </p:nvSpPr>
        <p:spPr>
          <a:xfrm>
            <a:off x="7909560" y="2948940"/>
            <a:ext cx="3611880" cy="541020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devise cohérente</a:t>
            </a:r>
            <a:endParaRPr lang="en-US" sz="1090" dirty="0"/>
          </a:p>
        </p:txBody>
      </p:sp>
      <p:sp>
        <p:nvSpPr>
          <p:cNvPr id="20" name="Text 18"/>
          <p:cNvSpPr/>
          <p:nvPr/>
        </p:nvSpPr>
        <p:spPr>
          <a:xfrm>
            <a:off x="685800" y="3489960"/>
            <a:ext cx="3611880" cy="541020"/>
          </a:xfrm>
          <a:prstGeom prst="rect">
            <a:avLst/>
          </a:prstGeom>
          <a:solidFill>
            <a:srgbClr val="F1F5F9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PaiementPort</a:t>
            </a:r>
            <a:endParaRPr lang="en-US" sz="1090" dirty="0"/>
          </a:p>
        </p:txBody>
      </p:sp>
      <p:sp>
        <p:nvSpPr>
          <p:cNvPr id="21" name="Text 19"/>
          <p:cNvSpPr/>
          <p:nvPr/>
        </p:nvSpPr>
        <p:spPr>
          <a:xfrm>
            <a:off x="4297680" y="3489960"/>
            <a:ext cx="3611880" cy="541020"/>
          </a:xfrm>
          <a:prstGeom prst="rect">
            <a:avLst/>
          </a:prstGeom>
          <a:solidFill>
            <a:srgbClr val="F1F5F9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 de paiement</a:t>
            </a:r>
            <a:endParaRPr lang="en-US" sz="1090" dirty="0"/>
          </a:p>
        </p:txBody>
      </p:sp>
      <p:sp>
        <p:nvSpPr>
          <p:cNvPr id="22" name="Text 20"/>
          <p:cNvSpPr/>
          <p:nvPr/>
        </p:nvSpPr>
        <p:spPr>
          <a:xfrm>
            <a:off x="7909560" y="3489960"/>
            <a:ext cx="3611880" cy="541020"/>
          </a:xfrm>
          <a:prstGeom prst="rect">
            <a:avLst/>
          </a:prstGeom>
          <a:solidFill>
            <a:srgbClr val="F1F5F9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 de dépendance fournisseur</a:t>
            </a:r>
            <a:endParaRPr lang="en-US" sz="1090" dirty="0"/>
          </a:p>
        </p:txBody>
      </p:sp>
      <p:sp>
        <p:nvSpPr>
          <p:cNvPr id="23" name="Text 21"/>
          <p:cNvSpPr/>
          <p:nvPr/>
        </p:nvSpPr>
        <p:spPr>
          <a:xfrm>
            <a:off x="685800" y="4030980"/>
            <a:ext cx="3611880" cy="541020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PolitiqueRemise</a:t>
            </a:r>
            <a:endParaRPr lang="en-US" sz="1090" dirty="0"/>
          </a:p>
        </p:txBody>
      </p:sp>
      <p:sp>
        <p:nvSpPr>
          <p:cNvPr id="24" name="Text 22"/>
          <p:cNvSpPr/>
          <p:nvPr/>
        </p:nvSpPr>
        <p:spPr>
          <a:xfrm>
            <a:off x="4297680" y="4030980"/>
            <a:ext cx="3611880" cy="541020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variation de remise</a:t>
            </a:r>
            <a:endParaRPr lang="en-US" sz="1090" dirty="0"/>
          </a:p>
        </p:txBody>
      </p:sp>
      <p:sp>
        <p:nvSpPr>
          <p:cNvPr id="25" name="Text 23"/>
          <p:cNvSpPr/>
          <p:nvPr/>
        </p:nvSpPr>
        <p:spPr>
          <a:xfrm>
            <a:off x="7909560" y="4030980"/>
            <a:ext cx="3611880" cy="541020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09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règle substituable</a:t>
            </a:r>
            <a:endParaRPr lang="en-US" sz="1090" dirty="0"/>
          </a:p>
        </p:txBody>
      </p:sp>
      <p:sp>
        <p:nvSpPr>
          <p:cNvPr id="26" name="Shape 24"/>
          <p:cNvSpPr/>
          <p:nvPr/>
        </p:nvSpPr>
        <p:spPr>
          <a:xfrm>
            <a:off x="1097280" y="4983480"/>
            <a:ext cx="9966960" cy="777240"/>
          </a:xfrm>
          <a:prstGeom prst="roundRect">
            <a:avLst>
              <a:gd name="adj" fmla="val 9412"/>
            </a:avLst>
          </a:prstGeom>
          <a:solidFill>
            <a:srgbClr val="EAF8F1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43000" y="5056632"/>
            <a:ext cx="73152" cy="630936"/>
          </a:xfrm>
          <a:prstGeom prst="rect">
            <a:avLst/>
          </a:prstGeom>
          <a:solidFill>
            <a:srgbClr val="20A76F"/>
          </a:solidFill>
          <a:ln w="12700">
            <a:solidFill>
              <a:srgbClr val="20A76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16736" y="5129784"/>
            <a:ext cx="965606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Correction ouverte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316736" y="5458968"/>
            <a:ext cx="9656064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Plusieurs modèles sont acceptables si les invariants sont localisés et les changements probables restent maîtrisés.</a:t>
            </a:r>
            <a:endParaRPr lang="en-US" sz="1180" dirty="0"/>
          </a:p>
        </p:txBody>
      </p:sp>
      <p:sp>
        <p:nvSpPr>
          <p:cNvPr id="30" name="Text 28"/>
          <p:cNvSpPr/>
          <p:nvPr/>
        </p:nvSpPr>
        <p:spPr>
          <a:xfrm>
            <a:off x="429768" y="65105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J1 — Fondamentaux de la conception objet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</a:t>
            </a:r>
            <a:endParaRPr lang="en-US" sz="8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5EFF"/>
          </a:solidFill>
          <a:ln w="12700">
            <a:solidFill>
              <a:srgbClr val="1E5E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256032"/>
            <a:ext cx="1088136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TP 1 — Corrigé indicatif : collaboration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38912" y="713232"/>
            <a:ext cx="10332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séquence lisible vaut mieux qu’un diagramme exhaustif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20624" y="987552"/>
            <a:ext cx="11201400" cy="0"/>
          </a:xfrm>
          <a:prstGeom prst="line">
            <a:avLst/>
          </a:prstGeom>
          <a:noFill/>
          <a:ln w="10160">
            <a:solidFill>
              <a:srgbClr val="D6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7899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CORRIGÉ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1783080" y="1078992"/>
            <a:ext cx="9418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Collaboration</a:t>
            </a:r>
            <a:endParaRPr lang="en-US" sz="940" dirty="0"/>
          </a:p>
        </p:txBody>
      </p:sp>
      <p:sp>
        <p:nvSpPr>
          <p:cNvPr id="8" name="Shape 6"/>
          <p:cNvSpPr/>
          <p:nvPr/>
        </p:nvSpPr>
        <p:spPr>
          <a:xfrm>
            <a:off x="777240" y="173736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EAF1FF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856232"/>
            <a:ext cx="14630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Controller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2505456" y="192024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2880360" y="1737360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EAF8F1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71800" y="1856232"/>
            <a:ext cx="20116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UseCase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ValiderCommande</a:t>
            </a:r>
            <a:endParaRPr lang="en-US" sz="1220" dirty="0"/>
          </a:p>
        </p:txBody>
      </p:sp>
      <p:sp>
        <p:nvSpPr>
          <p:cNvPr id="13" name="Text 11"/>
          <p:cNvSpPr/>
          <p:nvPr/>
        </p:nvSpPr>
        <p:spPr>
          <a:xfrm>
            <a:off x="5230368" y="192024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623560" y="1737360"/>
            <a:ext cx="1737360" cy="640080"/>
          </a:xfrm>
          <a:prstGeom prst="roundRect">
            <a:avLst>
              <a:gd name="adj" fmla="val 11429"/>
            </a:avLst>
          </a:prstGeom>
          <a:solidFill>
            <a:srgbClr val="EAF1FF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15000" y="1856232"/>
            <a:ext cx="15544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Commande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7516368" y="1920240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863840" y="173736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FFF4E7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0" y="1856232"/>
            <a:ext cx="17373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PaiementPort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914400" y="3108960"/>
            <a:ext cx="10058400" cy="914400"/>
          </a:xfrm>
          <a:prstGeom prst="roundRect">
            <a:avLst>
              <a:gd name="adj" fmla="val 8000"/>
            </a:avLst>
          </a:prstGeom>
          <a:solidFill>
            <a:srgbClr val="F3EFFF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0120" y="3182112"/>
            <a:ext cx="73152" cy="76809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33856" y="3255264"/>
            <a:ext cx="974750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133856" y="3584448"/>
            <a:ext cx="9747504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contrôleur traduit l’entrée. Le cas d’usage orchestre. Le domaine garantit les règles. Le port isole l’externe.</a:t>
            </a:r>
            <a:endParaRPr lang="en-US" sz="1180" dirty="0"/>
          </a:p>
        </p:txBody>
      </p:sp>
      <p:sp>
        <p:nvSpPr>
          <p:cNvPr id="23" name="Shape 21"/>
          <p:cNvSpPr/>
          <p:nvPr/>
        </p:nvSpPr>
        <p:spPr>
          <a:xfrm>
            <a:off x="2011680" y="4434840"/>
            <a:ext cx="8138160" cy="1325880"/>
          </a:xfrm>
          <a:prstGeom prst="roundRect">
            <a:avLst>
              <a:gd name="adj" fmla="val 5517"/>
            </a:avLst>
          </a:prstGeom>
          <a:solidFill>
            <a:srgbClr val="101828"/>
          </a:solidFill>
          <a:ln w="7620">
            <a:solidFill>
              <a:srgbClr val="0B12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48840" y="4544568"/>
            <a:ext cx="7863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BD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Séquence simplifiée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57984" y="4837176"/>
            <a:ext cx="7845552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validerCommande(id, moyen)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Commande c = repository.get(id);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c.verifierValidable();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Resultat r = paiement.payer(c.total(), moyen);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c.marquerPayee(r.reference());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repository.save(c);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429768" y="65105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J1 — Fondamentaux de la conception objet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</a:t>
            </a:r>
            <a:endParaRPr lang="en-US" sz="8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5EFF"/>
          </a:solidFill>
          <a:ln w="12700">
            <a:solidFill>
              <a:srgbClr val="1E5E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256032"/>
            <a:ext cx="1088136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Quiz de fin de J1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38912" y="713232"/>
            <a:ext cx="10332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 rapides pour vérifier les réflexes de conception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20624" y="987552"/>
            <a:ext cx="11201400" cy="0"/>
          </a:xfrm>
          <a:prstGeom prst="line">
            <a:avLst/>
          </a:prstGeom>
          <a:noFill/>
          <a:ln w="10160">
            <a:solidFill>
              <a:srgbClr val="D6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7899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ÉVALUATION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1783080" y="1078992"/>
            <a:ext cx="9418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questions</a:t>
            </a:r>
            <a:endParaRPr lang="en-US" sz="940" dirty="0"/>
          </a:p>
        </p:txBody>
      </p:sp>
      <p:sp>
        <p:nvSpPr>
          <p:cNvPr id="8" name="Text 6"/>
          <p:cNvSpPr/>
          <p:nvPr/>
        </p:nvSpPr>
        <p:spPr>
          <a:xfrm>
            <a:off x="822960" y="1417320"/>
            <a:ext cx="10149840" cy="3749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20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garantit-il l’encapsulation ?</a:t>
            </a:r>
            <a:endParaRPr lang="en-US" sz="2000" dirty="0"/>
          </a:p>
          <a:p>
            <a:r>
              <a:rPr lang="en-US" sz="20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Une interface est-elle toujours utile ?</a:t>
            </a:r>
            <a:endParaRPr lang="en-US" sz="2000" dirty="0"/>
          </a:p>
          <a:p>
            <a:r>
              <a:rPr lang="en-US" sz="20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OCP interdit-il de modifier le code existant ?</a:t>
            </a:r>
            <a:endParaRPr lang="en-US" sz="2000" dirty="0"/>
          </a:p>
          <a:p>
            <a:r>
              <a:rPr lang="en-US" sz="20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Pourquoi UnsupportedOperationException dans un sous-type est-il suspect ?</a:t>
            </a:r>
            <a:endParaRPr lang="en-US" sz="2000" dirty="0"/>
          </a:p>
          <a:p>
            <a:r>
              <a:rPr lang="en-US" sz="20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Comment repérer une classe à faible cohésion ?</a:t>
            </a:r>
            <a:endParaRPr lang="en-US" sz="2000" dirty="0"/>
          </a:p>
          <a:p>
            <a:r>
              <a:rPr lang="en-US" sz="20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Faut-il représenter toutes les annotations du framework dans UML ?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965960" y="5486400"/>
            <a:ext cx="8138160" cy="594360"/>
          </a:xfrm>
          <a:prstGeom prst="roundRect">
            <a:avLst>
              <a:gd name="adj" fmla="val 12308"/>
            </a:avLst>
          </a:prstGeom>
          <a:solidFill>
            <a:srgbClr val="EAF1FF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11680" y="5559552"/>
            <a:ext cx="73152" cy="448056"/>
          </a:xfrm>
          <a:prstGeom prst="rect">
            <a:avLst/>
          </a:prstGeom>
          <a:solidFill>
            <a:srgbClr val="1E5EFF"/>
          </a:solidFill>
          <a:ln w="12700">
            <a:solidFill>
              <a:srgbClr val="1E5E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85416" y="5632704"/>
            <a:ext cx="782726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Modalité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185416" y="5961888"/>
            <a:ext cx="7827264" cy="27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Réponse individuelle 5 min, puis correction collective centrée sur les justifications.</a:t>
            </a:r>
            <a:endParaRPr lang="en-US" sz="1180" dirty="0"/>
          </a:p>
        </p:txBody>
      </p:sp>
      <p:sp>
        <p:nvSpPr>
          <p:cNvPr id="13" name="Text 11"/>
          <p:cNvSpPr/>
          <p:nvPr/>
        </p:nvSpPr>
        <p:spPr>
          <a:xfrm>
            <a:off x="429768" y="65105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J1 — Fondamentaux de la conception objet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</a:t>
            </a:r>
            <a:endParaRPr lang="en-US" sz="8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5EFF"/>
          </a:solidFill>
          <a:ln w="12700">
            <a:solidFill>
              <a:srgbClr val="1E5E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256032"/>
            <a:ext cx="1088136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Approfondissement : du modèle anémique à l’objet métier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38912" y="713232"/>
            <a:ext cx="10332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Déplacer la règle vers l’objet qui possède les informations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20624" y="987552"/>
            <a:ext cx="11201400" cy="0"/>
          </a:xfrm>
          <a:prstGeom prst="line">
            <a:avLst/>
          </a:prstGeom>
          <a:noFill/>
          <a:ln w="10160">
            <a:solidFill>
              <a:srgbClr val="D6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7899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RESSOURCES J1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1783080" y="1078992"/>
            <a:ext cx="9418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 A</a:t>
            </a:r>
            <a:endParaRPr lang="en-US" sz="940" dirty="0"/>
          </a:p>
        </p:txBody>
      </p:sp>
      <p:sp>
        <p:nvSpPr>
          <p:cNvPr id="8" name="Shape 6"/>
          <p:cNvSpPr/>
          <p:nvPr/>
        </p:nvSpPr>
        <p:spPr>
          <a:xfrm>
            <a:off x="685800" y="1417320"/>
            <a:ext cx="5166360" cy="3520440"/>
          </a:xfrm>
          <a:prstGeom prst="roundRect">
            <a:avLst>
              <a:gd name="adj" fmla="val 2078"/>
            </a:avLst>
          </a:prstGeom>
          <a:solidFill>
            <a:srgbClr val="101828"/>
          </a:solidFill>
          <a:ln w="7620">
            <a:solidFill>
              <a:srgbClr val="0B12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527048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BD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Modèle anémique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32104" y="1819656"/>
            <a:ext cx="4873752" cy="3017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Commande { List&lt;Ligne&gt; lignes; Statut statut; }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CommandeService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void payer(Commande c)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if(c.lignes.isEmpty()) throw ...;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c.statut = PAYEE;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}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6263640" y="1417320"/>
            <a:ext cx="5166360" cy="3520440"/>
          </a:xfrm>
          <a:prstGeom prst="roundRect">
            <a:avLst>
              <a:gd name="adj" fmla="val 2078"/>
            </a:avLst>
          </a:prstGeom>
          <a:solidFill>
            <a:srgbClr val="101828"/>
          </a:solidFill>
          <a:ln w="7620">
            <a:solidFill>
              <a:srgbClr val="0B12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527048"/>
            <a:ext cx="4892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BBD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 métier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09944" y="1819656"/>
            <a:ext cx="4873752" cy="3017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class Commande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private List&lt;Ligne&gt; lignes;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private Statut statut;</a:t>
            </a:r>
            <a:endParaRPr lang="en-US" sz="1020" dirty="0"/>
          </a:p>
          <a:p>
            <a:pPr indent="0" marL="0">
              <a:buNone/>
            </a:pP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void marquerPayee() {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if(lignes.isEmpty()) throw ...;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statut = PAYEE;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}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F8FAF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}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1965960" y="5257800"/>
            <a:ext cx="8183880" cy="658368"/>
          </a:xfrm>
          <a:prstGeom prst="roundRect">
            <a:avLst>
              <a:gd name="adj" fmla="val 11111"/>
            </a:avLst>
          </a:prstGeom>
          <a:solidFill>
            <a:srgbClr val="EAF8F1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11680" y="5330952"/>
            <a:ext cx="73152" cy="512064"/>
          </a:xfrm>
          <a:prstGeom prst="rect">
            <a:avLst/>
          </a:prstGeom>
          <a:solidFill>
            <a:srgbClr val="20A76F"/>
          </a:solidFill>
          <a:ln w="12700">
            <a:solidFill>
              <a:srgbClr val="20A76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85416" y="5404104"/>
            <a:ext cx="787298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Idée clé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185416" y="5733288"/>
            <a:ext cx="7872984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service orchestre, mais l’objet métier protège ses propres invariants.</a:t>
            </a:r>
            <a:endParaRPr lang="en-US" sz="1180" dirty="0"/>
          </a:p>
        </p:txBody>
      </p:sp>
      <p:sp>
        <p:nvSpPr>
          <p:cNvPr id="18" name="Text 16"/>
          <p:cNvSpPr/>
          <p:nvPr/>
        </p:nvSpPr>
        <p:spPr>
          <a:xfrm>
            <a:off x="429768" y="65105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J1 — Fondamentaux de la conception objet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41</a:t>
            </a:r>
            <a:endParaRPr lang="en-US" sz="8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5EFF"/>
          </a:solidFill>
          <a:ln w="12700">
            <a:solidFill>
              <a:srgbClr val="1E5E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256032"/>
            <a:ext cx="1088136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Approfondissement : états et primitive obsession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38912" y="713232"/>
            <a:ext cx="10332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Nommer les concepts réduit les combinaisons invalides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20624" y="987552"/>
            <a:ext cx="11201400" cy="0"/>
          </a:xfrm>
          <a:prstGeom prst="line">
            <a:avLst/>
          </a:prstGeom>
          <a:noFill/>
          <a:ln w="10160">
            <a:solidFill>
              <a:srgbClr val="D6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7899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RESSOURCES J1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1783080" y="1078992"/>
            <a:ext cx="9418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 B &amp; C</a:t>
            </a:r>
            <a:endParaRPr lang="en-US" sz="940" dirty="0"/>
          </a:p>
        </p:txBody>
      </p:sp>
      <p:sp>
        <p:nvSpPr>
          <p:cNvPr id="8" name="Shape 6"/>
          <p:cNvSpPr/>
          <p:nvPr/>
        </p:nvSpPr>
        <p:spPr>
          <a:xfrm>
            <a:off x="685800" y="1371600"/>
            <a:ext cx="3474720" cy="1188720"/>
          </a:xfrm>
          <a:prstGeom prst="roundRect">
            <a:avLst>
              <a:gd name="adj" fmla="val 6154"/>
            </a:avLst>
          </a:prstGeom>
          <a:solidFill>
            <a:srgbClr val="FFF4E7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444752"/>
            <a:ext cx="73152" cy="1042416"/>
          </a:xfrm>
          <a:prstGeom prst="rect">
            <a:avLst/>
          </a:prstGeom>
          <a:solidFill>
            <a:srgbClr val="F2994A"/>
          </a:solidFill>
          <a:ln w="12700">
            <a:solidFill>
              <a:srgbClr val="F2994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" y="1517904"/>
            <a:ext cx="316382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Booléens contradictoires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05256" y="1847088"/>
            <a:ext cx="3163824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isPaid, isCancelled, isShipped : plusieurs combinaisons peuvent être absurdes.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4434840" y="1371600"/>
            <a:ext cx="3474720" cy="1188720"/>
          </a:xfrm>
          <a:prstGeom prst="roundRect">
            <a:avLst>
              <a:gd name="adj" fmla="val 6154"/>
            </a:avLst>
          </a:prstGeom>
          <a:solidFill>
            <a:srgbClr val="EAF8F1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0560" y="1444752"/>
            <a:ext cx="73152" cy="1042416"/>
          </a:xfrm>
          <a:prstGeom prst="rect">
            <a:avLst/>
          </a:prstGeom>
          <a:solidFill>
            <a:srgbClr val="20A76F"/>
          </a:solidFill>
          <a:ln w="12700">
            <a:solidFill>
              <a:srgbClr val="20A76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54296" y="1517904"/>
            <a:ext cx="316382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État explicite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654296" y="1847088"/>
            <a:ext cx="3163824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BROUILLON → PAYEE → EXPEDIEE → LIVREE ; les transitions deviennent visibles.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8183880" y="1371600"/>
            <a:ext cx="3474720" cy="1188720"/>
          </a:xfrm>
          <a:prstGeom prst="roundRect">
            <a:avLst>
              <a:gd name="adj" fmla="val 6154"/>
            </a:avLst>
          </a:prstGeom>
          <a:solidFill>
            <a:srgbClr val="EAF1FF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0" y="1444752"/>
            <a:ext cx="73152" cy="1042416"/>
          </a:xfrm>
          <a:prstGeom prst="rect">
            <a:avLst/>
          </a:prstGeom>
          <a:solidFill>
            <a:srgbClr val="1E5EFF"/>
          </a:solidFill>
          <a:ln w="12700">
            <a:solidFill>
              <a:srgbClr val="1E5EF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03336" y="1517904"/>
            <a:ext cx="316382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 valeur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403336" y="1847088"/>
            <a:ext cx="3163824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Money, EmailAddress, Quantity : les primitives ambiguës deviennent des contrats.</a:t>
            </a:r>
            <a:endParaRPr lang="en-US" sz="1180" dirty="0"/>
          </a:p>
        </p:txBody>
      </p:sp>
      <p:sp>
        <p:nvSpPr>
          <p:cNvPr id="20" name="Text 18"/>
          <p:cNvSpPr/>
          <p:nvPr/>
        </p:nvSpPr>
        <p:spPr>
          <a:xfrm>
            <a:off x="1188720" y="3337560"/>
            <a:ext cx="4892040" cy="457200"/>
          </a:xfrm>
          <a:prstGeom prst="rect">
            <a:avLst/>
          </a:prstGeom>
          <a:solidFill>
            <a:srgbClr val="172B4D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Symptôme</a:t>
            </a:r>
            <a:endParaRPr lang="en-US" sz="1130" dirty="0"/>
          </a:p>
        </p:txBody>
      </p:sp>
      <p:sp>
        <p:nvSpPr>
          <p:cNvPr id="21" name="Text 19"/>
          <p:cNvSpPr/>
          <p:nvPr/>
        </p:nvSpPr>
        <p:spPr>
          <a:xfrm>
            <a:off x="6080760" y="3337560"/>
            <a:ext cx="4892040" cy="457200"/>
          </a:xfrm>
          <a:prstGeom prst="rect">
            <a:avLst/>
          </a:prstGeom>
          <a:solidFill>
            <a:srgbClr val="172B4D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Refactoring</a:t>
            </a:r>
            <a:endParaRPr lang="en-US" sz="1130" dirty="0"/>
          </a:p>
        </p:txBody>
      </p:sp>
      <p:sp>
        <p:nvSpPr>
          <p:cNvPr id="22" name="Text 20"/>
          <p:cNvSpPr/>
          <p:nvPr/>
        </p:nvSpPr>
        <p:spPr>
          <a:xfrm>
            <a:off x="1188720" y="3794760"/>
            <a:ext cx="489204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String partout pour la devise</a:t>
            </a:r>
            <a:endParaRPr lang="en-US" sz="1130" dirty="0"/>
          </a:p>
        </p:txBody>
      </p:sp>
      <p:sp>
        <p:nvSpPr>
          <p:cNvPr id="23" name="Text 21"/>
          <p:cNvSpPr/>
          <p:nvPr/>
        </p:nvSpPr>
        <p:spPr>
          <a:xfrm>
            <a:off x="6080760" y="3794760"/>
            <a:ext cx="489204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Money / Currency</a:t>
            </a:r>
            <a:endParaRPr lang="en-US" sz="1130" dirty="0"/>
          </a:p>
        </p:txBody>
      </p:sp>
      <p:sp>
        <p:nvSpPr>
          <p:cNvPr id="24" name="Text 22"/>
          <p:cNvSpPr/>
          <p:nvPr/>
        </p:nvSpPr>
        <p:spPr>
          <a:xfrm>
            <a:off x="1188720" y="4251960"/>
            <a:ext cx="4892040" cy="457200"/>
          </a:xfrm>
          <a:prstGeom prst="rect">
            <a:avLst/>
          </a:prstGeom>
          <a:solidFill>
            <a:srgbClr val="F1F5F9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 quantité sans validation</a:t>
            </a:r>
            <a:endParaRPr lang="en-US" sz="1130" dirty="0"/>
          </a:p>
        </p:txBody>
      </p:sp>
      <p:sp>
        <p:nvSpPr>
          <p:cNvPr id="25" name="Text 23"/>
          <p:cNvSpPr/>
          <p:nvPr/>
        </p:nvSpPr>
        <p:spPr>
          <a:xfrm>
            <a:off x="6080760" y="4251960"/>
            <a:ext cx="4892040" cy="457200"/>
          </a:xfrm>
          <a:prstGeom prst="rect">
            <a:avLst/>
          </a:prstGeom>
          <a:solidFill>
            <a:srgbClr val="F1F5F9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Quantity</a:t>
            </a:r>
            <a:endParaRPr lang="en-US" sz="1130" dirty="0"/>
          </a:p>
        </p:txBody>
      </p:sp>
      <p:sp>
        <p:nvSpPr>
          <p:cNvPr id="26" name="Text 24"/>
          <p:cNvSpPr/>
          <p:nvPr/>
        </p:nvSpPr>
        <p:spPr>
          <a:xfrm>
            <a:off x="1188720" y="4709160"/>
            <a:ext cx="489204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String email répété</a:t>
            </a:r>
            <a:endParaRPr lang="en-US" sz="1130" dirty="0"/>
          </a:p>
        </p:txBody>
      </p:sp>
      <p:sp>
        <p:nvSpPr>
          <p:cNvPr id="27" name="Text 25"/>
          <p:cNvSpPr/>
          <p:nvPr/>
        </p:nvSpPr>
        <p:spPr>
          <a:xfrm>
            <a:off x="6080760" y="4709160"/>
            <a:ext cx="489204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EmailAddress</a:t>
            </a:r>
            <a:endParaRPr lang="en-US" sz="1130" dirty="0"/>
          </a:p>
        </p:txBody>
      </p:sp>
      <p:sp>
        <p:nvSpPr>
          <p:cNvPr id="28" name="Text 26"/>
          <p:cNvSpPr/>
          <p:nvPr/>
        </p:nvSpPr>
        <p:spPr>
          <a:xfrm>
            <a:off x="1188720" y="5166360"/>
            <a:ext cx="4892040" cy="457200"/>
          </a:xfrm>
          <a:prstGeom prst="rect">
            <a:avLst/>
          </a:prstGeom>
          <a:solidFill>
            <a:srgbClr val="F1F5F9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statut + booléens</a:t>
            </a:r>
            <a:endParaRPr lang="en-US" sz="1130" dirty="0"/>
          </a:p>
        </p:txBody>
      </p:sp>
      <p:sp>
        <p:nvSpPr>
          <p:cNvPr id="29" name="Text 27"/>
          <p:cNvSpPr/>
          <p:nvPr/>
        </p:nvSpPr>
        <p:spPr>
          <a:xfrm>
            <a:off x="6080760" y="5166360"/>
            <a:ext cx="4892040" cy="457200"/>
          </a:xfrm>
          <a:prstGeom prst="rect">
            <a:avLst/>
          </a:prstGeom>
          <a:solidFill>
            <a:srgbClr val="F1F5F9"/>
          </a:solidFill>
          <a:ln w="5715">
            <a:solidFill>
              <a:srgbClr val="D6DEE8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enum ou objet état</a:t>
            </a:r>
            <a:endParaRPr lang="en-US" sz="1130" dirty="0"/>
          </a:p>
        </p:txBody>
      </p:sp>
      <p:sp>
        <p:nvSpPr>
          <p:cNvPr id="30" name="Text 28"/>
          <p:cNvSpPr/>
          <p:nvPr/>
        </p:nvSpPr>
        <p:spPr>
          <a:xfrm>
            <a:off x="429768" y="65105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J1 — Fondamentaux de la conception objet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42</a:t>
            </a:r>
            <a:endParaRPr lang="en-US" sz="8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5EFF"/>
          </a:solidFill>
          <a:ln w="12700">
            <a:solidFill>
              <a:srgbClr val="1E5E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256032"/>
            <a:ext cx="1088136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Synthèse opérationnelle du Jour 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38912" y="713232"/>
            <a:ext cx="10332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 réflexes à conserver avant DIP, ISP et GRASP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20624" y="987552"/>
            <a:ext cx="11201400" cy="0"/>
          </a:xfrm>
          <a:prstGeom prst="line">
            <a:avLst/>
          </a:prstGeom>
          <a:noFill/>
          <a:ln w="10160">
            <a:solidFill>
              <a:srgbClr val="D6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7899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SYNTHÈSE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1783080" y="1078992"/>
            <a:ext cx="9418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À retenir</a:t>
            </a:r>
            <a:endParaRPr lang="en-US" sz="940" dirty="0"/>
          </a:p>
        </p:txBody>
      </p:sp>
      <p:sp>
        <p:nvSpPr>
          <p:cNvPr id="8" name="Shape 6"/>
          <p:cNvSpPr/>
          <p:nvPr/>
        </p:nvSpPr>
        <p:spPr>
          <a:xfrm>
            <a:off x="685800" y="1298448"/>
            <a:ext cx="53492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0160">
            <a:solidFill>
              <a:srgbClr val="D6DEE8"/>
            </a:solidFill>
            <a:prstDash val="solid"/>
          </a:ln>
        </p:spPr>
      </p:sp>
      <p:pic>
        <p:nvPicPr>
          <p:cNvPr id="9" name="Image 0" descr="/mnt/data/j1_enriched_assets/10_synthe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014421"/>
            <a:ext cx="5349240" cy="304861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0" y="1417320"/>
            <a:ext cx="4663440" cy="4114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r>
              <a:rPr lang="en-US" sz="17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Concevoir, c’est localiser les raisons de changer.</a:t>
            </a:r>
            <a:endParaRPr lang="en-US" sz="1770" dirty="0"/>
          </a:p>
          <a:p>
            <a:r>
              <a:rPr lang="en-US" sz="17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objet protège des invariants, pas seulement des données.</a:t>
            </a:r>
            <a:endParaRPr lang="en-US" sz="1770" dirty="0"/>
          </a:p>
          <a:p>
            <a:r>
              <a:rPr lang="en-US" sz="17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UML sert à discuter les responsabilités et collaborations.</a:t>
            </a:r>
            <a:endParaRPr lang="en-US" sz="1770" dirty="0"/>
          </a:p>
          <a:p>
            <a:r>
              <a:rPr lang="en-US" sz="17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L’héritage exige une substituabilité réelle.</a:t>
            </a:r>
            <a:endParaRPr lang="en-US" sz="1770" dirty="0"/>
          </a:p>
          <a:p>
            <a:r>
              <a:rPr lang="en-US" sz="17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OCP et LSP protègent les points de variation.</a:t>
            </a:r>
            <a:endParaRPr lang="en-US" sz="1770" dirty="0"/>
          </a:p>
          <a:p>
            <a:r>
              <a:rPr lang="en-US" sz="177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Faible couplage + forte cohésion rendent le système testable.</a:t>
            </a:r>
            <a:endParaRPr lang="en-US" sz="1770" dirty="0"/>
          </a:p>
        </p:txBody>
      </p:sp>
      <p:sp>
        <p:nvSpPr>
          <p:cNvPr id="11" name="Text 8"/>
          <p:cNvSpPr/>
          <p:nvPr/>
        </p:nvSpPr>
        <p:spPr>
          <a:xfrm>
            <a:off x="429768" y="65105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J1 — Fondamentaux de la conception objet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43</a:t>
            </a:r>
            <a:endParaRPr lang="en-US" sz="8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E5EFF"/>
          </a:solidFill>
          <a:ln w="12700">
            <a:solidFill>
              <a:srgbClr val="1E5E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0624" y="256032"/>
            <a:ext cx="1088136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Préparation du Jour 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38912" y="713232"/>
            <a:ext cx="103327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Passer des classes aux dépendances et aux responsabilités avancées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20624" y="987552"/>
            <a:ext cx="11201400" cy="0"/>
          </a:xfrm>
          <a:prstGeom prst="line">
            <a:avLst/>
          </a:prstGeom>
          <a:noFill/>
          <a:ln w="10160">
            <a:solidFill>
              <a:srgbClr val="D6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" y="107899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INTERSESSION</a:t>
            </a:r>
            <a:endParaRPr lang="en-US" sz="880" dirty="0"/>
          </a:p>
        </p:txBody>
      </p:sp>
      <p:sp>
        <p:nvSpPr>
          <p:cNvPr id="7" name="Text 5"/>
          <p:cNvSpPr/>
          <p:nvPr/>
        </p:nvSpPr>
        <p:spPr>
          <a:xfrm>
            <a:off x="1783080" y="1078992"/>
            <a:ext cx="9418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72B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À préparer</a:t>
            </a:r>
            <a:endParaRPr lang="en-US" sz="940" dirty="0"/>
          </a:p>
        </p:txBody>
      </p:sp>
      <p:sp>
        <p:nvSpPr>
          <p:cNvPr id="8" name="Shape 6"/>
          <p:cNvSpPr/>
          <p:nvPr/>
        </p:nvSpPr>
        <p:spPr>
          <a:xfrm>
            <a:off x="685800" y="1417320"/>
            <a:ext cx="5029200" cy="1234440"/>
          </a:xfrm>
          <a:prstGeom prst="roundRect">
            <a:avLst>
              <a:gd name="adj" fmla="val 5926"/>
            </a:avLst>
          </a:prstGeom>
          <a:solidFill>
            <a:srgbClr val="EAF1FF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1490472"/>
            <a:ext cx="73152" cy="1088136"/>
          </a:xfrm>
          <a:prstGeom prst="rect">
            <a:avLst/>
          </a:prstGeom>
          <a:solidFill>
            <a:srgbClr val="1E5EFF"/>
          </a:solidFill>
          <a:ln w="12700">
            <a:solidFill>
              <a:srgbClr val="1E5E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5256" y="1563624"/>
            <a:ext cx="471830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Journal de conception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05256" y="1892808"/>
            <a:ext cx="4718304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Choisir une classe réelle et noter : responsabilité principale, deux invariants, dépendances et changements probables.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6263640" y="1417320"/>
            <a:ext cx="5029200" cy="1234440"/>
          </a:xfrm>
          <a:prstGeom prst="roundRect">
            <a:avLst>
              <a:gd name="adj" fmla="val 5926"/>
            </a:avLst>
          </a:prstGeom>
          <a:solidFill>
            <a:srgbClr val="EAF8F1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09360" y="1490472"/>
            <a:ext cx="73152" cy="1088136"/>
          </a:xfrm>
          <a:prstGeom prst="rect">
            <a:avLst/>
          </a:prstGeom>
          <a:solidFill>
            <a:srgbClr val="20A76F"/>
          </a:solidFill>
          <a:ln w="12700">
            <a:solidFill>
              <a:srgbClr val="20A76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83096" y="1563624"/>
            <a:ext cx="4718304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Auto-évaluation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483096" y="1892808"/>
            <a:ext cx="4718304" cy="6675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Suis-je capable de justifier chaque association, chaque héritage et chaque interface du modèle ?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1188720" y="3794760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EAF1FF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80160" y="3913632"/>
            <a:ext cx="237744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J1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POO / UML / SOLID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3977640" y="4041648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4572000" y="3794760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F3EFFF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3913632"/>
            <a:ext cx="237744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J2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DIP / ISP / GRASP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7315200" y="4041648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7909560" y="3794760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FFF4E7"/>
          </a:solidFill>
          <a:ln w="10160">
            <a:solidFill>
              <a:srgbClr val="D6DE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01000" y="3913632"/>
            <a:ext cx="237744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Packages</a:t>
            </a:r>
            <a:endParaRPr lang="en-US" sz="1220" dirty="0"/>
          </a:p>
          <a:p>
            <a:pPr algn="ctr" indent="0" marL="0">
              <a:buNone/>
            </a:pPr>
            <a:r>
              <a:rPr lang="en-US" sz="122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 / CRP / CCP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429768" y="651052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B67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J1 — Fondamentaux de la conception objet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384280" y="647395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E5E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44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Formation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Slides J1 - Fondamentaux de la conception objet</dc:title>
  <dc:subject>Jour 1 - Conception objet, Design Patterns &amp; Architecture logicielle</dc:subject>
  <dc:creator>OpenAI</dc:creator>
  <cp:lastModifiedBy>OpenAI</cp:lastModifiedBy>
  <cp:revision>1</cp:revision>
  <dcterms:created xsi:type="dcterms:W3CDTF">2026-08-29T15:08:51Z</dcterms:created>
  <dcterms:modified xsi:type="dcterms:W3CDTF">2026-08-29T15:08:51Z</dcterms:modified>
</cp:coreProperties>
</file>