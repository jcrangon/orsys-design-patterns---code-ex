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7132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Jour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1430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logicielle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processus de développement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Passer des classes aux systèmes : exigences, styles, qualité, Agile, XP et Scrum</a:t>
            </a:r>
            <a:endParaRPr lang="en-US" sz="1300" dirty="0"/>
          </a:p>
        </p:txBody>
      </p:sp>
      <p:pic>
        <p:nvPicPr>
          <p:cNvPr id="9" name="Image 0" descr="/mnt/data/j5_enriched_assets/12_synth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839015"/>
            <a:ext cx="3611880" cy="17352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4251960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 conducteur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système de réservation évolutif : architecture, qualité, testabilité et livraison.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4251960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Relier SOLID, GRASP, TDD et patterns à des décisions d’architecture.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592531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L’architecture est la somme des décisions difficiles à changer : il faut les rendre explicites.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Ce que les participants doivent savoir faire à la fin de la journée.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Identifier drivers, contraintes et risques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Traduire des exigences en décisions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Formuler des scénarios de qualité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70832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Comparer styles architecturaux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Décider avec ADR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Combiner MVC, couches, plug-in, pipeline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47304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Livrer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Concevoir de façon itérative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Intégrer Agile, XP et Scrum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Piloter dette technique et runway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4343400"/>
            <a:ext cx="1600200" cy="475488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Exigences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4581144"/>
            <a:ext cx="1554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462272" y="4343400"/>
            <a:ext cx="1828800" cy="475488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36792" y="4581144"/>
            <a:ext cx="14813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845552" y="4343400"/>
            <a:ext cx="1600200" cy="475488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Itérations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Le J5 transforme les principes de conception en décisions de système et d’équipe.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Déroulé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de la journée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parcours des exigences jusqu’au processus de livraison.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1143000" cy="713232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Drivers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764792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929384" y="2542032"/>
            <a:ext cx="1143000" cy="713232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ADR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191256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55848" y="2542032"/>
            <a:ext cx="1143000" cy="713232"/>
          </a:xfrm>
          <a:prstGeom prst="rect">
            <a:avLst/>
          </a:prstGeom>
          <a:solidFill>
            <a:srgbClr val="FEF3C7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Distribution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17720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82312" y="2542032"/>
            <a:ext cx="1143000" cy="713232"/>
          </a:xfrm>
          <a:prstGeom prst="rect">
            <a:avLst/>
          </a:prstGeom>
          <a:solidFill>
            <a:srgbClr val="DCFCE7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Systèmes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44184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08776" y="2542032"/>
            <a:ext cx="1143000" cy="713232"/>
          </a:xfrm>
          <a:prstGeom prst="rect">
            <a:avLst/>
          </a:prstGeom>
          <a:solidFill>
            <a:srgbClr val="EDE9FE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Qualité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470648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35240" y="2542032"/>
            <a:ext cx="1143000" cy="713232"/>
          </a:xfrm>
          <a:prstGeom prst="rect">
            <a:avLst/>
          </a:prstGeom>
          <a:solidFill>
            <a:srgbClr val="E0E7FF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Vues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897112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061704" y="2542032"/>
            <a:ext cx="1143000" cy="713232"/>
          </a:xfrm>
          <a:prstGeom prst="rect">
            <a:avLst/>
          </a:prstGeom>
          <a:solidFill>
            <a:srgbClr val="CFFAFE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Agile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323576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488168" y="2542032"/>
            <a:ext cx="1143000" cy="713232"/>
          </a:xfrm>
          <a:prstGeom prst="rect">
            <a:avLst/>
          </a:prstGeom>
          <a:solidFill>
            <a:srgbClr val="FCE7F3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</a:rPr>
              <a:t>TP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6928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Exigences, scénarios de qualité, ADR, Client/Serveur, Repository, Data Bus, Blackboard.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34256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Après-midi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MVC, couches, plug-in, pipeline, tactiques qualité, vues et architecture testable.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01584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 journée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Processus itératif, Agile, XP, Scrum, dette technique, TP final et synthèse.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Qu’appelle-t-on architecture logicielle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L’architecture décrit les décisions structurantes du système.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291840" cy="1234440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Composants, responsabilités, interfaces, dépendances et frontières.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291840" cy="123444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Flux, collaborations, synchronisation, erreurs et événements.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325880"/>
            <a:ext cx="3291840" cy="123444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Performance, sécurité, disponibilité, maintenabilité et testabilité.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3703320"/>
            <a:ext cx="2377440" cy="54864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Décisions difficiles à changer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3977640"/>
            <a:ext cx="10515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39712" y="3703320"/>
            <a:ext cx="1691640" cy="54864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Justification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77072" y="3977640"/>
            <a:ext cx="88696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91472" y="3703320"/>
            <a:ext cx="1508760" cy="54864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Traçabilité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Une architecture non expliquée finit souvent comme une collection de conventions implicites.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exigences à l’architecture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 ne choisit pas une architecture : on répond à des forces.</a:t>
            </a:r>
            <a:endParaRPr lang="en-US" sz="1050" dirty="0"/>
          </a:p>
        </p:txBody>
      </p:sp>
      <p:pic>
        <p:nvPicPr>
          <p:cNvPr id="8" name="Image 0" descr="/mnt/data/j5_enriched_assets/01_exigences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44748"/>
            <a:ext cx="5394960" cy="24862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1234440"/>
            <a:ext cx="43891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influence fortement les choix : volume, sécurité, intégrations, équipes, délais.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46520" y="2359152"/>
            <a:ext cx="43891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est imposé : cloud, langage, réglementation, existant, compétences.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46520" y="3483864"/>
            <a:ext cx="43891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peut invalider le design : performance, disponibilité, verrouillage, dette.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46520" y="4608576"/>
            <a:ext cx="43891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est documenté : style, découpage, persistance, communication, déploiement.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Formuler des scénarios de qualité mesurables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qualité vague ne guide aucune architecture.</a:t>
            </a:r>
            <a:endParaRPr lang="en-US" sz="1050" dirty="0"/>
          </a:p>
        </p:txBody>
      </p:sp>
      <p:pic>
        <p:nvPicPr>
          <p:cNvPr id="8" name="Image 0" descr="/mnt/data/j5_enriched_assets/02_scenario_qua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11233"/>
            <a:ext cx="5257800" cy="23715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14300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Stimulus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événement observable : pic de charge, panne, tentative d’accès, changement de règle.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6355080" y="205740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Environnement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 : heure de pointe, déploiement, incident, mode dégradé.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6355080" y="297180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attendue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système doit faire : rejeter, servir, journaliser, basculer, récupérer.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355080" y="388620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Temps, taux, seuil, disponibilité, délai de reprise, couverture.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6355080" y="4919472"/>
            <a:ext cx="4572000" cy="804672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 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Sous 1 000 réservations/min,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95 % des recherches répondent en &lt; 300 ms,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avec journalisation des erreurs critiques.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Atelier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rapide — identifier les drivers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Avant les patterns architecturaux, on clarifie les forces du contexte.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Plateforme de réservation de salles : catalogue, disponibilité, paiement, notifications.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Lister cinq exigences fonctionnelles et cinq qualités non fonctionnelles mesurables.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123444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drivers prioritaires, trois risques et deux contraintes non négociables.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3703320"/>
            <a:ext cx="164592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Fonctionnel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70632" y="3931920"/>
            <a:ext cx="13441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60520" y="3703320"/>
            <a:ext cx="137160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Qualité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3931920"/>
            <a:ext cx="141732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040880" y="3703320"/>
            <a:ext cx="146304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Décision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49640" y="3931920"/>
            <a:ext cx="1280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875520" y="3703320"/>
            <a:ext cx="1097280" cy="45720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ADR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On ne documente pas tout : on documente ce qui oriente vraiment les choix.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Jour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Décider et documenter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Rendre les choix architecturaux explicites, discutables et traçables.</a:t>
            </a:r>
            <a:endParaRPr lang="en-US" sz="1500" dirty="0"/>
          </a:p>
        </p:txBody>
      </p:sp>
      <p:pic>
        <p:nvPicPr>
          <p:cNvPr id="6" name="Image 0" descr="/mnt/data/j5_enriched_assets/03_a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88" y="2479990"/>
            <a:ext cx="2788920" cy="125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08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ADR — Architecture Decision Record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décision courte, datée, contextualisée et assumée.</a:t>
            </a:r>
            <a:endParaRPr lang="en-US" sz="1050" dirty="0"/>
          </a:p>
        </p:txBody>
      </p:sp>
      <p:pic>
        <p:nvPicPr>
          <p:cNvPr id="8" name="Image 0" descr="/mnt/data/j5_enriched_assets/03_a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10066"/>
            <a:ext cx="5303520" cy="23921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234440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la décision apparaît maintenant ? Quelles forces sont en tension ?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6355080" y="2240280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option est retenue ? Que choisit-on explicitement de ne pas faire ?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6355080" y="3246120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Conséquences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bénéfices, coûts, risques, dettes et impacts sur l’équipe ?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355080" y="4251960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Statut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Proposé, accepté, remplacé, obsolète : l’historique compte.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Un ADR n’est pas un roman : c’est une mémoire de décision exploitable.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d’ADR — communication de réservation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Comparer rapidement deux options avant de figer l’architecture.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3429000" cy="105156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: HTTP synchrone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à comprendre, réponse immédiate, mais couplage temporel fort.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0" y="1170432"/>
            <a:ext cx="3429000" cy="105156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: événement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Découple disponibilité, notification et facturation, mais introduit observabilité et retries.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92440" y="1170432"/>
            <a:ext cx="3429000" cy="105156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pour la réservation critique ; événements pour notifications et analytics.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10287000" cy="141732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ADR-003 — Communication réservation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 : accepté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Contexte : forte contrainte UX + besoin d'événements métier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Décision : confirmer en synchrone, publier ReservationConfirmed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Conséquences : broker à surveiller + consumers idempotents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Une bonne décision n’est pas “propre” dans l’absolu : elle est adaptée aux forces réelles.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Jour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Patterns de distribution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Choisir comment les composants se parlent et où circule l’information.</a:t>
            </a:r>
            <a:endParaRPr lang="en-US" sz="1500" dirty="0"/>
          </a:p>
        </p:txBody>
      </p:sp>
      <p:pic>
        <p:nvPicPr>
          <p:cNvPr id="6" name="Image 0" descr="/mnt/data/j5_enriched_assets/04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88" y="2425382"/>
            <a:ext cx="2788920" cy="13671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Client/Serveur — le style de 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Séparer demande, traitement et données derrière une interface réseau.</a:t>
            </a:r>
            <a:endParaRPr lang="en-US" sz="1050" dirty="0"/>
          </a:p>
        </p:txBody>
      </p:sp>
      <p:pic>
        <p:nvPicPr>
          <p:cNvPr id="8" name="Image 0" descr="/mnt/data/support_250_j5_assets/02_client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75231"/>
            <a:ext cx="5166360" cy="21155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1325880"/>
            <a:ext cx="2331720" cy="109728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Simplicité, responsabilités claires, scaling côté serveur, centralisation des règles.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15400" y="1325880"/>
            <a:ext cx="2331720" cy="109728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Faiblesses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Latence réseau, disponibilité serveur, couplage API, gestion des versions.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3640" y="297180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 ? GraphQL ? WebSocket ? contrat ? authentification 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15400" y="297180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surveiller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Timeouts, retries, idempotence, pagination, cache, limites de débit.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Le client/serveur reste simple tant que les contrats sont explicites et versionnés.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— isoler la persistance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domaine parle collection d’objets, pas SQL, MongoDB ou API externe.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1417320" cy="475488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Use Case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1883664"/>
            <a:ext cx="1417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76472" y="1645920"/>
            <a:ext cx="2103120" cy="475488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Repository interface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25312" y="1883664"/>
            <a:ext cx="1527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79792" y="1645920"/>
            <a:ext cx="2057400" cy="475488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Adapter SQL / API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3154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cœur métier reste testable et indépendant de la base concrète.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4434840" y="2971800"/>
            <a:ext cx="3154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 de repository générique trop pauvre ou de duplication de requêtes.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8092440" y="2971800"/>
            <a:ext cx="3154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 signal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tests de domaine peuvent utiliser un fake repository en mémoire.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5486400" cy="86868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ReservationRepository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Optional&lt;Reservation&gt; findById(ReservationId 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save(Reservation reservation);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Bus — partager des événements ou messages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bus distribue l’information sans lier directement les producteurs aux consommateurs.</a:t>
            </a:r>
            <a:endParaRPr lang="en-US" sz="1050" dirty="0"/>
          </a:p>
        </p:txBody>
      </p:sp>
      <p:pic>
        <p:nvPicPr>
          <p:cNvPr id="8" name="Image 0" descr="/mnt/data/support_250_j5_assets/03_distribution_patte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06624"/>
            <a:ext cx="5349240" cy="1744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234440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utiliser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plusieurs composants réagissent à un même fait métier.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212848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Vigilance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messages deviennent des contrats : version, idempotence, ordre, retries.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0" y="3191256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ReservationConfirmed déclenche email, facture, analytics et indexation.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4169664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invisible si l’observabilité et la documentation sont faibles.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Blackboard — résoudre par contributions successives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Plusieurs spécialistes lisent et enrichissent un espace de connaissance partagé.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17720" y="1993392"/>
            <a:ext cx="2743200" cy="749808"/>
          </a:xfrm>
          <a:prstGeom prst="rect">
            <a:avLst/>
          </a:prstGeom>
          <a:solidFill>
            <a:srgbClr val="334155"/>
          </a:solidFill>
          <a:ln>
            <a:solidFill>
              <a:srgbClr val="33415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BLACKBOARD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connaissance partagée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Producteurs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Parser, règles, modèle ML ou connecteurs déposent des faits interprétables.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8366760" y="1234440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Consommateurs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Validateurs, optimiseurs et reporters relisent l’état courant.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 souple de traitements spécialisés sans workflow rigide.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8366760" y="3337560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 du flux, concurrence, traçabilité et arrêt deviennent plus complexes.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206240" y="4526280"/>
            <a:ext cx="3566160" cy="749808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typiques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Diagnostic, IA, compilation, planification, résolution heuristique.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Blackboard est utile quand aucun enchaînement linéaire unique ne suffit à résoudre le problème.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Comparer les patterns de distribution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Chaque style optimise une qualité différente.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2286000" cy="694944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Client/Serveur
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29000" y="1234440"/>
            <a:ext cx="32461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simplicité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49440" y="1234440"/>
            <a:ext cx="4114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vigilance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couplage API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
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29000" y="2258568"/>
            <a:ext cx="32461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testabilité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0" y="2258568"/>
            <a:ext cx="4114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vigilance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abstraction trop générique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282696"/>
            <a:ext cx="2286000" cy="694944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Bus
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29000" y="3282696"/>
            <a:ext cx="32461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découplage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49440" y="3282696"/>
            <a:ext cx="4114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vigilance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306824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Blackboard
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4306824"/>
            <a:ext cx="32461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résolution experte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49440" y="4306824"/>
            <a:ext cx="4114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vigilance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La question n’est pas “quel style est moderne ?” mais “quel style soutient le driver prioritaire 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Jour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Patterns de systèmes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Organiser les responsabilités à l’intérieur d’une application ou plateforme.</a:t>
            </a:r>
            <a:endParaRPr lang="en-US" sz="1500" dirty="0"/>
          </a:p>
        </p:txBody>
      </p:sp>
      <p:pic>
        <p:nvPicPr>
          <p:cNvPr id="6" name="Image 0" descr="/mnt/data/j5_enriched_assets/05_system_patte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88" y="2428238"/>
            <a:ext cx="2788920" cy="13614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Systèmes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MVC — séparer interaction, état et présentation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style très utile lorsque l’interface évolue plus vite que le domaine.</a:t>
            </a:r>
            <a:endParaRPr lang="en-US" sz="1050" dirty="0"/>
          </a:p>
        </p:txBody>
      </p:sp>
      <p:pic>
        <p:nvPicPr>
          <p:cNvPr id="8" name="Image 0" descr="/mnt/data/support_250_j5_assets/04_mv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45595"/>
            <a:ext cx="5257800" cy="1638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280160"/>
            <a:ext cx="4572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métier, règles et invariants. Ne dépend pas de la vue.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331720"/>
            <a:ext cx="4572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et restitution. Peut varier selon web, mobile, API.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0" y="3383280"/>
            <a:ext cx="4572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Coordonne la requête, valide l’entrée, appelle les cas d’usage.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4434840"/>
            <a:ext cx="4572000" cy="82296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Piège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Mettre les règles métier dans le contrôleur ou la vue.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Systèmes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en couches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Organiser le système par niveau de responsabilité.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1143000"/>
            <a:ext cx="45720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Présentation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1664208"/>
            <a:ext cx="0" cy="25603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29000" y="1965960"/>
            <a:ext cx="4572000" cy="50292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Application / Use cases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2487168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29000" y="2788920"/>
            <a:ext cx="457200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Domaine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3310128"/>
            <a:ext cx="0" cy="256032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29000" y="3611880"/>
            <a:ext cx="457200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1417320"/>
            <a:ext cx="23317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clé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dépendances doivent aller vers les couches plus stables.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98280" y="1417320"/>
            <a:ext cx="23317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Piège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 faire passer par toutes les couches même pour des cas simples.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10012680" cy="594360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Lien avec J2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 permet d’inverser la dépendance entre domaine et infrastructure.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Systèmes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Plug-in Style — extension sans modification du cœur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cœur publie des points d’extension stables.</a:t>
            </a:r>
            <a:endParaRPr lang="en-US" sz="1050" dirty="0"/>
          </a:p>
        </p:txBody>
      </p:sp>
      <p:pic>
        <p:nvPicPr>
          <p:cNvPr id="8" name="Image 0" descr="/mnt/data/support_250_j5_assets/05_plugin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43648"/>
            <a:ext cx="5257800" cy="26335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234440"/>
            <a:ext cx="4572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Cœur stable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une API de plug-in claire, versionnée et documentée.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331720"/>
            <a:ext cx="4572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Ajoutent formats, connecteurs, règles, exports, traitements.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0" y="3429000"/>
            <a:ext cx="4572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Compatibilité, sécurité, isolation, cycle de vie, erreurs de plug-in.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Plug-in Style est l’OCP appliqué à l’échelle d’une application.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Systèmes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— transformer un flux étape par étape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Chaque étape reçoit, transforme et transmet.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1600200" cy="64008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Entrée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283464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017520" y="2514600"/>
            <a:ext cx="1600200" cy="64008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283464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66360" y="2514600"/>
            <a:ext cx="1600200" cy="64008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Enrichissement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283464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315200" y="2514600"/>
            <a:ext cx="1600200" cy="64008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Règles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35440" y="283464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464040" y="2514600"/>
            <a:ext cx="1600200" cy="64008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Sortie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3246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Composition, test unitaire des étapes, lecture du flux.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4297680"/>
            <a:ext cx="3246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 d’état partagé, erreurs, transactions longues.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4297680"/>
            <a:ext cx="3246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CSV, traitement image, validation commande, CI/CD.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Systèmes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Combiner sans mélanger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système réel combine souvent plusieurs styles, chacun à son endroit.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1188720" cy="475488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MVC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1645920"/>
            <a:ext cx="1554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03320" y="1417320"/>
            <a:ext cx="1463040" cy="475488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Couches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1645920"/>
            <a:ext cx="1600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0" y="1417320"/>
            <a:ext cx="1691640" cy="475488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Repository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95360" y="1645920"/>
            <a:ext cx="118872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829800" y="1417320"/>
            <a:ext cx="1417320" cy="475488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Data Bus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31546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HTTP → use case → domaine → repository → event.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926080"/>
            <a:ext cx="31546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style doit résoudre un problème identifiable.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2926080"/>
            <a:ext cx="31546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Piège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Multiplier les styles parce qu’ils sont connus, pas parce qu’ils sont utiles.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La simplicité d’une architecture vient souvent de frontières nettes, pas d’un seul pattern dominant.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Jour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Tactiques de qualité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Relier performance, sécurité, disponibilité et testabilité à des décisions concrètes.</a:t>
            </a:r>
            <a:endParaRPr lang="en-US" sz="1500" dirty="0"/>
          </a:p>
        </p:txBody>
      </p:sp>
      <p:pic>
        <p:nvPicPr>
          <p:cNvPr id="6" name="Image 0" descr="/mnt/data/j5_enriched_assets/06_tactiq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88" y="2398078"/>
            <a:ext cx="2788920" cy="1421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23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Tactiques architecturales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tactique est une réponse concrète à un attribut de qualité.</a:t>
            </a:r>
            <a:endParaRPr lang="en-US" sz="1050" dirty="0"/>
          </a:p>
        </p:txBody>
      </p:sp>
      <p:pic>
        <p:nvPicPr>
          <p:cNvPr id="8" name="Image 0" descr="/mnt/data/j5_enriched_assets/06_tactiq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3209"/>
            <a:ext cx="5349240" cy="27269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23444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Disponibilité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Timeout, retry, circuit breaker, health check, redondance.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6309360" y="214884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Cache, pagination, index, async, batch, pré-calcul.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6309360" y="306324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Sécurité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Authentification, autorisation, audit, chiffrement, moindre privilège.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309360" y="3977640"/>
            <a:ext cx="4572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Maintenabilité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Frontières, tests, ADR, modularité, règles d’architecture.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qualités se négocient entre elles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Optimiser une qualité peut dégrader une autre.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29184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↔ cohérence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et async améliorent la vitesse mais compliquent la fraîcheur des données.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3291840" cy="114300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Disponibilité ↔ simplicité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Redondance et reprise ajoutent infrastructure, tests et monitoring.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1234440"/>
            <a:ext cx="3291840" cy="114300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Sécurité ↔ UX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Contrôles, MFA et permissions peuvent ralentir certains parcours.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3703320"/>
            <a:ext cx="2103120" cy="50292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Qualité prioritaire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3959352"/>
            <a:ext cx="1280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06440" y="3703320"/>
            <a:ext cx="141732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Tactique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9480" y="3959352"/>
            <a:ext cx="1280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595360" y="3703320"/>
            <a:ext cx="2103120" cy="50292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Compromis explicite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Une architecture mature rend les compromis visibles avant qu’ils deviennent des surprises en production.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Testabilité et observabilité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système bien conçu se vérifie et s’observe.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2918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Testabilité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 injectées, ports/adapters, seams, tests de contrat, environnements reproductibles.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280160"/>
            <a:ext cx="32918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Observabilité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structurés, métriques, traces, corrélation, alertes actionnables.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1280160"/>
            <a:ext cx="32918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Exploitabilité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Runbooks, health checks, dashboards, modes dégradés et incidents simulés.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5166360" cy="91440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traceId = request.header("X-Correlation-ID")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logger.info("reservation.confirmed",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reservationId, userId, traceId, amount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92240" y="3794760"/>
            <a:ext cx="4572000" cy="91440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contractTest("Reservation API", () =&gt;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expect(response.status).toBe(201)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expect(event.type).toBe("ReservationConfirmed")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Documenter par vues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seule représentation ne suffit pas à expliquer un système.</a:t>
            </a:r>
            <a:endParaRPr lang="en-US" sz="1050" dirty="0"/>
          </a:p>
        </p:txBody>
      </p:sp>
      <p:pic>
        <p:nvPicPr>
          <p:cNvPr id="8" name="Image 0" descr="/mnt/data/j5_enriched_assets/07_v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15381"/>
            <a:ext cx="5349240" cy="25175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170432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logique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Composants, responsabilités, dépendances.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6355080" y="2057400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dynamique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Flux, séquences, événements, erreurs.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6355080" y="2944368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déploiement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Nœuds, réseaux, environnements, données.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355080" y="3831336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sécurité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Zones, rôles, secrets, trust boundaries.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Une bonne documentation d’architecture répond à des questions ciblées, pas à un idéal encyclopédique.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Gouvernance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Règles d’architecture automatisables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principes doivent pouvoir être vérifiés.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5486400" cy="132588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Exemple conceptuel de règle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noClasses()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.that().resideInAPackage("..domain..")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.should().dependOnClassesThat()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.resideInAPackage("..infrastructure..");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75120" y="1298448"/>
            <a:ext cx="4297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?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que les couches se dégradent silencieusement.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359152"/>
            <a:ext cx="4297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Quoi vérifier ?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Dépendances, cycles, conventions, packages interdits, noms, annotations.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3419856"/>
            <a:ext cx="4297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?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la CI, comme les tests unitaires et les tests d’intégration.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Une règle d’architecture non vérifiée finit par devenir un vœu pieux.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Jour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Processus itératif et incrémental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Construire l’architecture par apprentissage, pas par prédiction totale.</a:t>
            </a:r>
            <a:endParaRPr lang="en-US" sz="1500" dirty="0"/>
          </a:p>
        </p:txBody>
      </p:sp>
      <p:pic>
        <p:nvPicPr>
          <p:cNvPr id="6" name="Image 0" descr="/mnt/data/j5_enriched_assets/08_iter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88" y="2439034"/>
            <a:ext cx="2788920" cy="13398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Concevoir dans un processus itératif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Chaque itération produit du logiciel et de l’apprentissage.</a:t>
            </a:r>
            <a:endParaRPr lang="en-US" sz="1050" dirty="0"/>
          </a:p>
        </p:txBody>
      </p:sp>
      <p:pic>
        <p:nvPicPr>
          <p:cNvPr id="8" name="Image 0" descr="/mnt/data/support_250_j5_assets/06_iterative_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951534"/>
            <a:ext cx="5303520" cy="8726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234440"/>
            <a:ext cx="4572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Itératif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revient sur la solution pour l’améliorer avec de nouvelles informations.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331720"/>
            <a:ext cx="4572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Incrémental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ajoute de la valeur utilisable par morceaux successifs.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3429000"/>
            <a:ext cx="4572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émergente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Elle évolue, mais dans un cadre de règles, tests et décisions tracées.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4526280"/>
            <a:ext cx="4572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clé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décisions risquées doivent être testées tôt par des spikes.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Manifeste Agile : impact sur la conception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L’agilité ne supprime pas la conception ; elle la rend continue.</a:t>
            </a:r>
            <a:endParaRPr lang="en-US" sz="1050" dirty="0"/>
          </a:p>
        </p:txBody>
      </p:sp>
      <p:pic>
        <p:nvPicPr>
          <p:cNvPr id="8" name="Image 0" descr="/mnt/data/j5_enriched_assets/09_agile_xp_sc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83361"/>
            <a:ext cx="5303520" cy="25998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170432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Logiciel opérationnel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L’architecture doit se valider dans du code, pas seulement dans un diagramme.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6355080" y="2057400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décisions techniques se relient aux besoins métier.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6355080" y="2944368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Adaptation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ADR peuvent évoluer quand le contexte change.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355080" y="3831336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Simplicité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Maximiser le travail non fait : éviter l’architecture spéculative.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XP — pratiques d’ingénierie au service du design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XP donne des garde-fous concrets pour faire évoluer la conception.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246120" cy="960120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piloté par comportement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Amélioration sans changement fonctionnel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1234440"/>
            <a:ext cx="3246120" cy="960120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/ Mob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 continue des décisions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court et automatisé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743200"/>
            <a:ext cx="3246120" cy="960120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Design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suffisante, pas spéculative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83880" y="274320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Collective Ownership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partagé et compréhensible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XP est un pont direct entre TDD J3, refactoring J4 et architecture évolutive J5.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Scrum — cadence, inspection et adaptation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Scrum organise l’apprentissage collectif autour du produit.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18288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Product Backlog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2176272"/>
            <a:ext cx="11887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931920" y="1920240"/>
            <a:ext cx="1737360" cy="50292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Sprint Planning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5000" y="2176272"/>
            <a:ext cx="11887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949440" y="1920240"/>
            <a:ext cx="123444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Sprint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176272"/>
            <a:ext cx="123444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09760" y="1920240"/>
            <a:ext cx="173736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Review / Retro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3154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dans Scrum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travaux techniques doivent être visibles, priorisés et reliés au risque ou à la valeur.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3657600"/>
            <a:ext cx="3154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Done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Tests, qualité, sécurité, documentation, observabilité et dette maîtrisée.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3657600"/>
            <a:ext cx="3154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Piège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Cacher l’architecture dans des tâches invisibles ou non priorisées.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runway et dette technique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Préparer juste assez d’architecture pour les prochains incréments.</a:t>
            </a:r>
            <a:endParaRPr lang="en-US" sz="1050" dirty="0"/>
          </a:p>
        </p:txBody>
      </p:sp>
      <p:pic>
        <p:nvPicPr>
          <p:cNvPr id="8" name="Image 0" descr="/mnt/data/j5_enriched_assets/10_run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55282"/>
            <a:ext cx="5349240" cy="24651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23444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Runway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Capacité technique qui rend possibles les prochaines fonctionnalités.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24028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Dette technique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Écart volontaire ou subi entre l’état actuel et un design soutenable.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324612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Rendre la dette visible, mesurer le risque, rembourser au bon moment.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425196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dette acceptable est comprise, limitée, suivie et réversible.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of Done enrichie par l’architecture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qualité ne doit pas dépendre uniquement de la bonne volonté.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5074920" cy="694944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Tests unitaires et intégration passants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217920" y="1143000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Contrats API et événements vérifiés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5074920" cy="694944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Aucun cycle de dépendance interdit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Logs et métriques utiles ajoutés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5074920" cy="694944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ADR créé ou mis à jour si décision structurante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217920" y="3246120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Sécurité minimale vérifiée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5074920" cy="694944"/>
          </a:xfrm>
          <a:prstGeom prst="rect">
            <a:avLst/>
          </a:prstGeom>
          <a:solidFill>
            <a:srgbClr val="CCFBF1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Dette éventuelle tracée et priorisée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Documentation de vue actualisée si nécessaire
</a:t>
            </a:r>
            <a:pPr indent="0" marL="0">
              <a:buNone/>
            </a:pP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La DoD transforme les exigences de qualité en critères d’acceptation concrets.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Spikes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Spike technique — apprendre avant d’engager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spike réduit une incertitude forte avant une décision coûteuse.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29184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broker supporte-t-il notre débit avec une latence acceptable 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280160"/>
            <a:ext cx="3291840" cy="1143000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Expérience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limité : 1 producer, 3 consumers, charge réaliste, métriques.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1280160"/>
            <a:ext cx="3291840" cy="114300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Conserver, ajuster ou abandonner l’option en fonction des preuves.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1645920" cy="475488"/>
          </a:xfrm>
          <a:prstGeom prst="rect">
            <a:avLst/>
          </a:prstGeom>
          <a:solidFill>
            <a:srgbClr val="FEE2E2"/>
          </a:solidFill>
          <a:ln>
            <a:solidFill>
              <a:srgbClr val="EF4444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Incertitude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4206240"/>
            <a:ext cx="173736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846320" y="3977640"/>
            <a:ext cx="1828800" cy="475488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Spike timeboxé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4206240"/>
            <a:ext cx="1737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503920" y="3977640"/>
            <a:ext cx="1645920" cy="475488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ADR éclairé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Jour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482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TP final de synthèse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406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Concevoir une architecture justifiée, testable et livrable par incréments.</a:t>
            </a:r>
            <a:endParaRPr lang="en-US" sz="1500" dirty="0"/>
          </a:p>
        </p:txBody>
      </p:sp>
      <p:pic>
        <p:nvPicPr>
          <p:cNvPr id="6" name="Image 0" descr="/mnt/data/j5_enriched_assets/11_cas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88" y="2411730"/>
            <a:ext cx="2788920" cy="1394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 fil rouge — plateforme de réservation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cas complet pour réutiliser les cinq jours.</a:t>
            </a:r>
            <a:endParaRPr lang="en-US" sz="1050" dirty="0"/>
          </a:p>
        </p:txBody>
      </p:sp>
      <p:pic>
        <p:nvPicPr>
          <p:cNvPr id="8" name="Image 0" descr="/mnt/data/j5_enriched_assets/11_cas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3110"/>
            <a:ext cx="5349240" cy="2674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207008"/>
            <a:ext cx="4480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Recherche, réservation, paiement, notifications, administration.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6355080" y="2093976"/>
            <a:ext cx="4480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+ mobile, existant SI, RGPD, paiement externe, équipe de 6.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6355080" y="2980944"/>
            <a:ext cx="4480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Disponibilité, performance recherche, sécurité, maintenabilité.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6355080" y="3867912"/>
            <a:ext cx="4480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Livrables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Schéma, ADR, backlog technique, risques, DoD et stratégie de tests.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du TP final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démarche complète, pas seulement un dessin d’architecture.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1389888" cy="59436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Drivers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2743200"/>
            <a:ext cx="210312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560320" y="2450592"/>
            <a:ext cx="1389888" cy="59436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Scénarios qualité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70248" y="2743200"/>
            <a:ext cx="210312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434840" y="2450592"/>
            <a:ext cx="1389888" cy="59436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Choix de styles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2743200"/>
            <a:ext cx="210312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09360" y="2450592"/>
            <a:ext cx="1389888" cy="59436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ADR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19288" y="2743200"/>
            <a:ext cx="210312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183880" y="2450592"/>
            <a:ext cx="1389888" cy="59436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893808" y="2743200"/>
            <a:ext cx="210312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58400" y="2450592"/>
            <a:ext cx="1389888" cy="594360"/>
          </a:xfrm>
          <a:prstGeom prst="rect">
            <a:avLst/>
          </a:prstGeom>
          <a:solidFill>
            <a:srgbClr val="FCE7F3"/>
          </a:solidFill>
          <a:ln>
            <a:solidFill>
              <a:srgbClr val="DB2777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Backlog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3154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 en groupe : débat, choix, justification, restitution.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4251960"/>
            <a:ext cx="3154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décision doit citer le driver qu’elle soutient.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251960"/>
            <a:ext cx="3154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sur-architecturer : viser la prochaine étape crédible.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indicative — architecture cible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solution possible, à adapter selon les drivers retenus.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1645920" cy="45720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Web / Mobile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143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49040" y="1188720"/>
            <a:ext cx="1097280" cy="45720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1280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17920" y="1188720"/>
            <a:ext cx="1645920" cy="45720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Use Cases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09560" y="1417320"/>
            <a:ext cx="1280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35440" y="1188720"/>
            <a:ext cx="1325880" cy="45720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Domain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1645920" cy="457200"/>
          </a:xfrm>
          <a:prstGeom prst="rect">
            <a:avLst/>
          </a:prstGeom>
          <a:solidFill>
            <a:srgbClr val="E0E7FF"/>
          </a:solidFill>
          <a:ln>
            <a:solidFill>
              <a:srgbClr val="4F46E5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Repository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1828800" cy="457200"/>
          </a:xfrm>
          <a:prstGeom prst="rect">
            <a:avLst/>
          </a:prstGeom>
          <a:solidFill>
            <a:srgbClr val="FEE2E2"/>
          </a:solidFill>
          <a:ln>
            <a:solidFill>
              <a:srgbClr val="EF4444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Payment Adapter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2834640"/>
            <a:ext cx="1417320" cy="45720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Event Bus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46920" y="2834640"/>
            <a:ext cx="1645920" cy="45720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Notifications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1664208"/>
            <a:ext cx="-4206240" cy="1170432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40880" y="1664208"/>
            <a:ext cx="-1554480" cy="1170432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1664208"/>
            <a:ext cx="987552" cy="1170432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59952" y="3063240"/>
            <a:ext cx="88696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2960" y="4663440"/>
            <a:ext cx="31546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Choix majeur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Couches + Repository + événements métier asynchrones.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526280" y="4663440"/>
            <a:ext cx="31546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rapide, domaine testable, intégrations isolées.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8229600" y="4663440"/>
            <a:ext cx="31546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Risques
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Observabilité bus, cohérence paiement, RGPD notifications.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Restitution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Restitution attendue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Chaque groupe défend ses décisions comme une mini-revue d’architecture.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Contexte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Drivers, contraintes, risques et scénarios de qualité prioritaires.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Architecture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Styles retenus, composants, flux et limites du design.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123444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Décisions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 principaux, compromis, dette acceptée et plan de validation.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10012680" cy="914400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revue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changement futur votre architecture rend-elle facile, et quel changement rend-elle volontairement plus coûteux 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fin J5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Questions rapides pour vérifier les acquis.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Différence driver / contrainte ?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172200" y="118872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Qu’est-ce qu’un scénario de qualité ?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écrire un ADR ?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172200" y="228600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: quel bénéfice ?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5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Bus : quel risque majeur ?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172200" y="338328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6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vs couches ?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85800" y="448056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7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Runway : pourquoi ?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172200" y="4480560"/>
            <a:ext cx="5029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8
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 : quel lien avec architecture ?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Les réponses doivent citer un effet concret sur la conception ou la livraison.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J5 — ce qu’il faut retenir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L’architecture se construit par décisions explicites et validation continue.</a:t>
            </a:r>
            <a:endParaRPr lang="en-US" sz="1050" dirty="0"/>
          </a:p>
        </p:txBody>
      </p:sp>
      <p:pic>
        <p:nvPicPr>
          <p:cNvPr id="8" name="Image 0" descr="/mnt/data/j5_enriched_assets/12_synth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91930"/>
            <a:ext cx="5394960" cy="25918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188720"/>
            <a:ext cx="4572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Partir des forces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Exigences, qualités, contraintes et risques avant les technologies.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286000"/>
            <a:ext cx="4572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Choisir des styles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Client/Serveur, Repository, Data Bus, MVC, couches, plug-in, pipeline.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3383280"/>
            <a:ext cx="4572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Documenter les décisions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 courts, vues utiles, compromis et dettes visibles.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4480560"/>
            <a:ext cx="4572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Livrer par apprentissage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Agile, XP, Scrum, spikes, DoD et feedback court.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Clôture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des 5 jours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progression de la classe au système.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91440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J1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514600"/>
            <a:ext cx="1600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POO, UML, OCP, LSP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1618488" y="2039112"/>
            <a:ext cx="10789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71800" y="1783080"/>
            <a:ext cx="914400" cy="50292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J2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15768" y="2514600"/>
            <a:ext cx="1600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DIP, ISP, GRASP, packages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04488" y="2039112"/>
            <a:ext cx="10789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57800" y="1783080"/>
            <a:ext cx="91440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J3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01768" y="2514600"/>
            <a:ext cx="1600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TDD, tests, MDE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190488" y="2039112"/>
            <a:ext cx="10789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543800" y="1783080"/>
            <a:ext cx="91440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J4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7768" y="2514600"/>
            <a:ext cx="1600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GoF, refactoring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476488" y="2039112"/>
            <a:ext cx="10789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829800" y="1783080"/>
            <a:ext cx="914400" cy="502920"/>
          </a:xfrm>
          <a:prstGeom prst="rect">
            <a:avLst/>
          </a:prstGeom>
          <a:solidFill>
            <a:srgbClr val="EDE9FE"/>
          </a:solidFill>
          <a:ln>
            <a:solidFill>
              <a:srgbClr val="7C3AED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J5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73768" y="2514600"/>
            <a:ext cx="1600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Agile, Scrum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10012680" cy="868680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 rouge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Concevoir, tester, refactorer et faire évoluer un système en rendant les décisions explicites et les dépendances maîtrisées.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201168"/>
            <a:ext cx="17830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Clôture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Passer à la pratique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concepts ne deviennent utiles que dans les revues et le code.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Prochaine action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une décision d’architecture actuelle et la transformer en ADR.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41732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 de code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Chercher dépendances inversées, tests de contrat, frontières et cycles.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41732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une dette technique visible, mesurée et reliée à un risque.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4023360"/>
            <a:ext cx="1508760" cy="502920"/>
          </a:xfrm>
          <a:prstGeom prst="rect">
            <a:avLst/>
          </a:prstGeom>
          <a:solidFill>
            <a:srgbClr val="DBEAFE"/>
          </a:solidFill>
          <a:ln>
            <a:solidFill>
              <a:srgbClr val="2563E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Comprendre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4279392"/>
            <a:ext cx="1371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800600" y="4023360"/>
            <a:ext cx="1325880" cy="502920"/>
          </a:xfrm>
          <a:prstGeom prst="rect">
            <a:avLst/>
          </a:prstGeom>
          <a:solidFill>
            <a:srgbClr val="CCFBF1"/>
          </a:solidFill>
          <a:ln>
            <a:solidFill>
              <a:srgbClr val="0D9488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Décider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4279392"/>
            <a:ext cx="1371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89520" y="4023360"/>
            <a:ext cx="1325880" cy="502920"/>
          </a:xfrm>
          <a:prstGeom prst="rect">
            <a:avLst/>
          </a:prstGeom>
          <a:solidFill>
            <a:srgbClr val="DCFCE7"/>
          </a:solidFill>
          <a:ln>
            <a:solidFill>
              <a:srgbClr val="16A34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Valider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0" y="4279392"/>
            <a:ext cx="109728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104120" y="4023360"/>
            <a:ext cx="114300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59E0B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Livrer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4128" y="5715000"/>
            <a:ext cx="101498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99F6E4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Fin du J5 : l’architecture devient une pratique continue, visible et testable.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J5 — Conception objet, Design Patterns et Architecture</dc:title>
  <dc:subject>Jour 5 — Architecture logicielle et processus de développement</dc:subject>
  <dc:creator>OpenAI</dc:creator>
  <cp:lastModifiedBy>OpenAI</cp:lastModifiedBy>
  <cp:revision>1</cp:revision>
  <dcterms:created xsi:type="dcterms:W3CDTF">2026-08-30T07:16:44Z</dcterms:created>
  <dcterms:modified xsi:type="dcterms:W3CDTF">2026-08-30T07:16:44Z</dcterms:modified>
</cp:coreProperties>
</file>